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6" r:id="rId2"/>
    <p:sldId id="257" r:id="rId3"/>
    <p:sldId id="259" r:id="rId4"/>
    <p:sldId id="260" r:id="rId5"/>
    <p:sldId id="262" r:id="rId6"/>
    <p:sldId id="263" r:id="rId7"/>
    <p:sldId id="264" r:id="rId8"/>
    <p:sldId id="265"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ministrator" initials="A" lastIdx="1" clrIdx="0">
    <p:extLst>
      <p:ext uri="{19B8F6BF-5375-455C-9EA6-DF929625EA0E}">
        <p15:presenceInfo xmlns:p15="http://schemas.microsoft.com/office/powerpoint/2012/main" userId="Administrato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286" autoAdjust="0"/>
    <p:restoredTop sz="94660"/>
  </p:normalViewPr>
  <p:slideViewPr>
    <p:cSldViewPr snapToGrid="0">
      <p:cViewPr varScale="1">
        <p:scale>
          <a:sx n="61" d="100"/>
          <a:sy n="61" d="100"/>
        </p:scale>
        <p:origin x="28" y="1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3FD7F-BD14-4C98-B88A-9FC2109C2BD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DEF25C3C-0712-49D4-A08C-27BA92C699E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B5739657-637F-4C76-A227-44A2BF6A93E9}"/>
              </a:ext>
            </a:extLst>
          </p:cNvPr>
          <p:cNvSpPr>
            <a:spLocks noGrp="1"/>
          </p:cNvSpPr>
          <p:nvPr>
            <p:ph type="dt" sz="half" idx="10"/>
          </p:nvPr>
        </p:nvSpPr>
        <p:spPr/>
        <p:txBody>
          <a:bodyPr/>
          <a:lstStyle/>
          <a:p>
            <a:fld id="{5E7FCB2D-203A-4F61-9926-83A3EDF1A169}" type="datetimeFigureOut">
              <a:rPr lang="en-GB" smtClean="0"/>
              <a:t>15/12/2025</a:t>
            </a:fld>
            <a:endParaRPr lang="en-GB"/>
          </a:p>
        </p:txBody>
      </p:sp>
      <p:sp>
        <p:nvSpPr>
          <p:cNvPr id="5" name="Footer Placeholder 4">
            <a:extLst>
              <a:ext uri="{FF2B5EF4-FFF2-40B4-BE49-F238E27FC236}">
                <a16:creationId xmlns:a16="http://schemas.microsoft.com/office/drawing/2014/main" id="{97EEC120-E152-4165-B6AF-89B2D00BCB7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42DD0DB-C602-4116-89A4-A04267C91FCB}"/>
              </a:ext>
            </a:extLst>
          </p:cNvPr>
          <p:cNvSpPr>
            <a:spLocks noGrp="1"/>
          </p:cNvSpPr>
          <p:nvPr>
            <p:ph type="sldNum" sz="quarter" idx="12"/>
          </p:nvPr>
        </p:nvSpPr>
        <p:spPr/>
        <p:txBody>
          <a:bodyPr/>
          <a:lstStyle/>
          <a:p>
            <a:fld id="{7D8CDDEE-5B35-4D79-B4C3-02EBE620CD3F}" type="slidenum">
              <a:rPr lang="en-GB" smtClean="0"/>
              <a:t>‹#›</a:t>
            </a:fld>
            <a:endParaRPr lang="en-GB"/>
          </a:p>
        </p:txBody>
      </p:sp>
    </p:spTree>
    <p:extLst>
      <p:ext uri="{BB962C8B-B14F-4D97-AF65-F5344CB8AC3E}">
        <p14:creationId xmlns:p14="http://schemas.microsoft.com/office/powerpoint/2010/main" val="23454246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4ED22D-A8BB-4879-B527-EE7BF1135DDD}"/>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EA72CF01-BFDA-41DF-9AD9-7375CF811B6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2EB848A-A9CD-4EEE-9F74-47CDB3BF3FEC}"/>
              </a:ext>
            </a:extLst>
          </p:cNvPr>
          <p:cNvSpPr>
            <a:spLocks noGrp="1"/>
          </p:cNvSpPr>
          <p:nvPr>
            <p:ph type="dt" sz="half" idx="10"/>
          </p:nvPr>
        </p:nvSpPr>
        <p:spPr/>
        <p:txBody>
          <a:bodyPr/>
          <a:lstStyle/>
          <a:p>
            <a:fld id="{5E7FCB2D-203A-4F61-9926-83A3EDF1A169}" type="datetimeFigureOut">
              <a:rPr lang="en-GB" smtClean="0"/>
              <a:t>15/12/2025</a:t>
            </a:fld>
            <a:endParaRPr lang="en-GB"/>
          </a:p>
        </p:txBody>
      </p:sp>
      <p:sp>
        <p:nvSpPr>
          <p:cNvPr id="5" name="Footer Placeholder 4">
            <a:extLst>
              <a:ext uri="{FF2B5EF4-FFF2-40B4-BE49-F238E27FC236}">
                <a16:creationId xmlns:a16="http://schemas.microsoft.com/office/drawing/2014/main" id="{5D2AEAEF-37F0-4D08-9E44-DD5C0BCCBDB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4ABB95C-C36D-4DB8-B32A-CEF2B85FF369}"/>
              </a:ext>
            </a:extLst>
          </p:cNvPr>
          <p:cNvSpPr>
            <a:spLocks noGrp="1"/>
          </p:cNvSpPr>
          <p:nvPr>
            <p:ph type="sldNum" sz="quarter" idx="12"/>
          </p:nvPr>
        </p:nvSpPr>
        <p:spPr/>
        <p:txBody>
          <a:bodyPr/>
          <a:lstStyle/>
          <a:p>
            <a:fld id="{7D8CDDEE-5B35-4D79-B4C3-02EBE620CD3F}" type="slidenum">
              <a:rPr lang="en-GB" smtClean="0"/>
              <a:t>‹#›</a:t>
            </a:fld>
            <a:endParaRPr lang="en-GB"/>
          </a:p>
        </p:txBody>
      </p:sp>
    </p:spTree>
    <p:extLst>
      <p:ext uri="{BB962C8B-B14F-4D97-AF65-F5344CB8AC3E}">
        <p14:creationId xmlns:p14="http://schemas.microsoft.com/office/powerpoint/2010/main" val="31172998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EAA697-20BC-4274-972E-D86465036F6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D297611A-735A-4F22-85C7-3C2C1037732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32B441F-2C0D-4C4E-8DC7-3E68273FD302}"/>
              </a:ext>
            </a:extLst>
          </p:cNvPr>
          <p:cNvSpPr>
            <a:spLocks noGrp="1"/>
          </p:cNvSpPr>
          <p:nvPr>
            <p:ph type="dt" sz="half" idx="10"/>
          </p:nvPr>
        </p:nvSpPr>
        <p:spPr/>
        <p:txBody>
          <a:bodyPr/>
          <a:lstStyle/>
          <a:p>
            <a:fld id="{5E7FCB2D-203A-4F61-9926-83A3EDF1A169}" type="datetimeFigureOut">
              <a:rPr lang="en-GB" smtClean="0"/>
              <a:t>15/12/2025</a:t>
            </a:fld>
            <a:endParaRPr lang="en-GB"/>
          </a:p>
        </p:txBody>
      </p:sp>
      <p:sp>
        <p:nvSpPr>
          <p:cNvPr id="5" name="Footer Placeholder 4">
            <a:extLst>
              <a:ext uri="{FF2B5EF4-FFF2-40B4-BE49-F238E27FC236}">
                <a16:creationId xmlns:a16="http://schemas.microsoft.com/office/drawing/2014/main" id="{C3A2E1F1-AEE7-4A49-B62B-A3AAC7FA73A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58E64E0-B187-4175-BC63-AAF74391E93C}"/>
              </a:ext>
            </a:extLst>
          </p:cNvPr>
          <p:cNvSpPr>
            <a:spLocks noGrp="1"/>
          </p:cNvSpPr>
          <p:nvPr>
            <p:ph type="sldNum" sz="quarter" idx="12"/>
          </p:nvPr>
        </p:nvSpPr>
        <p:spPr/>
        <p:txBody>
          <a:bodyPr/>
          <a:lstStyle/>
          <a:p>
            <a:fld id="{7D8CDDEE-5B35-4D79-B4C3-02EBE620CD3F}" type="slidenum">
              <a:rPr lang="en-GB" smtClean="0"/>
              <a:t>‹#›</a:t>
            </a:fld>
            <a:endParaRPr lang="en-GB"/>
          </a:p>
        </p:txBody>
      </p:sp>
    </p:spTree>
    <p:extLst>
      <p:ext uri="{BB962C8B-B14F-4D97-AF65-F5344CB8AC3E}">
        <p14:creationId xmlns:p14="http://schemas.microsoft.com/office/powerpoint/2010/main" val="2752049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DF6C0-AF36-4100-91BA-661BDBEC9796}"/>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D1512250-4CB5-45C1-BECA-38CB012B596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FBE84E00-2F32-4B1A-ABBF-D7679C0F7E8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87712059-1DEF-4C06-B405-74E0A3D31697}"/>
              </a:ext>
            </a:extLst>
          </p:cNvPr>
          <p:cNvSpPr>
            <a:spLocks noGrp="1"/>
          </p:cNvSpPr>
          <p:nvPr>
            <p:ph type="dt" sz="half" idx="10"/>
          </p:nvPr>
        </p:nvSpPr>
        <p:spPr/>
        <p:txBody>
          <a:bodyPr/>
          <a:lstStyle/>
          <a:p>
            <a:fld id="{5E7FCB2D-203A-4F61-9926-83A3EDF1A169}" type="datetimeFigureOut">
              <a:rPr lang="en-GB" smtClean="0"/>
              <a:t>15/12/2025</a:t>
            </a:fld>
            <a:endParaRPr lang="en-GB"/>
          </a:p>
        </p:txBody>
      </p:sp>
      <p:sp>
        <p:nvSpPr>
          <p:cNvPr id="6" name="Footer Placeholder 5">
            <a:extLst>
              <a:ext uri="{FF2B5EF4-FFF2-40B4-BE49-F238E27FC236}">
                <a16:creationId xmlns:a16="http://schemas.microsoft.com/office/drawing/2014/main" id="{DCF946D6-9C58-4D79-BADE-84B8AE39036F}"/>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DC513C3-D22F-4D4E-8D7E-00B1944F7932}"/>
              </a:ext>
            </a:extLst>
          </p:cNvPr>
          <p:cNvSpPr>
            <a:spLocks noGrp="1"/>
          </p:cNvSpPr>
          <p:nvPr>
            <p:ph type="sldNum" sz="quarter" idx="12"/>
          </p:nvPr>
        </p:nvSpPr>
        <p:spPr/>
        <p:txBody>
          <a:bodyPr/>
          <a:lstStyle/>
          <a:p>
            <a:fld id="{7D8CDDEE-5B35-4D79-B4C3-02EBE620CD3F}" type="slidenum">
              <a:rPr lang="en-GB" smtClean="0"/>
              <a:t>‹#›</a:t>
            </a:fld>
            <a:endParaRPr lang="en-GB"/>
          </a:p>
        </p:txBody>
      </p:sp>
    </p:spTree>
    <p:extLst>
      <p:ext uri="{BB962C8B-B14F-4D97-AF65-F5344CB8AC3E}">
        <p14:creationId xmlns:p14="http://schemas.microsoft.com/office/powerpoint/2010/main" val="23399839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DF2DDA-0A08-476A-9A49-95475246A804}"/>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CDC40D8-668F-46B8-9D65-963CB27B09F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D2A8E39-F808-4FF5-AB19-A9F4BBC3615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8596C860-D107-4566-90DF-F6562133B24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6707E96-FD54-4652-90E3-AF8F40A7553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655B3594-DB79-45EE-AD7A-6B9FD3AB9CBE}"/>
              </a:ext>
            </a:extLst>
          </p:cNvPr>
          <p:cNvSpPr>
            <a:spLocks noGrp="1"/>
          </p:cNvSpPr>
          <p:nvPr>
            <p:ph type="dt" sz="half" idx="10"/>
          </p:nvPr>
        </p:nvSpPr>
        <p:spPr/>
        <p:txBody>
          <a:bodyPr/>
          <a:lstStyle/>
          <a:p>
            <a:fld id="{5E7FCB2D-203A-4F61-9926-83A3EDF1A169}" type="datetimeFigureOut">
              <a:rPr lang="en-GB" smtClean="0"/>
              <a:t>15/12/2025</a:t>
            </a:fld>
            <a:endParaRPr lang="en-GB"/>
          </a:p>
        </p:txBody>
      </p:sp>
      <p:sp>
        <p:nvSpPr>
          <p:cNvPr id="8" name="Footer Placeholder 7">
            <a:extLst>
              <a:ext uri="{FF2B5EF4-FFF2-40B4-BE49-F238E27FC236}">
                <a16:creationId xmlns:a16="http://schemas.microsoft.com/office/drawing/2014/main" id="{0CB0EE62-EBA0-44CC-BC5F-8D23B304821F}"/>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41B046BB-179F-4B22-BA41-81F27078F359}"/>
              </a:ext>
            </a:extLst>
          </p:cNvPr>
          <p:cNvSpPr>
            <a:spLocks noGrp="1"/>
          </p:cNvSpPr>
          <p:nvPr>
            <p:ph type="sldNum" sz="quarter" idx="12"/>
          </p:nvPr>
        </p:nvSpPr>
        <p:spPr/>
        <p:txBody>
          <a:bodyPr/>
          <a:lstStyle/>
          <a:p>
            <a:fld id="{7D8CDDEE-5B35-4D79-B4C3-02EBE620CD3F}" type="slidenum">
              <a:rPr lang="en-GB" smtClean="0"/>
              <a:t>‹#›</a:t>
            </a:fld>
            <a:endParaRPr lang="en-GB"/>
          </a:p>
        </p:txBody>
      </p:sp>
    </p:spTree>
    <p:extLst>
      <p:ext uri="{BB962C8B-B14F-4D97-AF65-F5344CB8AC3E}">
        <p14:creationId xmlns:p14="http://schemas.microsoft.com/office/powerpoint/2010/main" val="21014260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BA4F15-BBE9-4509-AE16-52BF5DF44097}"/>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C9DF86BD-0678-41E4-BE3A-4B72F37D4365}"/>
              </a:ext>
            </a:extLst>
          </p:cNvPr>
          <p:cNvSpPr>
            <a:spLocks noGrp="1"/>
          </p:cNvSpPr>
          <p:nvPr>
            <p:ph type="dt" sz="half" idx="10"/>
          </p:nvPr>
        </p:nvSpPr>
        <p:spPr/>
        <p:txBody>
          <a:bodyPr/>
          <a:lstStyle/>
          <a:p>
            <a:fld id="{5E7FCB2D-203A-4F61-9926-83A3EDF1A169}" type="datetimeFigureOut">
              <a:rPr lang="en-GB" smtClean="0"/>
              <a:t>15/12/2025</a:t>
            </a:fld>
            <a:endParaRPr lang="en-GB"/>
          </a:p>
        </p:txBody>
      </p:sp>
      <p:sp>
        <p:nvSpPr>
          <p:cNvPr id="4" name="Footer Placeholder 3">
            <a:extLst>
              <a:ext uri="{FF2B5EF4-FFF2-40B4-BE49-F238E27FC236}">
                <a16:creationId xmlns:a16="http://schemas.microsoft.com/office/drawing/2014/main" id="{4FD9BD6B-E0F9-4EA6-820A-312B0DB51BA5}"/>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010CF924-3392-4409-9728-63E870B27C3B}"/>
              </a:ext>
            </a:extLst>
          </p:cNvPr>
          <p:cNvSpPr>
            <a:spLocks noGrp="1"/>
          </p:cNvSpPr>
          <p:nvPr>
            <p:ph type="sldNum" sz="quarter" idx="12"/>
          </p:nvPr>
        </p:nvSpPr>
        <p:spPr/>
        <p:txBody>
          <a:bodyPr/>
          <a:lstStyle/>
          <a:p>
            <a:fld id="{7D8CDDEE-5B35-4D79-B4C3-02EBE620CD3F}" type="slidenum">
              <a:rPr lang="en-GB" smtClean="0"/>
              <a:t>‹#›</a:t>
            </a:fld>
            <a:endParaRPr lang="en-GB"/>
          </a:p>
        </p:txBody>
      </p:sp>
    </p:spTree>
    <p:extLst>
      <p:ext uri="{BB962C8B-B14F-4D97-AF65-F5344CB8AC3E}">
        <p14:creationId xmlns:p14="http://schemas.microsoft.com/office/powerpoint/2010/main" val="7460801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08D2366-0759-4A3D-8349-A5A8FD85CC72}"/>
              </a:ext>
            </a:extLst>
          </p:cNvPr>
          <p:cNvSpPr>
            <a:spLocks noGrp="1"/>
          </p:cNvSpPr>
          <p:nvPr>
            <p:ph type="dt" sz="half" idx="10"/>
          </p:nvPr>
        </p:nvSpPr>
        <p:spPr/>
        <p:txBody>
          <a:bodyPr/>
          <a:lstStyle/>
          <a:p>
            <a:fld id="{5E7FCB2D-203A-4F61-9926-83A3EDF1A169}" type="datetimeFigureOut">
              <a:rPr lang="en-GB" smtClean="0"/>
              <a:t>15/12/2025</a:t>
            </a:fld>
            <a:endParaRPr lang="en-GB"/>
          </a:p>
        </p:txBody>
      </p:sp>
      <p:sp>
        <p:nvSpPr>
          <p:cNvPr id="3" name="Footer Placeholder 2">
            <a:extLst>
              <a:ext uri="{FF2B5EF4-FFF2-40B4-BE49-F238E27FC236}">
                <a16:creationId xmlns:a16="http://schemas.microsoft.com/office/drawing/2014/main" id="{B4CBA170-BA0D-4920-B8FD-EF316334FF91}"/>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769B9E25-4213-4E10-AF1D-95930A53D83B}"/>
              </a:ext>
            </a:extLst>
          </p:cNvPr>
          <p:cNvSpPr>
            <a:spLocks noGrp="1"/>
          </p:cNvSpPr>
          <p:nvPr>
            <p:ph type="sldNum" sz="quarter" idx="12"/>
          </p:nvPr>
        </p:nvSpPr>
        <p:spPr/>
        <p:txBody>
          <a:bodyPr/>
          <a:lstStyle/>
          <a:p>
            <a:fld id="{7D8CDDEE-5B35-4D79-B4C3-02EBE620CD3F}" type="slidenum">
              <a:rPr lang="en-GB" smtClean="0"/>
              <a:t>‹#›</a:t>
            </a:fld>
            <a:endParaRPr lang="en-GB"/>
          </a:p>
        </p:txBody>
      </p:sp>
    </p:spTree>
    <p:extLst>
      <p:ext uri="{BB962C8B-B14F-4D97-AF65-F5344CB8AC3E}">
        <p14:creationId xmlns:p14="http://schemas.microsoft.com/office/powerpoint/2010/main" val="6458301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CE2759-8852-46A4-9013-AC55B01931E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5FF9E20A-BFE8-4500-99A4-B4452A260F6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1BF97DA3-56CB-4FE7-B7DB-C265732DEA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AE30C29-B094-4389-B0DA-B5BAAA0605C7}"/>
              </a:ext>
            </a:extLst>
          </p:cNvPr>
          <p:cNvSpPr>
            <a:spLocks noGrp="1"/>
          </p:cNvSpPr>
          <p:nvPr>
            <p:ph type="dt" sz="half" idx="10"/>
          </p:nvPr>
        </p:nvSpPr>
        <p:spPr/>
        <p:txBody>
          <a:bodyPr/>
          <a:lstStyle/>
          <a:p>
            <a:fld id="{5E7FCB2D-203A-4F61-9926-83A3EDF1A169}" type="datetimeFigureOut">
              <a:rPr lang="en-GB" smtClean="0"/>
              <a:t>15/12/2025</a:t>
            </a:fld>
            <a:endParaRPr lang="en-GB"/>
          </a:p>
        </p:txBody>
      </p:sp>
      <p:sp>
        <p:nvSpPr>
          <p:cNvPr id="6" name="Footer Placeholder 5">
            <a:extLst>
              <a:ext uri="{FF2B5EF4-FFF2-40B4-BE49-F238E27FC236}">
                <a16:creationId xmlns:a16="http://schemas.microsoft.com/office/drawing/2014/main" id="{BA09B3E2-BAAE-4757-941E-D0B76B2DB76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6FD5CDB2-30BE-496A-916B-5D4A1611CE4E}"/>
              </a:ext>
            </a:extLst>
          </p:cNvPr>
          <p:cNvSpPr>
            <a:spLocks noGrp="1"/>
          </p:cNvSpPr>
          <p:nvPr>
            <p:ph type="sldNum" sz="quarter" idx="12"/>
          </p:nvPr>
        </p:nvSpPr>
        <p:spPr/>
        <p:txBody>
          <a:bodyPr/>
          <a:lstStyle/>
          <a:p>
            <a:fld id="{7D8CDDEE-5B35-4D79-B4C3-02EBE620CD3F}" type="slidenum">
              <a:rPr lang="en-GB" smtClean="0"/>
              <a:t>‹#›</a:t>
            </a:fld>
            <a:endParaRPr lang="en-GB"/>
          </a:p>
        </p:txBody>
      </p:sp>
    </p:spTree>
    <p:extLst>
      <p:ext uri="{BB962C8B-B14F-4D97-AF65-F5344CB8AC3E}">
        <p14:creationId xmlns:p14="http://schemas.microsoft.com/office/powerpoint/2010/main" val="28265643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DDDF3-2A90-4B1C-A7AF-7E76683B4AA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7D30F2C7-8065-4054-9404-8336DAE4842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7765E774-E1C3-4482-BDCF-D68FCB12D35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88B689E-D042-4143-8BF4-49FFA2651C4A}"/>
              </a:ext>
            </a:extLst>
          </p:cNvPr>
          <p:cNvSpPr>
            <a:spLocks noGrp="1"/>
          </p:cNvSpPr>
          <p:nvPr>
            <p:ph type="dt" sz="half" idx="10"/>
          </p:nvPr>
        </p:nvSpPr>
        <p:spPr/>
        <p:txBody>
          <a:bodyPr/>
          <a:lstStyle/>
          <a:p>
            <a:fld id="{5E7FCB2D-203A-4F61-9926-83A3EDF1A169}" type="datetimeFigureOut">
              <a:rPr lang="en-GB" smtClean="0"/>
              <a:t>15/12/2025</a:t>
            </a:fld>
            <a:endParaRPr lang="en-GB"/>
          </a:p>
        </p:txBody>
      </p:sp>
      <p:sp>
        <p:nvSpPr>
          <p:cNvPr id="6" name="Footer Placeholder 5">
            <a:extLst>
              <a:ext uri="{FF2B5EF4-FFF2-40B4-BE49-F238E27FC236}">
                <a16:creationId xmlns:a16="http://schemas.microsoft.com/office/drawing/2014/main" id="{4FF08CA3-3A26-48A0-88D8-844FF13A8B8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53FEDD01-F60E-4938-BED3-F63F1D2A7872}"/>
              </a:ext>
            </a:extLst>
          </p:cNvPr>
          <p:cNvSpPr>
            <a:spLocks noGrp="1"/>
          </p:cNvSpPr>
          <p:nvPr>
            <p:ph type="sldNum" sz="quarter" idx="12"/>
          </p:nvPr>
        </p:nvSpPr>
        <p:spPr/>
        <p:txBody>
          <a:bodyPr/>
          <a:lstStyle/>
          <a:p>
            <a:fld id="{7D8CDDEE-5B35-4D79-B4C3-02EBE620CD3F}" type="slidenum">
              <a:rPr lang="en-GB" smtClean="0"/>
              <a:t>‹#›</a:t>
            </a:fld>
            <a:endParaRPr lang="en-GB"/>
          </a:p>
        </p:txBody>
      </p:sp>
    </p:spTree>
    <p:extLst>
      <p:ext uri="{BB962C8B-B14F-4D97-AF65-F5344CB8AC3E}">
        <p14:creationId xmlns:p14="http://schemas.microsoft.com/office/powerpoint/2010/main" val="18866181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B6371B-1D82-42CF-8D45-5C89111B3863}"/>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DBC7E259-10C7-4BBE-A92B-FB978DB36E8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ADCB914-9B7A-46B7-B0A2-30E4ACA06A0B}"/>
              </a:ext>
            </a:extLst>
          </p:cNvPr>
          <p:cNvSpPr>
            <a:spLocks noGrp="1"/>
          </p:cNvSpPr>
          <p:nvPr>
            <p:ph type="dt" sz="half" idx="10"/>
          </p:nvPr>
        </p:nvSpPr>
        <p:spPr/>
        <p:txBody>
          <a:bodyPr/>
          <a:lstStyle/>
          <a:p>
            <a:fld id="{5E7FCB2D-203A-4F61-9926-83A3EDF1A169}" type="datetimeFigureOut">
              <a:rPr lang="en-GB" smtClean="0"/>
              <a:t>15/12/2025</a:t>
            </a:fld>
            <a:endParaRPr lang="en-GB"/>
          </a:p>
        </p:txBody>
      </p:sp>
      <p:sp>
        <p:nvSpPr>
          <p:cNvPr id="5" name="Footer Placeholder 4">
            <a:extLst>
              <a:ext uri="{FF2B5EF4-FFF2-40B4-BE49-F238E27FC236}">
                <a16:creationId xmlns:a16="http://schemas.microsoft.com/office/drawing/2014/main" id="{AB9F446D-A463-4843-A970-A5D7E245B8E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A00536E-F67A-4EB1-9F79-2BE71AC3CA8D}"/>
              </a:ext>
            </a:extLst>
          </p:cNvPr>
          <p:cNvSpPr>
            <a:spLocks noGrp="1"/>
          </p:cNvSpPr>
          <p:nvPr>
            <p:ph type="sldNum" sz="quarter" idx="12"/>
          </p:nvPr>
        </p:nvSpPr>
        <p:spPr/>
        <p:txBody>
          <a:bodyPr/>
          <a:lstStyle/>
          <a:p>
            <a:fld id="{7D8CDDEE-5B35-4D79-B4C3-02EBE620CD3F}" type="slidenum">
              <a:rPr lang="en-GB" smtClean="0"/>
              <a:t>‹#›</a:t>
            </a:fld>
            <a:endParaRPr lang="en-GB"/>
          </a:p>
        </p:txBody>
      </p:sp>
    </p:spTree>
    <p:extLst>
      <p:ext uri="{BB962C8B-B14F-4D97-AF65-F5344CB8AC3E}">
        <p14:creationId xmlns:p14="http://schemas.microsoft.com/office/powerpoint/2010/main" val="16301082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39CCFC-870C-4594-8D9D-1F8D07B73E6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788E2655-1625-4235-A27B-FFD99EB129C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397C17A-830B-411D-8709-88FA34A696B9}"/>
              </a:ext>
            </a:extLst>
          </p:cNvPr>
          <p:cNvSpPr>
            <a:spLocks noGrp="1"/>
          </p:cNvSpPr>
          <p:nvPr>
            <p:ph type="dt" sz="half" idx="10"/>
          </p:nvPr>
        </p:nvSpPr>
        <p:spPr/>
        <p:txBody>
          <a:bodyPr/>
          <a:lstStyle/>
          <a:p>
            <a:fld id="{5E7FCB2D-203A-4F61-9926-83A3EDF1A169}" type="datetimeFigureOut">
              <a:rPr lang="en-GB" smtClean="0"/>
              <a:t>15/12/2025</a:t>
            </a:fld>
            <a:endParaRPr lang="en-GB"/>
          </a:p>
        </p:txBody>
      </p:sp>
      <p:sp>
        <p:nvSpPr>
          <p:cNvPr id="5" name="Footer Placeholder 4">
            <a:extLst>
              <a:ext uri="{FF2B5EF4-FFF2-40B4-BE49-F238E27FC236}">
                <a16:creationId xmlns:a16="http://schemas.microsoft.com/office/drawing/2014/main" id="{4EB35CBB-94F6-4284-B984-C31160A8CA3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251E927-7B7F-4698-87CB-9C429C0138E6}"/>
              </a:ext>
            </a:extLst>
          </p:cNvPr>
          <p:cNvSpPr>
            <a:spLocks noGrp="1"/>
          </p:cNvSpPr>
          <p:nvPr>
            <p:ph type="sldNum" sz="quarter" idx="12"/>
          </p:nvPr>
        </p:nvSpPr>
        <p:spPr/>
        <p:txBody>
          <a:bodyPr/>
          <a:lstStyle/>
          <a:p>
            <a:fld id="{7D8CDDEE-5B35-4D79-B4C3-02EBE620CD3F}" type="slidenum">
              <a:rPr lang="en-GB" smtClean="0"/>
              <a:t>‹#›</a:t>
            </a:fld>
            <a:endParaRPr lang="en-GB"/>
          </a:p>
        </p:txBody>
      </p:sp>
    </p:spTree>
    <p:extLst>
      <p:ext uri="{BB962C8B-B14F-4D97-AF65-F5344CB8AC3E}">
        <p14:creationId xmlns:p14="http://schemas.microsoft.com/office/powerpoint/2010/main" val="30574690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883E678-48C1-4C90-9F7D-A58CFF0EA04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E2787460-50B5-443F-8235-DC1C162403A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157EEC0-175D-403D-A2DC-5262BC39B7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E7FCB2D-203A-4F61-9926-83A3EDF1A169}" type="datetimeFigureOut">
              <a:rPr lang="en-GB" smtClean="0"/>
              <a:t>15/12/2025</a:t>
            </a:fld>
            <a:endParaRPr lang="en-GB"/>
          </a:p>
        </p:txBody>
      </p:sp>
      <p:sp>
        <p:nvSpPr>
          <p:cNvPr id="5" name="Footer Placeholder 4">
            <a:extLst>
              <a:ext uri="{FF2B5EF4-FFF2-40B4-BE49-F238E27FC236}">
                <a16:creationId xmlns:a16="http://schemas.microsoft.com/office/drawing/2014/main" id="{A557E15D-E999-432A-90CF-14F3956326F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5BA6CF8F-A65A-4AA5-9250-58942834C8E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8CDDEE-5B35-4D79-B4C3-02EBE620CD3F}" type="slidenum">
              <a:rPr lang="en-GB" smtClean="0"/>
              <a:t>‹#›</a:t>
            </a:fld>
            <a:endParaRPr lang="en-GB"/>
          </a:p>
        </p:txBody>
      </p:sp>
    </p:spTree>
    <p:extLst>
      <p:ext uri="{BB962C8B-B14F-4D97-AF65-F5344CB8AC3E}">
        <p14:creationId xmlns:p14="http://schemas.microsoft.com/office/powerpoint/2010/main" val="9515487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27000" r="-27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0581C-5B24-4410-8817-38B4478D429C}"/>
              </a:ext>
            </a:extLst>
          </p:cNvPr>
          <p:cNvSpPr>
            <a:spLocks noGrp="1"/>
          </p:cNvSpPr>
          <p:nvPr>
            <p:ph type="title"/>
          </p:nvPr>
        </p:nvSpPr>
        <p:spPr>
          <a:xfrm>
            <a:off x="3802117" y="2881832"/>
            <a:ext cx="10515600" cy="1325563"/>
          </a:xfrm>
        </p:spPr>
        <p:txBody>
          <a:bodyPr>
            <a:normAutofit/>
          </a:bodyPr>
          <a:lstStyle/>
          <a:p>
            <a:r>
              <a:rPr lang="en-AU" sz="4800" b="1">
                <a:solidFill>
                  <a:schemeClr val="bg1"/>
                </a:solidFill>
                <a:latin typeface="+mn-lt"/>
              </a:rPr>
              <a:t>TÌM HIỂU MỘT SỐ CÔNG CỤ AI</a:t>
            </a:r>
            <a:endParaRPr lang="en-GB" sz="4800" b="1">
              <a:solidFill>
                <a:schemeClr val="bg1"/>
              </a:solidFill>
              <a:latin typeface="+mn-lt"/>
            </a:endParaRPr>
          </a:p>
        </p:txBody>
      </p:sp>
    </p:spTree>
    <p:extLst>
      <p:ext uri="{BB962C8B-B14F-4D97-AF65-F5344CB8AC3E}">
        <p14:creationId xmlns:p14="http://schemas.microsoft.com/office/powerpoint/2010/main" val="3968959207"/>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cstate="hqprint">
            <a:alphaModFix amt="90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EDCDB5-5D05-4883-B163-082E80872E25}"/>
              </a:ext>
            </a:extLst>
          </p:cNvPr>
          <p:cNvSpPr>
            <a:spLocks noGrp="1"/>
          </p:cNvSpPr>
          <p:nvPr>
            <p:ph type="title"/>
          </p:nvPr>
        </p:nvSpPr>
        <p:spPr/>
        <p:txBody>
          <a:bodyPr/>
          <a:lstStyle/>
          <a:p>
            <a:r>
              <a:rPr lang="vi-VN">
                <a:solidFill>
                  <a:schemeClr val="bg1"/>
                </a:solidFill>
              </a:rPr>
              <a:t>I. ChatGPT</a:t>
            </a:r>
            <a:endParaRPr lang="en-GB">
              <a:solidFill>
                <a:schemeClr val="bg1"/>
              </a:solidFill>
            </a:endParaRPr>
          </a:p>
        </p:txBody>
      </p:sp>
      <p:sp>
        <p:nvSpPr>
          <p:cNvPr id="3" name="Content Placeholder 2">
            <a:extLst>
              <a:ext uri="{FF2B5EF4-FFF2-40B4-BE49-F238E27FC236}">
                <a16:creationId xmlns:a16="http://schemas.microsoft.com/office/drawing/2014/main" id="{06269736-CD3D-4EDE-9A60-1A3B9958C84D}"/>
              </a:ext>
            </a:extLst>
          </p:cNvPr>
          <p:cNvSpPr>
            <a:spLocks noGrp="1"/>
          </p:cNvSpPr>
          <p:nvPr>
            <p:ph sz="half" idx="1"/>
          </p:nvPr>
        </p:nvSpPr>
        <p:spPr/>
        <p:txBody>
          <a:bodyPr>
            <a:normAutofit lnSpcReduction="10000"/>
          </a:bodyPr>
          <a:lstStyle/>
          <a:p>
            <a:pPr marL="0" indent="0">
              <a:buNone/>
            </a:pPr>
            <a:r>
              <a:rPr lang="en-AU">
                <a:solidFill>
                  <a:schemeClr val="bg1"/>
                </a:solidFill>
              </a:rPr>
              <a:t>1</a:t>
            </a:r>
            <a:r>
              <a:rPr lang="vi-VN">
                <a:solidFill>
                  <a:schemeClr val="bg1"/>
                </a:solidFill>
              </a:rPr>
              <a:t>, Khái niệm</a:t>
            </a:r>
          </a:p>
          <a:p>
            <a:pPr marL="0" indent="0">
              <a:buNone/>
            </a:pPr>
            <a:r>
              <a:rPr lang="vi-VN" sz="1600">
                <a:solidFill>
                  <a:schemeClr val="bg1"/>
                </a:solidFill>
              </a:rPr>
              <a:t>ChatGPT là một trí tuệ nhân tạo (AI) do OpenAI tạo ra, có khả năng hiểu và trả lời bằng ngôn ngữ tự nhiên giống như con người. ChatGPT có thể trò chuyện, trả lời câu hỏi, giải bài tập, viết văn bản, dịch thuật, tạo ý tưởng, lập trình, làm báo cáo,…</a:t>
            </a:r>
          </a:p>
          <a:p>
            <a:pPr marL="0" indent="0">
              <a:buNone/>
            </a:pPr>
            <a:r>
              <a:rPr lang="en-AU">
                <a:solidFill>
                  <a:schemeClr val="bg1"/>
                </a:solidFill>
              </a:rPr>
              <a:t>2</a:t>
            </a:r>
            <a:r>
              <a:rPr lang="vi-VN">
                <a:solidFill>
                  <a:schemeClr val="bg1"/>
                </a:solidFill>
              </a:rPr>
              <a:t>, Cách thức hoạt động</a:t>
            </a:r>
            <a:endParaRPr lang="vi-VN" sz="1600">
              <a:solidFill>
                <a:schemeClr val="bg1"/>
              </a:solidFill>
            </a:endParaRPr>
          </a:p>
          <a:p>
            <a:pPr>
              <a:buFont typeface="Wingdings" panose="05000000000000000000" pitchFamily="2" charset="2"/>
              <a:buChar char="v"/>
            </a:pPr>
            <a:r>
              <a:rPr lang="vi-VN" sz="1600">
                <a:solidFill>
                  <a:schemeClr val="bg1"/>
                </a:solidFill>
              </a:rPr>
              <a:t>Xử lý ngôn ngữ tự nhiên (NLP): Sử dụng mô hình học máy và kiến trúc Transformer để hiểu và tạo ra văn bản tự nhiên dựa trên ngữ cảnh của câu hỏi hoặc yêu cầu.</a:t>
            </a:r>
          </a:p>
          <a:p>
            <a:pPr>
              <a:buFont typeface="Wingdings" panose="05000000000000000000" pitchFamily="2" charset="2"/>
              <a:buChar char="v"/>
            </a:pPr>
            <a:r>
              <a:rPr lang="vi-VN" sz="1600">
                <a:solidFill>
                  <a:schemeClr val="bg1"/>
                </a:solidFill>
              </a:rPr>
              <a:t>Tương tác theo ngữ cảnh: Có khả năng duy trì ngữ cảnh trong cuộc trò chuyện, giúp phản hồi một cách mạch lạc và logic.</a:t>
            </a:r>
          </a:p>
          <a:p>
            <a:pPr>
              <a:buFont typeface="Wingdings" panose="05000000000000000000" pitchFamily="2" charset="2"/>
              <a:buChar char="v"/>
            </a:pPr>
            <a:endParaRPr lang="vi-VN" sz="1600">
              <a:solidFill>
                <a:schemeClr val="bg1"/>
              </a:solidFill>
            </a:endParaRPr>
          </a:p>
          <a:p>
            <a:pPr marL="0" indent="0">
              <a:buNone/>
            </a:pPr>
            <a:endParaRPr lang="vi-VN" sz="1600">
              <a:solidFill>
                <a:schemeClr val="bg1"/>
              </a:solidFill>
            </a:endParaRPr>
          </a:p>
          <a:p>
            <a:pPr marL="0" indent="0">
              <a:buNone/>
            </a:pPr>
            <a:endParaRPr lang="vi-VN" sz="1600"/>
          </a:p>
          <a:p>
            <a:pPr marL="0" indent="0">
              <a:buNone/>
            </a:pPr>
            <a:endParaRPr lang="en-GB"/>
          </a:p>
        </p:txBody>
      </p:sp>
      <p:sp>
        <p:nvSpPr>
          <p:cNvPr id="4" name="Content Placeholder 3">
            <a:extLst>
              <a:ext uri="{FF2B5EF4-FFF2-40B4-BE49-F238E27FC236}">
                <a16:creationId xmlns:a16="http://schemas.microsoft.com/office/drawing/2014/main" id="{FF967F31-65E6-4F67-9745-336BA668B0E9}"/>
              </a:ext>
            </a:extLst>
          </p:cNvPr>
          <p:cNvSpPr>
            <a:spLocks noGrp="1"/>
          </p:cNvSpPr>
          <p:nvPr>
            <p:ph sz="half" idx="2"/>
          </p:nvPr>
        </p:nvSpPr>
        <p:spPr/>
        <p:txBody>
          <a:bodyPr>
            <a:normAutofit lnSpcReduction="10000"/>
          </a:bodyPr>
          <a:lstStyle/>
          <a:p>
            <a:pPr marL="0" indent="0">
              <a:buNone/>
            </a:pPr>
            <a:r>
              <a:rPr lang="en-AU">
                <a:solidFill>
                  <a:schemeClr val="bg1"/>
                </a:solidFill>
              </a:rPr>
              <a:t>3</a:t>
            </a:r>
            <a:r>
              <a:rPr lang="vi-VN">
                <a:solidFill>
                  <a:schemeClr val="bg1"/>
                </a:solidFill>
              </a:rPr>
              <a:t>, Ưu điểm</a:t>
            </a:r>
          </a:p>
          <a:p>
            <a:pPr>
              <a:buFont typeface="Wingdings" panose="05000000000000000000" pitchFamily="2" charset="2"/>
              <a:buChar char="Ø"/>
            </a:pPr>
            <a:r>
              <a:rPr lang="vi-VN" sz="1600">
                <a:solidFill>
                  <a:schemeClr val="bg1"/>
                </a:solidFill>
              </a:rPr>
              <a:t>Tương tác tự nhiên: Có khả năng tạo ra văn bản tự nhiên và tham gia vào các cuộc trò chuyện phức tạp.</a:t>
            </a:r>
          </a:p>
          <a:p>
            <a:pPr>
              <a:buFont typeface="Wingdings" panose="05000000000000000000" pitchFamily="2" charset="2"/>
              <a:buChar char="Ø"/>
            </a:pPr>
            <a:r>
              <a:rPr lang="vi-VN" sz="1600">
                <a:solidFill>
                  <a:schemeClr val="bg1"/>
                </a:solidFill>
              </a:rPr>
              <a:t>Linh hoạt: Ứng dụng trong nhiều lĩnh vực khác nhau từ hỗ trợ khách hàng đến sáng tác nghệ thuật</a:t>
            </a:r>
          </a:p>
          <a:p>
            <a:pPr>
              <a:buFont typeface="Wingdings" panose="05000000000000000000" pitchFamily="2" charset="2"/>
              <a:buChar char="Ø"/>
            </a:pPr>
            <a:r>
              <a:rPr lang="vi-VN" sz="1600">
                <a:solidFill>
                  <a:schemeClr val="bg1"/>
                </a:solidFill>
              </a:rPr>
              <a:t>Không yêu cầu từ khóa chính xác: Có thể hiểu và phản hồi dựa trên ngữ cảnh mà không cần từ khóa chính xác.</a:t>
            </a:r>
          </a:p>
          <a:p>
            <a:pPr marL="0" indent="0">
              <a:buNone/>
            </a:pPr>
            <a:r>
              <a:rPr lang="en-AU">
                <a:solidFill>
                  <a:schemeClr val="bg1"/>
                </a:solidFill>
              </a:rPr>
              <a:t>4</a:t>
            </a:r>
            <a:r>
              <a:rPr lang="vi-VN">
                <a:solidFill>
                  <a:schemeClr val="bg1"/>
                </a:solidFill>
              </a:rPr>
              <a:t>, Nhược điểm</a:t>
            </a:r>
          </a:p>
          <a:p>
            <a:pPr>
              <a:buFont typeface="Wingdings" panose="05000000000000000000" pitchFamily="2" charset="2"/>
              <a:buChar char="§"/>
            </a:pPr>
            <a:r>
              <a:rPr lang="vi-VN" sz="1600">
                <a:solidFill>
                  <a:schemeClr val="bg1"/>
                </a:solidFill>
              </a:rPr>
              <a:t>Thiếu kiến thức cập nhật: Kiến thức bị giới hạn trong phạm vi dữ liệu huấn luyện và không thể cập nhật theo thời gian thực.</a:t>
            </a:r>
          </a:p>
          <a:p>
            <a:pPr>
              <a:buFont typeface="Wingdings" panose="05000000000000000000" pitchFamily="2" charset="2"/>
              <a:buChar char="§"/>
            </a:pPr>
            <a:r>
              <a:rPr lang="vi-VN" sz="1600">
                <a:solidFill>
                  <a:schemeClr val="bg1"/>
                </a:solidFill>
              </a:rPr>
              <a:t>Chi phí sử dụng cao: Việc sử dụng mô hình lớn như GPT-3 hoặc GPT-4 có thể tốn kém, đặc biệt khi sử dụng API</a:t>
            </a:r>
          </a:p>
          <a:p>
            <a:pPr marL="0" indent="0">
              <a:buNone/>
            </a:pPr>
            <a:endParaRPr lang="en-GB" sz="1600">
              <a:solidFill>
                <a:schemeClr val="bg1"/>
              </a:solidFill>
            </a:endParaRPr>
          </a:p>
        </p:txBody>
      </p:sp>
    </p:spTree>
    <p:extLst>
      <p:ext uri="{BB962C8B-B14F-4D97-AF65-F5344CB8AC3E}">
        <p14:creationId xmlns:p14="http://schemas.microsoft.com/office/powerpoint/2010/main" val="2603911966"/>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cstate="hqprint">
            <a:alphaModFix amt="90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3F28961-B859-4B3E-8106-E89760B3F4C3}"/>
              </a:ext>
            </a:extLst>
          </p:cNvPr>
          <p:cNvSpPr>
            <a:spLocks noGrp="1"/>
          </p:cNvSpPr>
          <p:nvPr>
            <p:ph sz="half" idx="1"/>
          </p:nvPr>
        </p:nvSpPr>
        <p:spPr>
          <a:xfrm>
            <a:off x="111760" y="701041"/>
            <a:ext cx="5750560" cy="5171440"/>
          </a:xfrm>
        </p:spPr>
        <p:txBody>
          <a:bodyPr>
            <a:normAutofit fontScale="77500" lnSpcReduction="20000"/>
          </a:bodyPr>
          <a:lstStyle/>
          <a:p>
            <a:pPr marL="0" indent="0">
              <a:buNone/>
            </a:pPr>
            <a:r>
              <a:rPr lang="en-AU" sz="4500" b="1">
                <a:solidFill>
                  <a:schemeClr val="bg1"/>
                </a:solidFill>
              </a:rPr>
              <a:t>5</a:t>
            </a:r>
            <a:r>
              <a:rPr lang="vi-VN" sz="4500" b="1">
                <a:solidFill>
                  <a:schemeClr val="bg1"/>
                </a:solidFill>
              </a:rPr>
              <a:t>,Ứng dụng trong học tập</a:t>
            </a:r>
          </a:p>
          <a:p>
            <a:pPr>
              <a:buFont typeface="Wingdings" panose="05000000000000000000" pitchFamily="2" charset="2"/>
              <a:buChar char="ü"/>
            </a:pPr>
            <a:r>
              <a:rPr lang="vi-VN">
                <a:solidFill>
                  <a:schemeClr val="bg1"/>
                </a:solidFill>
              </a:rPr>
              <a:t>Tạo đề cương ôn tập / tóm tắt chương: yêu cầu “Tóm tắt chương X thành 10 bullet, mỗi bullet max 20 từ.” </a:t>
            </a:r>
          </a:p>
          <a:p>
            <a:pPr>
              <a:buFont typeface="Wingdings" panose="05000000000000000000" pitchFamily="2" charset="2"/>
              <a:buChar char="ü"/>
            </a:pPr>
            <a:r>
              <a:rPr lang="vi-VN">
                <a:solidFill>
                  <a:schemeClr val="bg1"/>
                </a:solidFill>
              </a:rPr>
              <a:t> Giải thích từng bước bài tập: toán/lý/hóa/logic — yêu cầu “hãy giải chi tiết từng bước, nêu công thức dùng.” </a:t>
            </a:r>
          </a:p>
          <a:p>
            <a:pPr>
              <a:buFont typeface="Wingdings" panose="05000000000000000000" pitchFamily="2" charset="2"/>
              <a:buChar char="ü"/>
            </a:pPr>
            <a:r>
              <a:rPr lang="vi-VN">
                <a:solidFill>
                  <a:schemeClr val="bg1"/>
                </a:solidFill>
              </a:rPr>
              <a:t> Luyện viết &amp; phản hồi: nạp bài luận, yêu cầu chỉnh tone (học thuật, thân mật), liệt kê lỗi cần sửa. </a:t>
            </a:r>
          </a:p>
          <a:p>
            <a:pPr>
              <a:buFont typeface="Wingdings" panose="05000000000000000000" pitchFamily="2" charset="2"/>
              <a:buChar char="ü"/>
            </a:pPr>
            <a:r>
              <a:rPr lang="vi-VN">
                <a:solidFill>
                  <a:schemeClr val="bg1"/>
                </a:solidFill>
              </a:rPr>
              <a:t> Chuẩn bị thuyết trình: tạo slide outline + script nói 5 phút. </a:t>
            </a:r>
          </a:p>
          <a:p>
            <a:pPr>
              <a:buFont typeface="Wingdings" panose="05000000000000000000" pitchFamily="2" charset="2"/>
              <a:buChar char="ü"/>
            </a:pPr>
            <a:r>
              <a:rPr lang="vi-VN">
                <a:solidFill>
                  <a:schemeClr val="bg1"/>
                </a:solidFill>
              </a:rPr>
              <a:t> Hỗ trợ nghiên cứu: đề xuất từ khóa tìm tài liệu, tóm tắt bài báo (luôn kiểm tra nguồn gốc). Nghiên cứu hệ thống cho thấy nhiều tác dụng tích cực nhưng cần định hướng sử dụng.</a:t>
            </a:r>
            <a:endParaRPr lang="en-GB">
              <a:solidFill>
                <a:schemeClr val="bg1"/>
              </a:solidFill>
            </a:endParaRPr>
          </a:p>
        </p:txBody>
      </p:sp>
      <p:pic>
        <p:nvPicPr>
          <p:cNvPr id="6" name="Content Placeholder 5">
            <a:extLst>
              <a:ext uri="{FF2B5EF4-FFF2-40B4-BE49-F238E27FC236}">
                <a16:creationId xmlns:a16="http://schemas.microsoft.com/office/drawing/2014/main" id="{C7ACD69C-788C-4AE4-B02B-3532FBD7CC1C}"/>
              </a:ext>
            </a:extLst>
          </p:cNvPr>
          <p:cNvPicPr>
            <a:picLocks noGrp="1" noChangeAspect="1"/>
          </p:cNvPicPr>
          <p:nvPr>
            <p:ph sz="half" idx="2"/>
          </p:nvPr>
        </p:nvPicPr>
        <p:blipFill>
          <a:blip r:embed="rId3">
            <a:extLst>
              <a:ext uri="{28A0092B-C50C-407E-A947-70E740481C1C}">
                <a14:useLocalDpi xmlns:a14="http://schemas.microsoft.com/office/drawing/2010/main"/>
              </a:ext>
            </a:extLst>
          </a:blip>
          <a:stretch>
            <a:fillRect/>
          </a:stretch>
        </p:blipFill>
        <p:spPr>
          <a:xfrm>
            <a:off x="6172200" y="2058194"/>
            <a:ext cx="5181600" cy="38862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209139231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cstate="hqprint">
            <a:alphaModFix amt="90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64008E61-95CE-4CBA-AA79-8EF451631C99}"/>
              </a:ext>
            </a:extLst>
          </p:cNvPr>
          <p:cNvSpPr>
            <a:spLocks noGrp="1"/>
          </p:cNvSpPr>
          <p:nvPr>
            <p:ph idx="1"/>
          </p:nvPr>
        </p:nvSpPr>
        <p:spPr>
          <a:xfrm>
            <a:off x="200025" y="444500"/>
            <a:ext cx="5362575" cy="6327775"/>
          </a:xfrm>
        </p:spPr>
        <p:txBody>
          <a:bodyPr/>
          <a:lstStyle/>
          <a:p>
            <a:pPr marL="0" indent="0">
              <a:buNone/>
            </a:pPr>
            <a:r>
              <a:rPr lang="vi-VN">
                <a:solidFill>
                  <a:schemeClr val="bg1"/>
                </a:solidFill>
              </a:rPr>
              <a:t>II. Gamma AI</a:t>
            </a:r>
          </a:p>
          <a:p>
            <a:pPr marL="0" indent="0">
              <a:buNone/>
            </a:pPr>
            <a:r>
              <a:rPr lang="en-AU" sz="2800">
                <a:solidFill>
                  <a:schemeClr val="bg1"/>
                </a:solidFill>
              </a:rPr>
              <a:t>1,</a:t>
            </a:r>
            <a:r>
              <a:rPr lang="vi-VN" sz="2800">
                <a:solidFill>
                  <a:schemeClr val="bg1"/>
                </a:solidFill>
              </a:rPr>
              <a:t> Khái niệm</a:t>
            </a:r>
          </a:p>
          <a:p>
            <a:pPr marL="0" indent="0">
              <a:buNone/>
            </a:pPr>
            <a:r>
              <a:rPr lang="vi-VN" sz="1600">
                <a:solidFill>
                  <a:schemeClr val="bg1"/>
                </a:solidFill>
              </a:rPr>
              <a:t>Gamma AI là một công cụ / nền tảng AI hỗ trợ tạo nội dung trình bày (slide, báo cáo, tài liệu, trang web,…) từ input là văn bản hoặc ý tưởng sơ khai — thay vì phải thiết kế “từng slide từng slide” thủ công.  -Về mặt kỹ thuật, Gamma sử dụng xử lý ngôn ngữ tự nhiên (NLP) và các mô hình AI hiện đại để hiểu nội dung bạn cung cấp, rồi tự động phân chia bố cục, đề mục, chèn hình ảnh/ đồ họa/ biểu đồ, tạo định dạng — để có ngay một bài slide, tài liệu hay web đẹp, dễ nhìn.</a:t>
            </a:r>
          </a:p>
          <a:p>
            <a:pPr marL="0" indent="0">
              <a:buNone/>
            </a:pPr>
            <a:endParaRPr lang="vi-VN" sz="1600">
              <a:solidFill>
                <a:schemeClr val="bg1"/>
              </a:solidFill>
            </a:endParaRPr>
          </a:p>
          <a:p>
            <a:pPr marL="0" indent="0">
              <a:buNone/>
            </a:pPr>
            <a:r>
              <a:rPr lang="en-AU" sz="2800">
                <a:solidFill>
                  <a:schemeClr val="bg1"/>
                </a:solidFill>
              </a:rPr>
              <a:t>2</a:t>
            </a:r>
            <a:r>
              <a:rPr lang="vi-VN" sz="2800">
                <a:solidFill>
                  <a:schemeClr val="bg1"/>
                </a:solidFill>
              </a:rPr>
              <a:t>, -Mục tiêu của Gamma</a:t>
            </a:r>
          </a:p>
          <a:p>
            <a:pPr>
              <a:buFont typeface="Wingdings" panose="05000000000000000000" pitchFamily="2" charset="2"/>
              <a:buChar char="Ø"/>
            </a:pPr>
            <a:r>
              <a:rPr lang="vi-VN" sz="1600">
                <a:solidFill>
                  <a:schemeClr val="bg1"/>
                </a:solidFill>
              </a:rPr>
              <a:t> giúp người dùng — kể cả không có kỹ năng thiết kế — có thể sản xuất nội dung chuyên nghiệp, nhanh chóng và hiệu quả. </a:t>
            </a:r>
            <a:endParaRPr lang="en-GB" sz="1600">
              <a:solidFill>
                <a:schemeClr val="bg1"/>
              </a:solidFill>
            </a:endParaRPr>
          </a:p>
        </p:txBody>
      </p:sp>
      <p:sp>
        <p:nvSpPr>
          <p:cNvPr id="7" name="Text Placeholder 6">
            <a:extLst>
              <a:ext uri="{FF2B5EF4-FFF2-40B4-BE49-F238E27FC236}">
                <a16:creationId xmlns:a16="http://schemas.microsoft.com/office/drawing/2014/main" id="{FC300374-E09A-4A63-814D-EB58F824E2FB}"/>
              </a:ext>
            </a:extLst>
          </p:cNvPr>
          <p:cNvSpPr>
            <a:spLocks noGrp="1"/>
          </p:cNvSpPr>
          <p:nvPr>
            <p:ph type="body" sz="half" idx="2"/>
          </p:nvPr>
        </p:nvSpPr>
        <p:spPr>
          <a:xfrm>
            <a:off x="6372225" y="839469"/>
            <a:ext cx="5886449" cy="6218555"/>
          </a:xfrm>
        </p:spPr>
        <p:txBody>
          <a:bodyPr>
            <a:normAutofit/>
          </a:bodyPr>
          <a:lstStyle/>
          <a:p>
            <a:pPr marL="0" indent="0">
              <a:buNone/>
            </a:pPr>
            <a:r>
              <a:rPr lang="en-AU" sz="2400" b="1">
                <a:solidFill>
                  <a:schemeClr val="bg1"/>
                </a:solidFill>
              </a:rPr>
              <a:t>3</a:t>
            </a:r>
            <a:r>
              <a:rPr lang="vi-VN" sz="2400" b="1">
                <a:solidFill>
                  <a:schemeClr val="bg1"/>
                </a:solidFill>
              </a:rPr>
              <a:t>, </a:t>
            </a:r>
            <a:r>
              <a:rPr lang="vi-VN" sz="2400" b="1" i="0">
                <a:solidFill>
                  <a:srgbClr val="DFE2E7"/>
                </a:solidFill>
                <a:effectLst/>
                <a:latin typeface="SegoeuiPc"/>
              </a:rPr>
              <a:t>Tính năng &amp; ưu điểm nổi bật của Gamma AI</a:t>
            </a:r>
          </a:p>
          <a:p>
            <a:pPr>
              <a:buFont typeface="Wingdings" panose="05000000000000000000" pitchFamily="2" charset="2"/>
              <a:buChar char="§"/>
            </a:pPr>
            <a:r>
              <a:rPr lang="en-GB" sz="1600">
                <a:solidFill>
                  <a:schemeClr val="bg1"/>
                </a:solidFill>
              </a:rPr>
              <a:t>Tạo slide / tài liệu chuyên nghiệp — rất nhanh</a:t>
            </a:r>
          </a:p>
          <a:p>
            <a:pPr>
              <a:buFont typeface="Wingdings" panose="05000000000000000000" pitchFamily="2" charset="2"/>
              <a:buChar char="§"/>
            </a:pPr>
            <a:r>
              <a:rPr lang="en-GB" sz="1600">
                <a:solidFill>
                  <a:schemeClr val="bg1"/>
                </a:solidFill>
              </a:rPr>
              <a:t>Không cần kỹ năng thiết kế</a:t>
            </a:r>
          </a:p>
          <a:p>
            <a:pPr>
              <a:buFont typeface="Wingdings" panose="05000000000000000000" pitchFamily="2" charset="2"/>
              <a:buChar char="§"/>
            </a:pPr>
            <a:r>
              <a:rPr lang="en-GB" sz="1600">
                <a:solidFill>
                  <a:schemeClr val="bg1"/>
                </a:solidFill>
              </a:rPr>
              <a:t>Kho mẫu &amp; định dạng đa dạng</a:t>
            </a:r>
          </a:p>
          <a:p>
            <a:pPr>
              <a:buFont typeface="Wingdings" panose="05000000000000000000" pitchFamily="2" charset="2"/>
              <a:buChar char="§"/>
            </a:pPr>
            <a:r>
              <a:rPr lang="en-GB" sz="1600">
                <a:solidFill>
                  <a:schemeClr val="bg1"/>
                </a:solidFill>
              </a:rPr>
              <a:t>Tiết kiệm thời gian &amp; tăng hiệu suất</a:t>
            </a:r>
          </a:p>
          <a:p>
            <a:pPr>
              <a:buFont typeface="Wingdings" panose="05000000000000000000" pitchFamily="2" charset="2"/>
              <a:buChar char="§"/>
            </a:pPr>
            <a:r>
              <a:rPr lang="en-GB" sz="1600">
                <a:solidFill>
                  <a:schemeClr val="bg1"/>
                </a:solidFill>
              </a:rPr>
              <a:t>Hỗ trợ làm việc / cộng tác nhóm</a:t>
            </a:r>
          </a:p>
          <a:p>
            <a:pPr>
              <a:buFont typeface="Wingdings" panose="05000000000000000000" pitchFamily="2" charset="2"/>
              <a:buChar char="§"/>
            </a:pPr>
            <a:r>
              <a:rPr lang="en-GB" sz="1600">
                <a:solidFill>
                  <a:schemeClr val="bg1"/>
                </a:solidFill>
              </a:rPr>
              <a:t>Đa dạng ứng dụng</a:t>
            </a:r>
          </a:p>
          <a:p>
            <a:pPr marL="0" indent="0">
              <a:buNone/>
            </a:pPr>
            <a:r>
              <a:rPr lang="en-AU" sz="2400" b="1">
                <a:solidFill>
                  <a:schemeClr val="bg1"/>
                </a:solidFill>
              </a:rPr>
              <a:t>4</a:t>
            </a:r>
            <a:r>
              <a:rPr lang="vi-VN" sz="2400" b="1">
                <a:solidFill>
                  <a:schemeClr val="bg1"/>
                </a:solidFill>
              </a:rPr>
              <a:t>,</a:t>
            </a:r>
            <a:r>
              <a:rPr lang="vi-VN" sz="2400" b="1" i="0">
                <a:solidFill>
                  <a:srgbClr val="DFE2E7"/>
                </a:solidFill>
                <a:effectLst/>
                <a:latin typeface="SegoeuiPc"/>
              </a:rPr>
              <a:t> Nhược điểm / hạn chế của Gamma AI</a:t>
            </a:r>
          </a:p>
          <a:p>
            <a:pPr>
              <a:buFont typeface="Wingdings" panose="05000000000000000000" pitchFamily="2" charset="2"/>
              <a:buChar char="§"/>
            </a:pPr>
            <a:r>
              <a:rPr lang="vi-VN" sz="1600" b="0" i="0">
                <a:solidFill>
                  <a:srgbClr val="DFE2E7"/>
                </a:solidFill>
                <a:effectLst/>
                <a:latin typeface="SegoeuiPc"/>
              </a:rPr>
              <a:t> Cần input rõ ràng, có cấu trúc </a:t>
            </a:r>
          </a:p>
          <a:p>
            <a:pPr>
              <a:buFont typeface="Wingdings" panose="05000000000000000000" pitchFamily="2" charset="2"/>
              <a:buChar char="§"/>
            </a:pPr>
            <a:r>
              <a:rPr lang="vi-VN" sz="1600" b="0" i="0">
                <a:solidFill>
                  <a:srgbClr val="DFE2E7"/>
                </a:solidFill>
                <a:effectLst/>
                <a:latin typeface="SegoeuiPc"/>
              </a:rPr>
              <a:t>Giới hạn về độ tùy chỉnh &amp; chi tiết chuyên sâu </a:t>
            </a:r>
          </a:p>
          <a:p>
            <a:pPr>
              <a:buFont typeface="Wingdings" panose="05000000000000000000" pitchFamily="2" charset="2"/>
              <a:buChar char="§"/>
            </a:pPr>
            <a:r>
              <a:rPr lang="vi-VN" sz="1600" b="0" i="0">
                <a:solidFill>
                  <a:srgbClr val="DFE2E7"/>
                </a:solidFill>
                <a:effectLst/>
                <a:latin typeface="SegoeuiPc"/>
              </a:rPr>
              <a:t>Nội dung do AI tạo có thể thiếu chiều sâu hoặc mang tính chung chung </a:t>
            </a:r>
          </a:p>
          <a:p>
            <a:pPr>
              <a:buFont typeface="Wingdings" panose="05000000000000000000" pitchFamily="2" charset="2"/>
              <a:buChar char="§"/>
            </a:pPr>
            <a:r>
              <a:rPr lang="vi-VN" sz="1600" b="0" i="0">
                <a:solidFill>
                  <a:srgbClr val="DFE2E7"/>
                </a:solidFill>
                <a:effectLst/>
                <a:latin typeface="SegoeuiPc"/>
              </a:rPr>
              <a:t>Có thể cần trả phí để mở nhiều tính năng / sử dụng thường xuyên </a:t>
            </a:r>
          </a:p>
          <a:p>
            <a:pPr>
              <a:buFont typeface="Wingdings" panose="05000000000000000000" pitchFamily="2" charset="2"/>
              <a:buChar char="§"/>
            </a:pPr>
            <a:r>
              <a:rPr lang="vi-VN" sz="1600" b="0" i="0">
                <a:solidFill>
                  <a:srgbClr val="DFE2E7"/>
                </a:solidFill>
                <a:effectLst/>
                <a:latin typeface="SegoeuiPc"/>
              </a:rPr>
              <a:t>Phụ thuộc kết nối Internet &amp; hạn chế khi offline</a:t>
            </a:r>
            <a:endParaRPr lang="vi-VN" sz="1600">
              <a:solidFill>
                <a:schemeClr val="bg1"/>
              </a:solidFill>
            </a:endParaRPr>
          </a:p>
          <a:p>
            <a:pPr>
              <a:buFont typeface="Wingdings" panose="05000000000000000000" pitchFamily="2" charset="2"/>
              <a:buChar char="§"/>
            </a:pPr>
            <a:endParaRPr lang="en-GB"/>
          </a:p>
        </p:txBody>
      </p:sp>
    </p:spTree>
    <p:extLst>
      <p:ext uri="{BB962C8B-B14F-4D97-AF65-F5344CB8AC3E}">
        <p14:creationId xmlns:p14="http://schemas.microsoft.com/office/powerpoint/2010/main" val="1327903215"/>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86000"/>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23CDBA-7220-4AD9-9EE6-0D2B20FD895D}"/>
              </a:ext>
            </a:extLst>
          </p:cNvPr>
          <p:cNvSpPr>
            <a:spLocks noGrp="1"/>
          </p:cNvSpPr>
          <p:nvPr>
            <p:ph type="title"/>
          </p:nvPr>
        </p:nvSpPr>
        <p:spPr/>
        <p:txBody>
          <a:bodyPr/>
          <a:lstStyle/>
          <a:p>
            <a:r>
              <a:rPr lang="en-AU">
                <a:solidFill>
                  <a:schemeClr val="bg1"/>
                </a:solidFill>
                <a:latin typeface="SegoeuiPc"/>
              </a:rPr>
              <a:t>5</a:t>
            </a:r>
            <a:r>
              <a:rPr lang="vi-VN" b="0" i="0">
                <a:solidFill>
                  <a:schemeClr val="bg1"/>
                </a:solidFill>
                <a:effectLst/>
                <a:latin typeface="SegoeuiPc"/>
              </a:rPr>
              <a:t>,</a:t>
            </a:r>
            <a:r>
              <a:rPr lang="en-GB" b="0" i="0" err="1">
                <a:solidFill>
                  <a:schemeClr val="bg1"/>
                </a:solidFill>
                <a:effectLst/>
                <a:latin typeface="SegoeuiPc"/>
              </a:rPr>
              <a:t>Khả</a:t>
            </a:r>
            <a:r>
              <a:rPr lang="en-GB" b="0" i="0">
                <a:solidFill>
                  <a:schemeClr val="bg1"/>
                </a:solidFill>
                <a:effectLst/>
                <a:latin typeface="SegoeuiPc"/>
              </a:rPr>
              <a:t> </a:t>
            </a:r>
            <a:r>
              <a:rPr lang="en-GB" b="0" i="0" err="1">
                <a:solidFill>
                  <a:schemeClr val="bg1"/>
                </a:solidFill>
                <a:effectLst/>
                <a:latin typeface="SegoeuiPc"/>
              </a:rPr>
              <a:t>năng</a:t>
            </a:r>
            <a:r>
              <a:rPr lang="en-GB" b="0" i="0">
                <a:solidFill>
                  <a:schemeClr val="bg1"/>
                </a:solidFill>
                <a:effectLst/>
                <a:latin typeface="SegoeuiPc"/>
              </a:rPr>
              <a:t> </a:t>
            </a:r>
            <a:r>
              <a:rPr lang="en-GB" b="0" i="0" err="1">
                <a:solidFill>
                  <a:schemeClr val="bg1"/>
                </a:solidFill>
                <a:effectLst/>
                <a:latin typeface="SegoeuiPc"/>
              </a:rPr>
              <a:t>ứng</a:t>
            </a:r>
            <a:r>
              <a:rPr lang="en-GB" b="0" i="0">
                <a:solidFill>
                  <a:schemeClr val="bg1"/>
                </a:solidFill>
                <a:effectLst/>
                <a:latin typeface="SegoeuiPc"/>
              </a:rPr>
              <a:t> </a:t>
            </a:r>
            <a:r>
              <a:rPr lang="en-GB" b="0" i="0" err="1">
                <a:solidFill>
                  <a:schemeClr val="bg1"/>
                </a:solidFill>
                <a:effectLst/>
                <a:latin typeface="SegoeuiPc"/>
              </a:rPr>
              <a:t>dụng</a:t>
            </a:r>
            <a:r>
              <a:rPr lang="en-GB" b="0" i="0">
                <a:solidFill>
                  <a:schemeClr val="bg1"/>
                </a:solidFill>
                <a:effectLst/>
                <a:latin typeface="SegoeuiPc"/>
              </a:rPr>
              <a:t> </a:t>
            </a:r>
            <a:r>
              <a:rPr lang="en-GB" b="0" i="0" err="1">
                <a:solidFill>
                  <a:schemeClr val="bg1"/>
                </a:solidFill>
                <a:effectLst/>
                <a:latin typeface="SegoeuiPc"/>
              </a:rPr>
              <a:t>trong</a:t>
            </a:r>
            <a:r>
              <a:rPr lang="en-GB" b="0" i="0">
                <a:solidFill>
                  <a:schemeClr val="bg1"/>
                </a:solidFill>
                <a:effectLst/>
                <a:latin typeface="SegoeuiPc"/>
              </a:rPr>
              <a:t> </a:t>
            </a:r>
            <a:r>
              <a:rPr lang="en-GB" b="0" i="0" err="1">
                <a:solidFill>
                  <a:schemeClr val="bg1"/>
                </a:solidFill>
                <a:effectLst/>
                <a:latin typeface="SegoeuiPc"/>
              </a:rPr>
              <a:t>học</a:t>
            </a:r>
            <a:r>
              <a:rPr lang="en-GB" b="0" i="0">
                <a:solidFill>
                  <a:schemeClr val="bg1"/>
                </a:solidFill>
                <a:effectLst/>
                <a:latin typeface="SegoeuiPc"/>
              </a:rPr>
              <a:t> </a:t>
            </a:r>
            <a:r>
              <a:rPr lang="en-GB" b="0" i="0" err="1">
                <a:solidFill>
                  <a:schemeClr val="bg1"/>
                </a:solidFill>
                <a:effectLst/>
                <a:latin typeface="SegoeuiPc"/>
              </a:rPr>
              <a:t>tập</a:t>
            </a:r>
            <a:r>
              <a:rPr lang="en-GB" b="0" i="0">
                <a:solidFill>
                  <a:schemeClr val="bg1"/>
                </a:solidFill>
                <a:effectLst/>
                <a:latin typeface="SegoeuiPc"/>
              </a:rPr>
              <a:t> &amp; </a:t>
            </a:r>
            <a:r>
              <a:rPr lang="en-GB" b="0" i="0" err="1">
                <a:solidFill>
                  <a:schemeClr val="bg1"/>
                </a:solidFill>
                <a:effectLst/>
                <a:latin typeface="SegoeuiPc"/>
              </a:rPr>
              <a:t>công</a:t>
            </a:r>
            <a:r>
              <a:rPr lang="en-GB" b="0" i="0">
                <a:solidFill>
                  <a:schemeClr val="bg1"/>
                </a:solidFill>
                <a:effectLst/>
                <a:latin typeface="SegoeuiPc"/>
              </a:rPr>
              <a:t> </a:t>
            </a:r>
            <a:r>
              <a:rPr lang="en-GB" b="0" i="0" err="1">
                <a:solidFill>
                  <a:schemeClr val="bg1"/>
                </a:solidFill>
                <a:effectLst/>
                <a:latin typeface="SegoeuiPc"/>
              </a:rPr>
              <a:t>việc</a:t>
            </a:r>
            <a:endParaRPr lang="en-GB">
              <a:solidFill>
                <a:schemeClr val="bg1"/>
              </a:solidFill>
            </a:endParaRPr>
          </a:p>
        </p:txBody>
      </p:sp>
      <p:sp>
        <p:nvSpPr>
          <p:cNvPr id="3" name="Content Placeholder 2">
            <a:extLst>
              <a:ext uri="{FF2B5EF4-FFF2-40B4-BE49-F238E27FC236}">
                <a16:creationId xmlns:a16="http://schemas.microsoft.com/office/drawing/2014/main" id="{921E204E-AB90-4230-AE93-D20C57816C07}"/>
              </a:ext>
            </a:extLst>
          </p:cNvPr>
          <p:cNvSpPr>
            <a:spLocks noGrp="1"/>
          </p:cNvSpPr>
          <p:nvPr>
            <p:ph sz="half" idx="1"/>
          </p:nvPr>
        </p:nvSpPr>
        <p:spPr/>
        <p:txBody>
          <a:bodyPr>
            <a:normAutofit lnSpcReduction="10000"/>
          </a:bodyPr>
          <a:lstStyle/>
          <a:p>
            <a:pPr>
              <a:buFont typeface="Wingdings" panose="05000000000000000000" pitchFamily="2" charset="2"/>
              <a:buChar char="v"/>
            </a:pPr>
            <a:r>
              <a:rPr lang="en-GB" err="1">
                <a:solidFill>
                  <a:schemeClr val="bg1"/>
                </a:solidFill>
              </a:rPr>
              <a:t>Trong</a:t>
            </a:r>
            <a:r>
              <a:rPr lang="en-GB">
                <a:solidFill>
                  <a:schemeClr val="bg1"/>
                </a:solidFill>
              </a:rPr>
              <a:t> </a:t>
            </a:r>
            <a:r>
              <a:rPr lang="en-GB" err="1">
                <a:solidFill>
                  <a:schemeClr val="bg1"/>
                </a:solidFill>
              </a:rPr>
              <a:t>học</a:t>
            </a:r>
            <a:r>
              <a:rPr lang="en-GB">
                <a:solidFill>
                  <a:schemeClr val="bg1"/>
                </a:solidFill>
              </a:rPr>
              <a:t> </a:t>
            </a:r>
            <a:r>
              <a:rPr lang="en-GB" err="1">
                <a:solidFill>
                  <a:schemeClr val="bg1"/>
                </a:solidFill>
              </a:rPr>
              <a:t>tập</a:t>
            </a:r>
            <a:endParaRPr lang="en-GB">
              <a:solidFill>
                <a:schemeClr val="bg1"/>
              </a:solidFill>
            </a:endParaRPr>
          </a:p>
          <a:p>
            <a:r>
              <a:rPr lang="en-GB">
                <a:solidFill>
                  <a:schemeClr val="bg1"/>
                </a:solidFill>
              </a:rPr>
              <a:t> </a:t>
            </a:r>
            <a:r>
              <a:rPr lang="en-GB" err="1">
                <a:solidFill>
                  <a:schemeClr val="bg1"/>
                </a:solidFill>
              </a:rPr>
              <a:t>Tạo</a:t>
            </a:r>
            <a:r>
              <a:rPr lang="en-GB">
                <a:solidFill>
                  <a:schemeClr val="bg1"/>
                </a:solidFill>
              </a:rPr>
              <a:t> slide </a:t>
            </a:r>
            <a:r>
              <a:rPr lang="en-GB" err="1">
                <a:solidFill>
                  <a:schemeClr val="bg1"/>
                </a:solidFill>
              </a:rPr>
              <a:t>thuyết</a:t>
            </a:r>
            <a:r>
              <a:rPr lang="en-GB">
                <a:solidFill>
                  <a:schemeClr val="bg1"/>
                </a:solidFill>
              </a:rPr>
              <a:t> </a:t>
            </a:r>
            <a:r>
              <a:rPr lang="en-GB" err="1">
                <a:solidFill>
                  <a:schemeClr val="bg1"/>
                </a:solidFill>
              </a:rPr>
              <a:t>trình</a:t>
            </a:r>
            <a:r>
              <a:rPr lang="en-GB">
                <a:solidFill>
                  <a:schemeClr val="bg1"/>
                </a:solidFill>
              </a:rPr>
              <a:t> </a:t>
            </a:r>
            <a:r>
              <a:rPr lang="en-GB" err="1">
                <a:solidFill>
                  <a:schemeClr val="bg1"/>
                </a:solidFill>
              </a:rPr>
              <a:t>nhanh</a:t>
            </a:r>
            <a:r>
              <a:rPr lang="en-GB">
                <a:solidFill>
                  <a:schemeClr val="bg1"/>
                </a:solidFill>
              </a:rPr>
              <a:t> </a:t>
            </a:r>
            <a:r>
              <a:rPr lang="en-GB" err="1">
                <a:solidFill>
                  <a:schemeClr val="bg1"/>
                </a:solidFill>
              </a:rPr>
              <a:t>và</a:t>
            </a:r>
            <a:r>
              <a:rPr lang="en-GB">
                <a:solidFill>
                  <a:schemeClr val="bg1"/>
                </a:solidFill>
              </a:rPr>
              <a:t> </a:t>
            </a:r>
            <a:r>
              <a:rPr lang="en-GB" err="1">
                <a:solidFill>
                  <a:schemeClr val="bg1"/>
                </a:solidFill>
              </a:rPr>
              <a:t>đẹp</a:t>
            </a:r>
            <a:endParaRPr lang="en-GB">
              <a:solidFill>
                <a:schemeClr val="bg1"/>
              </a:solidFill>
            </a:endParaRPr>
          </a:p>
          <a:p>
            <a:r>
              <a:rPr lang="en-GB">
                <a:solidFill>
                  <a:schemeClr val="bg1"/>
                </a:solidFill>
              </a:rPr>
              <a:t> </a:t>
            </a:r>
            <a:r>
              <a:rPr lang="en-GB" err="1">
                <a:solidFill>
                  <a:schemeClr val="bg1"/>
                </a:solidFill>
              </a:rPr>
              <a:t>Hỗ</a:t>
            </a:r>
            <a:r>
              <a:rPr lang="en-GB">
                <a:solidFill>
                  <a:schemeClr val="bg1"/>
                </a:solidFill>
              </a:rPr>
              <a:t> </a:t>
            </a:r>
            <a:r>
              <a:rPr lang="en-GB" err="1">
                <a:solidFill>
                  <a:schemeClr val="bg1"/>
                </a:solidFill>
              </a:rPr>
              <a:t>trợ</a:t>
            </a:r>
            <a:r>
              <a:rPr lang="en-GB">
                <a:solidFill>
                  <a:schemeClr val="bg1"/>
                </a:solidFill>
              </a:rPr>
              <a:t> </a:t>
            </a:r>
            <a:r>
              <a:rPr lang="en-GB" err="1">
                <a:solidFill>
                  <a:schemeClr val="bg1"/>
                </a:solidFill>
              </a:rPr>
              <a:t>làm</a:t>
            </a:r>
            <a:r>
              <a:rPr lang="en-GB">
                <a:solidFill>
                  <a:schemeClr val="bg1"/>
                </a:solidFill>
              </a:rPr>
              <a:t> </a:t>
            </a:r>
            <a:r>
              <a:rPr lang="en-GB" err="1">
                <a:solidFill>
                  <a:schemeClr val="bg1"/>
                </a:solidFill>
              </a:rPr>
              <a:t>bài</a:t>
            </a:r>
            <a:r>
              <a:rPr lang="en-GB">
                <a:solidFill>
                  <a:schemeClr val="bg1"/>
                </a:solidFill>
              </a:rPr>
              <a:t> </a:t>
            </a:r>
            <a:r>
              <a:rPr lang="en-GB" err="1">
                <a:solidFill>
                  <a:schemeClr val="bg1"/>
                </a:solidFill>
              </a:rPr>
              <a:t>tập</a:t>
            </a:r>
            <a:r>
              <a:rPr lang="en-GB">
                <a:solidFill>
                  <a:schemeClr val="bg1"/>
                </a:solidFill>
              </a:rPr>
              <a:t> </a:t>
            </a:r>
            <a:r>
              <a:rPr lang="en-GB" err="1">
                <a:solidFill>
                  <a:schemeClr val="bg1"/>
                </a:solidFill>
              </a:rPr>
              <a:t>lớn</a:t>
            </a:r>
            <a:r>
              <a:rPr lang="en-GB">
                <a:solidFill>
                  <a:schemeClr val="bg1"/>
                </a:solidFill>
              </a:rPr>
              <a:t>, </a:t>
            </a:r>
            <a:r>
              <a:rPr lang="en-GB" err="1">
                <a:solidFill>
                  <a:schemeClr val="bg1"/>
                </a:solidFill>
              </a:rPr>
              <a:t>tiểu</a:t>
            </a:r>
            <a:r>
              <a:rPr lang="en-GB">
                <a:solidFill>
                  <a:schemeClr val="bg1"/>
                </a:solidFill>
              </a:rPr>
              <a:t> </a:t>
            </a:r>
            <a:r>
              <a:rPr lang="en-GB" err="1">
                <a:solidFill>
                  <a:schemeClr val="bg1"/>
                </a:solidFill>
              </a:rPr>
              <a:t>luận</a:t>
            </a:r>
            <a:r>
              <a:rPr lang="en-GB">
                <a:solidFill>
                  <a:schemeClr val="bg1"/>
                </a:solidFill>
              </a:rPr>
              <a:t>, </a:t>
            </a:r>
            <a:r>
              <a:rPr lang="en-GB" err="1">
                <a:solidFill>
                  <a:schemeClr val="bg1"/>
                </a:solidFill>
              </a:rPr>
              <a:t>báo</a:t>
            </a:r>
            <a:r>
              <a:rPr lang="en-GB">
                <a:solidFill>
                  <a:schemeClr val="bg1"/>
                </a:solidFill>
              </a:rPr>
              <a:t> </a:t>
            </a:r>
            <a:r>
              <a:rPr lang="en-GB" err="1">
                <a:solidFill>
                  <a:schemeClr val="bg1"/>
                </a:solidFill>
              </a:rPr>
              <a:t>cáo</a:t>
            </a:r>
            <a:endParaRPr lang="en-GB">
              <a:solidFill>
                <a:schemeClr val="bg1"/>
              </a:solidFill>
            </a:endParaRPr>
          </a:p>
          <a:p>
            <a:r>
              <a:rPr lang="en-GB">
                <a:solidFill>
                  <a:schemeClr val="bg1"/>
                </a:solidFill>
              </a:rPr>
              <a:t> </a:t>
            </a:r>
            <a:r>
              <a:rPr lang="en-GB" err="1">
                <a:solidFill>
                  <a:schemeClr val="bg1"/>
                </a:solidFill>
              </a:rPr>
              <a:t>Tạo</a:t>
            </a:r>
            <a:r>
              <a:rPr lang="en-GB">
                <a:solidFill>
                  <a:schemeClr val="bg1"/>
                </a:solidFill>
              </a:rPr>
              <a:t> infographic, poster </a:t>
            </a:r>
            <a:r>
              <a:rPr lang="en-GB" err="1">
                <a:solidFill>
                  <a:schemeClr val="bg1"/>
                </a:solidFill>
              </a:rPr>
              <a:t>học</a:t>
            </a:r>
            <a:r>
              <a:rPr lang="en-GB">
                <a:solidFill>
                  <a:schemeClr val="bg1"/>
                </a:solidFill>
              </a:rPr>
              <a:t> </a:t>
            </a:r>
            <a:r>
              <a:rPr lang="en-GB" err="1">
                <a:solidFill>
                  <a:schemeClr val="bg1"/>
                </a:solidFill>
              </a:rPr>
              <a:t>thuật</a:t>
            </a:r>
            <a:endParaRPr lang="en-GB">
              <a:solidFill>
                <a:schemeClr val="bg1"/>
              </a:solidFill>
            </a:endParaRPr>
          </a:p>
          <a:p>
            <a:r>
              <a:rPr lang="en-GB">
                <a:solidFill>
                  <a:schemeClr val="bg1"/>
                </a:solidFill>
              </a:rPr>
              <a:t> </a:t>
            </a:r>
            <a:r>
              <a:rPr lang="en-GB" err="1">
                <a:solidFill>
                  <a:schemeClr val="bg1"/>
                </a:solidFill>
              </a:rPr>
              <a:t>Hỗ</a:t>
            </a:r>
            <a:r>
              <a:rPr lang="en-GB">
                <a:solidFill>
                  <a:schemeClr val="bg1"/>
                </a:solidFill>
              </a:rPr>
              <a:t> </a:t>
            </a:r>
            <a:r>
              <a:rPr lang="en-GB" err="1">
                <a:solidFill>
                  <a:schemeClr val="bg1"/>
                </a:solidFill>
              </a:rPr>
              <a:t>trợ</a:t>
            </a:r>
            <a:r>
              <a:rPr lang="en-GB">
                <a:solidFill>
                  <a:schemeClr val="bg1"/>
                </a:solidFill>
              </a:rPr>
              <a:t> </a:t>
            </a:r>
            <a:r>
              <a:rPr lang="en-GB" err="1">
                <a:solidFill>
                  <a:schemeClr val="bg1"/>
                </a:solidFill>
              </a:rPr>
              <a:t>học</a:t>
            </a:r>
            <a:r>
              <a:rPr lang="en-GB">
                <a:solidFill>
                  <a:schemeClr val="bg1"/>
                </a:solidFill>
              </a:rPr>
              <a:t> </a:t>
            </a:r>
            <a:r>
              <a:rPr lang="en-GB" err="1">
                <a:solidFill>
                  <a:schemeClr val="bg1"/>
                </a:solidFill>
              </a:rPr>
              <a:t>nhóm</a:t>
            </a:r>
            <a:r>
              <a:rPr lang="en-GB">
                <a:solidFill>
                  <a:schemeClr val="bg1"/>
                </a:solidFill>
              </a:rPr>
              <a:t> &amp; </a:t>
            </a:r>
            <a:r>
              <a:rPr lang="en-GB" err="1">
                <a:solidFill>
                  <a:schemeClr val="bg1"/>
                </a:solidFill>
              </a:rPr>
              <a:t>làm</a:t>
            </a:r>
            <a:r>
              <a:rPr lang="en-GB">
                <a:solidFill>
                  <a:schemeClr val="bg1"/>
                </a:solidFill>
              </a:rPr>
              <a:t> </a:t>
            </a:r>
            <a:r>
              <a:rPr lang="en-GB" err="1">
                <a:solidFill>
                  <a:schemeClr val="bg1"/>
                </a:solidFill>
              </a:rPr>
              <a:t>dự</a:t>
            </a:r>
            <a:r>
              <a:rPr lang="en-GB">
                <a:solidFill>
                  <a:schemeClr val="bg1"/>
                </a:solidFill>
              </a:rPr>
              <a:t> </a:t>
            </a:r>
            <a:r>
              <a:rPr lang="en-GB" err="1">
                <a:solidFill>
                  <a:schemeClr val="bg1"/>
                </a:solidFill>
              </a:rPr>
              <a:t>án</a:t>
            </a:r>
            <a:endParaRPr lang="en-GB">
              <a:solidFill>
                <a:schemeClr val="bg1"/>
              </a:solidFill>
            </a:endParaRPr>
          </a:p>
          <a:p>
            <a:r>
              <a:rPr lang="en-GB">
                <a:solidFill>
                  <a:schemeClr val="bg1"/>
                </a:solidFill>
              </a:rPr>
              <a:t> </a:t>
            </a:r>
            <a:r>
              <a:rPr lang="en-GB" err="1">
                <a:solidFill>
                  <a:schemeClr val="bg1"/>
                </a:solidFill>
              </a:rPr>
              <a:t>Ghi</a:t>
            </a:r>
            <a:r>
              <a:rPr lang="en-GB">
                <a:solidFill>
                  <a:schemeClr val="bg1"/>
                </a:solidFill>
              </a:rPr>
              <a:t> </a:t>
            </a:r>
            <a:r>
              <a:rPr lang="en-GB" err="1">
                <a:solidFill>
                  <a:schemeClr val="bg1"/>
                </a:solidFill>
              </a:rPr>
              <a:t>chú</a:t>
            </a:r>
            <a:r>
              <a:rPr lang="en-GB">
                <a:solidFill>
                  <a:schemeClr val="bg1"/>
                </a:solidFill>
              </a:rPr>
              <a:t> </a:t>
            </a:r>
            <a:r>
              <a:rPr lang="en-GB" err="1">
                <a:solidFill>
                  <a:schemeClr val="bg1"/>
                </a:solidFill>
              </a:rPr>
              <a:t>và</a:t>
            </a:r>
            <a:r>
              <a:rPr lang="en-GB">
                <a:solidFill>
                  <a:schemeClr val="bg1"/>
                </a:solidFill>
              </a:rPr>
              <a:t> </a:t>
            </a:r>
            <a:r>
              <a:rPr lang="en-GB" err="1">
                <a:solidFill>
                  <a:schemeClr val="bg1"/>
                </a:solidFill>
              </a:rPr>
              <a:t>hệ</a:t>
            </a:r>
            <a:r>
              <a:rPr lang="en-GB">
                <a:solidFill>
                  <a:schemeClr val="bg1"/>
                </a:solidFill>
              </a:rPr>
              <a:t> </a:t>
            </a:r>
            <a:r>
              <a:rPr lang="en-GB" err="1">
                <a:solidFill>
                  <a:schemeClr val="bg1"/>
                </a:solidFill>
              </a:rPr>
              <a:t>thống</a:t>
            </a:r>
            <a:r>
              <a:rPr lang="en-GB">
                <a:solidFill>
                  <a:schemeClr val="bg1"/>
                </a:solidFill>
              </a:rPr>
              <a:t> </a:t>
            </a:r>
            <a:r>
              <a:rPr lang="en-GB" err="1">
                <a:solidFill>
                  <a:schemeClr val="bg1"/>
                </a:solidFill>
              </a:rPr>
              <a:t>hóa</a:t>
            </a:r>
            <a:r>
              <a:rPr lang="en-GB">
                <a:solidFill>
                  <a:schemeClr val="bg1"/>
                </a:solidFill>
              </a:rPr>
              <a:t> </a:t>
            </a:r>
            <a:r>
              <a:rPr lang="en-GB" err="1">
                <a:solidFill>
                  <a:schemeClr val="bg1"/>
                </a:solidFill>
              </a:rPr>
              <a:t>kiến</a:t>
            </a:r>
            <a:r>
              <a:rPr lang="en-GB">
                <a:solidFill>
                  <a:schemeClr val="bg1"/>
                </a:solidFill>
              </a:rPr>
              <a:t> </a:t>
            </a:r>
            <a:r>
              <a:rPr lang="en-GB" err="1">
                <a:solidFill>
                  <a:schemeClr val="bg1"/>
                </a:solidFill>
              </a:rPr>
              <a:t>thức</a:t>
            </a:r>
            <a:endParaRPr lang="en-GB">
              <a:solidFill>
                <a:schemeClr val="bg1"/>
              </a:solidFill>
            </a:endParaRPr>
          </a:p>
        </p:txBody>
      </p:sp>
      <p:sp>
        <p:nvSpPr>
          <p:cNvPr id="4" name="Content Placeholder 3">
            <a:extLst>
              <a:ext uri="{FF2B5EF4-FFF2-40B4-BE49-F238E27FC236}">
                <a16:creationId xmlns:a16="http://schemas.microsoft.com/office/drawing/2014/main" id="{54586B21-50B2-4478-9AB5-7834A520F3FE}"/>
              </a:ext>
            </a:extLst>
          </p:cNvPr>
          <p:cNvSpPr>
            <a:spLocks noGrp="1"/>
          </p:cNvSpPr>
          <p:nvPr>
            <p:ph sz="half" idx="2"/>
          </p:nvPr>
        </p:nvSpPr>
        <p:spPr/>
        <p:txBody>
          <a:bodyPr>
            <a:normAutofit lnSpcReduction="10000"/>
          </a:bodyPr>
          <a:lstStyle/>
          <a:p>
            <a:pPr>
              <a:buFont typeface="Wingdings" panose="05000000000000000000" pitchFamily="2" charset="2"/>
              <a:buChar char="v"/>
            </a:pPr>
            <a:r>
              <a:rPr lang="vi-VN" b="0" i="0">
                <a:solidFill>
                  <a:schemeClr val="bg1"/>
                </a:solidFill>
                <a:effectLst/>
                <a:latin typeface="SegoeuiPc"/>
              </a:rPr>
              <a:t>Trong công việc </a:t>
            </a:r>
          </a:p>
          <a:p>
            <a:r>
              <a:rPr lang="vi-VN" i="0">
                <a:solidFill>
                  <a:schemeClr val="bg1"/>
                </a:solidFill>
                <a:effectLst/>
                <a:latin typeface="SegoeuiPc"/>
              </a:rPr>
              <a:t> </a:t>
            </a:r>
            <a:r>
              <a:rPr lang="vi-VN" sz="2100" i="0">
                <a:solidFill>
                  <a:schemeClr val="bg1"/>
                </a:solidFill>
                <a:effectLst/>
                <a:latin typeface="SegoeuiPc"/>
              </a:rPr>
              <a:t>Tạo báo cáo, proposal, kế hoạch công việc </a:t>
            </a:r>
          </a:p>
          <a:p>
            <a:r>
              <a:rPr lang="vi-VN" sz="2100" i="0">
                <a:solidFill>
                  <a:schemeClr val="bg1"/>
                </a:solidFill>
                <a:effectLst/>
                <a:latin typeface="SegoeuiPc"/>
              </a:rPr>
              <a:t> Thiết kế pitch deck, slide bán hàng </a:t>
            </a:r>
          </a:p>
          <a:p>
            <a:r>
              <a:rPr lang="vi-VN" sz="2100" i="0">
                <a:solidFill>
                  <a:schemeClr val="bg1"/>
                </a:solidFill>
                <a:effectLst/>
                <a:latin typeface="SegoeuiPc"/>
              </a:rPr>
              <a:t> Xây dựng tài liệu đào tạo nội bộ </a:t>
            </a:r>
          </a:p>
          <a:p>
            <a:r>
              <a:rPr lang="vi-VN" sz="2100" i="0">
                <a:solidFill>
                  <a:schemeClr val="bg1"/>
                </a:solidFill>
                <a:effectLst/>
                <a:latin typeface="SegoeuiPc"/>
              </a:rPr>
              <a:t>Tạo website đơn giản, trang giới thiệu </a:t>
            </a:r>
          </a:p>
          <a:p>
            <a:r>
              <a:rPr lang="vi-VN" sz="2100" i="0">
                <a:solidFill>
                  <a:schemeClr val="bg1"/>
                </a:solidFill>
                <a:effectLst/>
                <a:latin typeface="SegoeuiPc"/>
              </a:rPr>
              <a:t>Tối ưu thời gian và tăng năng suất </a:t>
            </a:r>
          </a:p>
          <a:p>
            <a:r>
              <a:rPr lang="vi-VN" sz="2100" i="0">
                <a:solidFill>
                  <a:schemeClr val="bg1"/>
                </a:solidFill>
                <a:effectLst/>
                <a:latin typeface="SegoeuiPc"/>
              </a:rPr>
              <a:t>Hỗ trợ làm việc nhóm &amp; chia sẻ tài liệu</a:t>
            </a:r>
            <a:endParaRPr lang="en-GB" sz="2100">
              <a:solidFill>
                <a:schemeClr val="bg1"/>
              </a:solidFill>
            </a:endParaRPr>
          </a:p>
        </p:txBody>
      </p:sp>
    </p:spTree>
    <p:extLst>
      <p:ext uri="{BB962C8B-B14F-4D97-AF65-F5344CB8AC3E}">
        <p14:creationId xmlns:p14="http://schemas.microsoft.com/office/powerpoint/2010/main" val="1295668788"/>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cstate="hq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D93D46-249B-4BC0-B8EC-17EC08D434A4}"/>
              </a:ext>
            </a:extLst>
          </p:cNvPr>
          <p:cNvSpPr>
            <a:spLocks noGrp="1"/>
          </p:cNvSpPr>
          <p:nvPr>
            <p:ph type="title"/>
          </p:nvPr>
        </p:nvSpPr>
        <p:spPr>
          <a:xfrm>
            <a:off x="614680" y="334645"/>
            <a:ext cx="10515600" cy="1325563"/>
          </a:xfrm>
        </p:spPr>
        <p:txBody>
          <a:bodyPr/>
          <a:lstStyle/>
          <a:p>
            <a:r>
              <a:rPr lang="en-AU" b="1" err="1">
                <a:solidFill>
                  <a:schemeClr val="bg1"/>
                </a:solidFill>
                <a:latin typeface=".VnBahamasB" panose="020BE200000000000000" pitchFamily="34" charset="0"/>
              </a:rPr>
              <a:t>III.Suno</a:t>
            </a:r>
            <a:r>
              <a:rPr lang="en-AU" b="1">
                <a:solidFill>
                  <a:schemeClr val="bg1"/>
                </a:solidFill>
                <a:latin typeface=".VnBahamasB" panose="020BE200000000000000" pitchFamily="34" charset="0"/>
              </a:rPr>
              <a:t> AI</a:t>
            </a:r>
            <a:endParaRPr lang="en-GB" b="1">
              <a:solidFill>
                <a:schemeClr val="bg1"/>
              </a:solidFill>
              <a:latin typeface=".VnBahamasB" panose="020BE200000000000000" pitchFamily="34" charset="0"/>
            </a:endParaRPr>
          </a:p>
        </p:txBody>
      </p:sp>
      <p:sp>
        <p:nvSpPr>
          <p:cNvPr id="3" name="Content Placeholder 2">
            <a:extLst>
              <a:ext uri="{FF2B5EF4-FFF2-40B4-BE49-F238E27FC236}">
                <a16:creationId xmlns:a16="http://schemas.microsoft.com/office/drawing/2014/main" id="{7946515B-F1EE-4813-B871-BC2887925493}"/>
              </a:ext>
            </a:extLst>
          </p:cNvPr>
          <p:cNvSpPr>
            <a:spLocks noGrp="1"/>
          </p:cNvSpPr>
          <p:nvPr>
            <p:ph sz="half" idx="1"/>
          </p:nvPr>
        </p:nvSpPr>
        <p:spPr/>
        <p:txBody>
          <a:bodyPr>
            <a:normAutofit fontScale="77500" lnSpcReduction="20000"/>
          </a:bodyPr>
          <a:lstStyle/>
          <a:p>
            <a:pPr marL="514350" indent="-514350">
              <a:buAutoNum type="arabicPeriod"/>
            </a:pPr>
            <a:r>
              <a:rPr lang="en-AU" err="1">
                <a:solidFill>
                  <a:schemeClr val="bg1"/>
                </a:solidFill>
              </a:rPr>
              <a:t>Khái</a:t>
            </a:r>
            <a:r>
              <a:rPr lang="en-AU">
                <a:solidFill>
                  <a:schemeClr val="bg1"/>
                </a:solidFill>
              </a:rPr>
              <a:t> </a:t>
            </a:r>
            <a:r>
              <a:rPr lang="en-AU" err="1">
                <a:solidFill>
                  <a:schemeClr val="bg1"/>
                </a:solidFill>
              </a:rPr>
              <a:t>niệm</a:t>
            </a:r>
            <a:endParaRPr lang="en-AU">
              <a:solidFill>
                <a:schemeClr val="bg1"/>
              </a:solidFill>
            </a:endParaRPr>
          </a:p>
          <a:p>
            <a:pPr>
              <a:buFont typeface="Wingdings" panose="05000000000000000000" pitchFamily="2" charset="2"/>
              <a:buChar char="v"/>
            </a:pPr>
            <a:r>
              <a:rPr lang="vi-VN" sz="2900" b="0" i="0">
                <a:solidFill>
                  <a:srgbClr val="DFE2E7"/>
                </a:solidFill>
                <a:effectLst/>
                <a:latin typeface="SegoeuiPc"/>
              </a:rPr>
              <a:t>Hỗ trợ sáng tác nhạc: Suno AI cho phép người dùng tạo ra các bài hát hoàn chỉnh, bao gồm giai điệu, lời bài hát và giọng ca sĩ chỉ từ một câu mô tả văn bản đơn giản. </a:t>
            </a:r>
            <a:endParaRPr lang="en-AU" sz="2900" b="0" i="0">
              <a:solidFill>
                <a:srgbClr val="DFE2E7"/>
              </a:solidFill>
              <a:effectLst/>
              <a:latin typeface="SegoeuiPc"/>
            </a:endParaRPr>
          </a:p>
          <a:p>
            <a:pPr>
              <a:buFont typeface="Wingdings" panose="05000000000000000000" pitchFamily="2" charset="2"/>
              <a:buChar char="v"/>
            </a:pPr>
            <a:r>
              <a:rPr lang="vi-VN" sz="2900" b="0" i="0">
                <a:solidFill>
                  <a:srgbClr val="DFE2E7"/>
                </a:solidFill>
                <a:effectLst/>
                <a:latin typeface="SegoeuiPc"/>
              </a:rPr>
              <a:t> Ra mắt và phát triển: Suno AI đã được giới thiệu vào cuối năm 2023 và nhanh chóng trở thành một trong những công cụ nổi bật trong ngành công nghiệp âm nhạc, nhờ vào tính năng tích hợp với Microsoft Copilot, giúp người dùng dễ dàng sáng tác nhạc. </a:t>
            </a:r>
            <a:br>
              <a:rPr lang="vi-VN" sz="2900"/>
            </a:br>
            <a:endParaRPr lang="en-GB" sz="2900">
              <a:solidFill>
                <a:schemeClr val="bg1"/>
              </a:solidFill>
            </a:endParaRPr>
          </a:p>
        </p:txBody>
      </p:sp>
      <p:sp>
        <p:nvSpPr>
          <p:cNvPr id="4" name="Content Placeholder 3">
            <a:extLst>
              <a:ext uri="{FF2B5EF4-FFF2-40B4-BE49-F238E27FC236}">
                <a16:creationId xmlns:a16="http://schemas.microsoft.com/office/drawing/2014/main" id="{6D5EA1D2-15CD-4EE4-9087-63D268538964}"/>
              </a:ext>
            </a:extLst>
          </p:cNvPr>
          <p:cNvSpPr>
            <a:spLocks noGrp="1"/>
          </p:cNvSpPr>
          <p:nvPr>
            <p:ph sz="half" idx="2"/>
          </p:nvPr>
        </p:nvSpPr>
        <p:spPr>
          <a:xfrm>
            <a:off x="6395720" y="596265"/>
            <a:ext cx="5867400" cy="5927090"/>
          </a:xfrm>
        </p:spPr>
        <p:txBody>
          <a:bodyPr>
            <a:normAutofit fontScale="77500" lnSpcReduction="20000"/>
          </a:bodyPr>
          <a:lstStyle/>
          <a:p>
            <a:pPr marL="0" indent="0">
              <a:buNone/>
            </a:pPr>
            <a:r>
              <a:rPr lang="en-AU">
                <a:solidFill>
                  <a:schemeClr val="bg1"/>
                </a:solidFill>
              </a:rPr>
              <a:t>2.</a:t>
            </a:r>
            <a:r>
              <a:rPr lang="en-GB" b="0" i="0">
                <a:solidFill>
                  <a:schemeClr val="bg1"/>
                </a:solidFill>
                <a:effectLst/>
                <a:latin typeface="SegoeuiPc"/>
              </a:rPr>
              <a:t> </a:t>
            </a:r>
            <a:r>
              <a:rPr lang="en-GB" b="0" i="0" err="1">
                <a:solidFill>
                  <a:schemeClr val="bg1"/>
                </a:solidFill>
                <a:effectLst/>
                <a:latin typeface="SegoeuiPc"/>
              </a:rPr>
              <a:t>Các</a:t>
            </a:r>
            <a:r>
              <a:rPr lang="en-GB" b="0" i="0">
                <a:solidFill>
                  <a:schemeClr val="bg1"/>
                </a:solidFill>
                <a:effectLst/>
                <a:latin typeface="SegoeuiPc"/>
              </a:rPr>
              <a:t> </a:t>
            </a:r>
            <a:r>
              <a:rPr lang="en-GB" b="0" i="0" err="1">
                <a:solidFill>
                  <a:schemeClr val="bg1"/>
                </a:solidFill>
                <a:effectLst/>
                <a:latin typeface="SegoeuiPc"/>
              </a:rPr>
              <a:t>Tính</a:t>
            </a:r>
            <a:r>
              <a:rPr lang="en-GB" b="0" i="0">
                <a:solidFill>
                  <a:schemeClr val="bg1"/>
                </a:solidFill>
                <a:effectLst/>
                <a:latin typeface="SegoeuiPc"/>
              </a:rPr>
              <a:t> </a:t>
            </a:r>
            <a:r>
              <a:rPr lang="en-GB" b="0" i="0" err="1">
                <a:solidFill>
                  <a:schemeClr val="bg1"/>
                </a:solidFill>
                <a:effectLst/>
                <a:latin typeface="SegoeuiPc"/>
              </a:rPr>
              <a:t>Năng</a:t>
            </a:r>
            <a:r>
              <a:rPr lang="en-GB" b="0" i="0">
                <a:solidFill>
                  <a:schemeClr val="bg1"/>
                </a:solidFill>
                <a:effectLst/>
                <a:latin typeface="SegoeuiPc"/>
              </a:rPr>
              <a:t> </a:t>
            </a:r>
            <a:r>
              <a:rPr lang="en-GB" b="0" i="0" err="1">
                <a:solidFill>
                  <a:schemeClr val="bg1"/>
                </a:solidFill>
                <a:effectLst/>
                <a:latin typeface="SegoeuiPc"/>
              </a:rPr>
              <a:t>Nổi</a:t>
            </a:r>
            <a:r>
              <a:rPr lang="en-GB" b="0" i="0">
                <a:solidFill>
                  <a:schemeClr val="bg1"/>
                </a:solidFill>
                <a:effectLst/>
                <a:latin typeface="SegoeuiPc"/>
              </a:rPr>
              <a:t> </a:t>
            </a:r>
            <a:r>
              <a:rPr lang="en-GB" b="0" i="0" err="1">
                <a:solidFill>
                  <a:schemeClr val="bg1"/>
                </a:solidFill>
                <a:effectLst/>
                <a:latin typeface="SegoeuiPc"/>
              </a:rPr>
              <a:t>Bật</a:t>
            </a:r>
            <a:r>
              <a:rPr lang="en-GB" b="0" i="0">
                <a:solidFill>
                  <a:schemeClr val="bg1"/>
                </a:solidFill>
                <a:effectLst/>
                <a:latin typeface="SegoeuiPc"/>
              </a:rPr>
              <a:t> </a:t>
            </a:r>
            <a:r>
              <a:rPr lang="en-GB" b="0" i="0" err="1">
                <a:solidFill>
                  <a:schemeClr val="bg1"/>
                </a:solidFill>
                <a:effectLst/>
                <a:latin typeface="SegoeuiPc"/>
              </a:rPr>
              <a:t>của</a:t>
            </a:r>
            <a:r>
              <a:rPr lang="en-GB" b="0" i="0">
                <a:solidFill>
                  <a:schemeClr val="bg1"/>
                </a:solidFill>
                <a:effectLst/>
                <a:latin typeface="SegoeuiPc"/>
              </a:rPr>
              <a:t> </a:t>
            </a:r>
            <a:r>
              <a:rPr lang="en-GB" b="0" i="0" err="1">
                <a:solidFill>
                  <a:schemeClr val="bg1"/>
                </a:solidFill>
                <a:effectLst/>
                <a:latin typeface="SegoeuiPc"/>
              </a:rPr>
              <a:t>Suno</a:t>
            </a:r>
            <a:r>
              <a:rPr lang="en-GB" b="0" i="0">
                <a:solidFill>
                  <a:schemeClr val="bg1"/>
                </a:solidFill>
                <a:effectLst/>
                <a:latin typeface="SegoeuiPc"/>
              </a:rPr>
              <a:t> AI</a:t>
            </a:r>
          </a:p>
          <a:p>
            <a:pPr>
              <a:buFont typeface="Wingdings" panose="05000000000000000000" pitchFamily="2" charset="2"/>
              <a:buChar char="q"/>
            </a:pPr>
            <a:r>
              <a:rPr lang="vi-VN" sz="2300">
                <a:solidFill>
                  <a:schemeClr val="bg1"/>
                </a:solidFill>
              </a:rPr>
              <a:t> Sáng tác bài hát từ nội dung văn bản (Text-to-Music): Tính năng cốt lõi, cho phép biến mô tả văn bản thành giai điệu, hợp âm và lời bài hát hoàn chỉnh.</a:t>
            </a:r>
          </a:p>
          <a:p>
            <a:pPr>
              <a:buFont typeface="Wingdings" panose="05000000000000000000" pitchFamily="2" charset="2"/>
              <a:buChar char="q"/>
            </a:pPr>
            <a:r>
              <a:rPr lang="vi-VN" sz="2300">
                <a:solidFill>
                  <a:schemeClr val="bg1"/>
                </a:solidFill>
              </a:rPr>
              <a:t>  Đa dạng thể loại âm nhạc: Có thể tạo nhạc thuộc nhiều thể loại khác nhau như Pop, Rock, Ballad, Hip-hop, EDM, Jazz, Cổ điển.</a:t>
            </a:r>
          </a:p>
          <a:p>
            <a:pPr>
              <a:buFont typeface="Wingdings" panose="05000000000000000000" pitchFamily="2" charset="2"/>
              <a:buChar char="q"/>
            </a:pPr>
            <a:r>
              <a:rPr lang="vi-VN" sz="2300">
                <a:solidFill>
                  <a:schemeClr val="bg1"/>
                </a:solidFill>
              </a:rPr>
              <a:t> Hỗ trợ viết lời bài hát: Có thể tự động sáng tác lời hoặc giúp tìm ý tưởng/vần điệu cho lời bài hát.</a:t>
            </a:r>
          </a:p>
          <a:p>
            <a:pPr>
              <a:buFont typeface="Wingdings" panose="05000000000000000000" pitchFamily="2" charset="2"/>
              <a:buChar char="q"/>
            </a:pPr>
            <a:r>
              <a:rPr lang="vi-VN" sz="2300">
                <a:solidFill>
                  <a:schemeClr val="bg1"/>
                </a:solidFill>
              </a:rPr>
              <a:t>  Giọng hát AI: Tạo ra giọng hát giống con người (tính năng này có thể yêu cầu tài khoản trả phí).</a:t>
            </a:r>
          </a:p>
          <a:p>
            <a:pPr>
              <a:buFont typeface="Wingdings" panose="05000000000000000000" pitchFamily="2" charset="2"/>
              <a:buChar char="q"/>
            </a:pPr>
            <a:r>
              <a:rPr lang="vi-VN" sz="2300">
                <a:solidFill>
                  <a:schemeClr val="bg1"/>
                </a:solidFill>
              </a:rPr>
              <a:t>  Tạo nhạc nền (Instrumental): Cho phép tạo nhạc không lời.</a:t>
            </a:r>
          </a:p>
          <a:p>
            <a:pPr>
              <a:buFont typeface="Wingdings" panose="05000000000000000000" pitchFamily="2" charset="2"/>
              <a:buChar char="q"/>
            </a:pPr>
            <a:r>
              <a:rPr lang="vi-VN" sz="2300">
                <a:solidFill>
                  <a:schemeClr val="bg1"/>
                </a:solidFill>
              </a:rPr>
              <a:t> Hỗ trợ đa ngôn ngữ: Hỗ trợ sáng tác bằng hơn 50 ngôn ngữ, bao gồm cả tiếng Việt.</a:t>
            </a:r>
          </a:p>
          <a:p>
            <a:pPr>
              <a:buFont typeface="Wingdings" panose="05000000000000000000" pitchFamily="2" charset="2"/>
              <a:buChar char="q"/>
            </a:pPr>
            <a:r>
              <a:rPr lang="vi-VN" sz="2300">
                <a:solidFill>
                  <a:schemeClr val="bg1"/>
                </a:solidFill>
              </a:rPr>
              <a:t> Tùy chỉnh nâng cao (Custom Mode): Cho phép người dùng nhập lời bài hát của riêng mình và sử dụng metatags (ví dụ: [verse], [chorus]) để cấu trúc bài hát.</a:t>
            </a:r>
          </a:p>
          <a:p>
            <a:pPr>
              <a:buFont typeface="Wingdings" panose="05000000000000000000" pitchFamily="2" charset="2"/>
              <a:buChar char="q"/>
            </a:pPr>
            <a:r>
              <a:rPr lang="vi-VN" sz="2300">
                <a:solidFill>
                  <a:schemeClr val="bg1"/>
                </a:solidFill>
              </a:rPr>
              <a:t> Mở rộng bài hát: Tính năng “Extend” cho phép kéo dài bài hát đã tạo.</a:t>
            </a:r>
            <a:endParaRPr lang="en-GB" sz="2300">
              <a:solidFill>
                <a:schemeClr val="bg1"/>
              </a:solidFill>
            </a:endParaRPr>
          </a:p>
        </p:txBody>
      </p:sp>
    </p:spTree>
    <p:extLst>
      <p:ext uri="{BB962C8B-B14F-4D97-AF65-F5344CB8AC3E}">
        <p14:creationId xmlns:p14="http://schemas.microsoft.com/office/powerpoint/2010/main" val="396291066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cstate="hq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9D0306F-10B2-4F3A-A4CA-AFDAA7E90D30}"/>
              </a:ext>
            </a:extLst>
          </p:cNvPr>
          <p:cNvSpPr>
            <a:spLocks noGrp="1"/>
          </p:cNvSpPr>
          <p:nvPr>
            <p:ph sz="half" idx="1"/>
          </p:nvPr>
        </p:nvSpPr>
        <p:spPr>
          <a:xfrm>
            <a:off x="421640" y="1043305"/>
            <a:ext cx="5674360" cy="4351338"/>
          </a:xfrm>
        </p:spPr>
        <p:txBody>
          <a:bodyPr>
            <a:normAutofit fontScale="70000" lnSpcReduction="20000"/>
          </a:bodyPr>
          <a:lstStyle/>
          <a:p>
            <a:pPr marL="0" indent="0">
              <a:buNone/>
            </a:pPr>
            <a:r>
              <a:rPr lang="en-AU" sz="4000">
                <a:solidFill>
                  <a:schemeClr val="bg2"/>
                </a:solidFill>
              </a:rPr>
              <a:t>3. </a:t>
            </a:r>
            <a:r>
              <a:rPr lang="en-AU" sz="4000" err="1">
                <a:solidFill>
                  <a:schemeClr val="bg2"/>
                </a:solidFill>
              </a:rPr>
              <a:t>Ưu</a:t>
            </a:r>
            <a:r>
              <a:rPr lang="en-AU" sz="4000">
                <a:solidFill>
                  <a:schemeClr val="bg2"/>
                </a:solidFill>
              </a:rPr>
              <a:t> </a:t>
            </a:r>
            <a:r>
              <a:rPr lang="en-AU" sz="4000" err="1">
                <a:solidFill>
                  <a:schemeClr val="bg2"/>
                </a:solidFill>
              </a:rPr>
              <a:t>điểm</a:t>
            </a:r>
            <a:r>
              <a:rPr lang="en-AU" sz="4000">
                <a:solidFill>
                  <a:schemeClr val="bg2"/>
                </a:solidFill>
              </a:rPr>
              <a:t> </a:t>
            </a:r>
          </a:p>
          <a:p>
            <a:pPr>
              <a:buFont typeface="Wingdings" panose="05000000000000000000" pitchFamily="2" charset="2"/>
              <a:buChar char="ü"/>
            </a:pPr>
            <a:r>
              <a:rPr lang="vi-VN" b="0" i="0">
                <a:solidFill>
                  <a:schemeClr val="bg2"/>
                </a:solidFill>
                <a:effectLst/>
                <a:latin typeface="SegoeuiPc"/>
              </a:rPr>
              <a:t>Tạo nhạc nhanh chóng: Được ví như “ChatGPT trong lĩnh vực tạo âm nhạc”, tốc độ tạo ra các bản nhạc rất nhanh.</a:t>
            </a:r>
            <a:endParaRPr lang="en-AU" b="0" i="0">
              <a:solidFill>
                <a:schemeClr val="bg2"/>
              </a:solidFill>
              <a:effectLst/>
              <a:latin typeface="SegoeuiPc"/>
            </a:endParaRPr>
          </a:p>
          <a:p>
            <a:pPr>
              <a:buFont typeface="Wingdings" panose="05000000000000000000" pitchFamily="2" charset="2"/>
              <a:buChar char="ü"/>
            </a:pPr>
            <a:r>
              <a:rPr lang="vi-VN" b="0" i="0">
                <a:solidFill>
                  <a:schemeClr val="bg2"/>
                </a:solidFill>
                <a:effectLst/>
                <a:latin typeface="SegoeuiPc"/>
              </a:rPr>
              <a:t> </a:t>
            </a:r>
            <a:r>
              <a:rPr lang="en-AU" b="0" i="0">
                <a:solidFill>
                  <a:schemeClr val="bg2"/>
                </a:solidFill>
                <a:effectLst/>
                <a:latin typeface="SegoeuiPc"/>
              </a:rPr>
              <a:t>D</a:t>
            </a:r>
            <a:r>
              <a:rPr lang="vi-VN" b="0" i="0">
                <a:solidFill>
                  <a:schemeClr val="bg2"/>
                </a:solidFill>
                <a:effectLst/>
                <a:latin typeface="SegoeuiPc"/>
              </a:rPr>
              <a:t>ễ sử dụng: Giao diện được thiết kế khoa học, thân thiện, phù hợp cho cả người mới bắt đầu mà không cần kiến thức âm nhạc chuyên sâu. </a:t>
            </a:r>
            <a:endParaRPr lang="en-AU" b="0" i="0">
              <a:solidFill>
                <a:schemeClr val="bg2"/>
              </a:solidFill>
              <a:effectLst/>
              <a:latin typeface="SegoeuiPc"/>
            </a:endParaRPr>
          </a:p>
          <a:p>
            <a:pPr>
              <a:buFont typeface="Wingdings" panose="05000000000000000000" pitchFamily="2" charset="2"/>
              <a:buChar char="ü"/>
            </a:pPr>
            <a:r>
              <a:rPr lang="vi-VN" b="0" i="0">
                <a:solidFill>
                  <a:schemeClr val="bg2"/>
                </a:solidFill>
                <a:effectLst/>
                <a:latin typeface="SegoeuiPc"/>
              </a:rPr>
              <a:t> Đa chức năng: Có thể tạo lời, nhạc nền, giọng hát, tiêu đề và cả hình minh họa. </a:t>
            </a:r>
            <a:endParaRPr lang="en-AU">
              <a:solidFill>
                <a:schemeClr val="bg2"/>
              </a:solidFill>
              <a:latin typeface="SegoeuiPc"/>
            </a:endParaRPr>
          </a:p>
          <a:p>
            <a:pPr>
              <a:buFont typeface="Wingdings" panose="05000000000000000000" pitchFamily="2" charset="2"/>
              <a:buChar char="ü"/>
            </a:pPr>
            <a:r>
              <a:rPr lang="vi-VN" b="0" i="0">
                <a:solidFill>
                  <a:schemeClr val="bg2"/>
                </a:solidFill>
                <a:effectLst/>
                <a:latin typeface="SegoeuiPc"/>
              </a:rPr>
              <a:t>Gói miễn phí hấp dẫn: Cung cấp lượt sử dụng miễn phí hàng ngày để người dùng thử nghiệm. </a:t>
            </a:r>
            <a:endParaRPr lang="en-AU" b="0" i="0">
              <a:solidFill>
                <a:schemeClr val="bg2"/>
              </a:solidFill>
              <a:effectLst/>
              <a:latin typeface="SegoeuiPc"/>
            </a:endParaRPr>
          </a:p>
          <a:p>
            <a:pPr>
              <a:buFont typeface="Wingdings" panose="05000000000000000000" pitchFamily="2" charset="2"/>
              <a:buChar char="ü"/>
            </a:pPr>
            <a:r>
              <a:rPr lang="vi-VN" b="0" i="0">
                <a:solidFill>
                  <a:schemeClr val="bg2"/>
                </a:solidFill>
                <a:effectLst/>
                <a:latin typeface="SegoeuiPc"/>
              </a:rPr>
              <a:t> Độ chính xác cao: Các bài hát tạo ra có độ tương thích cao với đoạn mô tả (prompt). </a:t>
            </a:r>
            <a:br>
              <a:rPr lang="vi-VN">
                <a:solidFill>
                  <a:schemeClr val="bg2"/>
                </a:solidFill>
              </a:rPr>
            </a:br>
            <a:endParaRPr lang="en-GB">
              <a:solidFill>
                <a:schemeClr val="bg2"/>
              </a:solidFill>
            </a:endParaRPr>
          </a:p>
        </p:txBody>
      </p:sp>
      <p:sp>
        <p:nvSpPr>
          <p:cNvPr id="4" name="Content Placeholder 3">
            <a:extLst>
              <a:ext uri="{FF2B5EF4-FFF2-40B4-BE49-F238E27FC236}">
                <a16:creationId xmlns:a16="http://schemas.microsoft.com/office/drawing/2014/main" id="{34BFC298-303F-450C-A251-5B94A2568D70}"/>
              </a:ext>
            </a:extLst>
          </p:cNvPr>
          <p:cNvSpPr>
            <a:spLocks noGrp="1"/>
          </p:cNvSpPr>
          <p:nvPr>
            <p:ph sz="half" idx="2"/>
          </p:nvPr>
        </p:nvSpPr>
        <p:spPr>
          <a:xfrm>
            <a:off x="6273800" y="1043304"/>
            <a:ext cx="5826760" cy="4991735"/>
          </a:xfrm>
        </p:spPr>
        <p:txBody>
          <a:bodyPr>
            <a:normAutofit fontScale="70000" lnSpcReduction="20000"/>
          </a:bodyPr>
          <a:lstStyle/>
          <a:p>
            <a:pPr marL="0" indent="0">
              <a:buNone/>
            </a:pPr>
            <a:r>
              <a:rPr lang="en-AU" sz="3600">
                <a:solidFill>
                  <a:schemeClr val="bg2"/>
                </a:solidFill>
              </a:rPr>
              <a:t>4. </a:t>
            </a:r>
            <a:r>
              <a:rPr lang="en-AU" sz="3600" err="1">
                <a:solidFill>
                  <a:schemeClr val="bg2"/>
                </a:solidFill>
              </a:rPr>
              <a:t>Hạn</a:t>
            </a:r>
            <a:r>
              <a:rPr lang="en-AU" sz="3600">
                <a:solidFill>
                  <a:schemeClr val="bg2"/>
                </a:solidFill>
              </a:rPr>
              <a:t> </a:t>
            </a:r>
            <a:r>
              <a:rPr lang="en-AU" sz="3600" err="1">
                <a:solidFill>
                  <a:schemeClr val="bg2"/>
                </a:solidFill>
              </a:rPr>
              <a:t>chế</a:t>
            </a:r>
            <a:endParaRPr lang="en-AU" sz="3600">
              <a:solidFill>
                <a:schemeClr val="bg2"/>
              </a:solidFill>
            </a:endParaRPr>
          </a:p>
          <a:p>
            <a:pPr>
              <a:buFont typeface="Wingdings" panose="05000000000000000000" pitchFamily="2" charset="2"/>
              <a:buChar char="Ø"/>
            </a:pPr>
            <a:r>
              <a:rPr lang="vi-VN" sz="2900" b="0" i="0">
                <a:solidFill>
                  <a:schemeClr val="bg2"/>
                </a:solidFill>
                <a:effectLst/>
                <a:latin typeface="SegoeuiPc"/>
              </a:rPr>
              <a:t>Thời lượng bài hát ngắn: Phiên bản miễn phí thường chỉ tạo được các bài hát kéo dài từ 30 giây đến 1 phút, tài khoản trả phí tối đa là 2 phút.</a:t>
            </a:r>
            <a:endParaRPr lang="en-AU" sz="2900" b="0" i="0">
              <a:solidFill>
                <a:schemeClr val="bg2"/>
              </a:solidFill>
              <a:effectLst/>
              <a:latin typeface="SegoeuiPc"/>
            </a:endParaRPr>
          </a:p>
          <a:p>
            <a:pPr>
              <a:buFont typeface="Wingdings" panose="05000000000000000000" pitchFamily="2" charset="2"/>
              <a:buChar char="Ø"/>
            </a:pPr>
            <a:r>
              <a:rPr lang="vi-VN" sz="2900" b="0" i="0">
                <a:solidFill>
                  <a:schemeClr val="bg2"/>
                </a:solidFill>
                <a:effectLst/>
                <a:latin typeface="SegoeuiPc"/>
              </a:rPr>
              <a:t>  Khả năng tùy chỉnh hạn chế: Khó can thiệp sâu vào cấu trúc hoặc tùy chỉnh ngoài việc thay đổi lời và phong cách âm nhạc cơ bản (đặc biệt ở chế độ đơn giản). </a:t>
            </a:r>
            <a:endParaRPr lang="en-AU" sz="2900" b="0" i="0">
              <a:solidFill>
                <a:schemeClr val="bg2"/>
              </a:solidFill>
              <a:effectLst/>
              <a:latin typeface="SegoeuiPc"/>
            </a:endParaRPr>
          </a:p>
          <a:p>
            <a:pPr>
              <a:buFont typeface="Wingdings" panose="05000000000000000000" pitchFamily="2" charset="2"/>
              <a:buChar char="Ø"/>
            </a:pPr>
            <a:r>
              <a:rPr lang="vi-VN" sz="2900" b="0" i="0">
                <a:solidFill>
                  <a:schemeClr val="bg2"/>
                </a:solidFill>
                <a:effectLst/>
                <a:latin typeface="SegoeuiPc"/>
              </a:rPr>
              <a:t> Chất lượng giọng hát: Đôi khi giọng hát AI nghe thiếu tự nhiên, có thể bị lạm dụng auto-tune. •</a:t>
            </a:r>
            <a:endParaRPr lang="en-AU" sz="2900" b="0" i="0">
              <a:solidFill>
                <a:schemeClr val="bg2"/>
              </a:solidFill>
              <a:effectLst/>
              <a:latin typeface="SegoeuiPc"/>
            </a:endParaRPr>
          </a:p>
          <a:p>
            <a:pPr>
              <a:buFont typeface="Wingdings" panose="05000000000000000000" pitchFamily="2" charset="2"/>
              <a:buChar char="Ø"/>
            </a:pPr>
            <a:r>
              <a:rPr lang="vi-VN" sz="2900" b="0" i="0">
                <a:solidFill>
                  <a:schemeClr val="bg2"/>
                </a:solidFill>
                <a:effectLst/>
                <a:latin typeface="SegoeuiPc"/>
              </a:rPr>
              <a:t>Vấn đề bản quyền: Có nguy cơ âm nhạc tạo ra có điểm tương đồng với các nghệ sĩ nổi tiếng, tiềm ẩn rủi ro vi phạm bản quyền nếu sử dụng cho mục đích thương mại (cần tuân thủ điều khoản sử dụng).</a:t>
            </a:r>
            <a:endParaRPr lang="en-GB" sz="2900">
              <a:solidFill>
                <a:schemeClr val="bg2"/>
              </a:solidFill>
            </a:endParaRPr>
          </a:p>
        </p:txBody>
      </p:sp>
    </p:spTree>
    <p:extLst>
      <p:ext uri="{BB962C8B-B14F-4D97-AF65-F5344CB8AC3E}">
        <p14:creationId xmlns:p14="http://schemas.microsoft.com/office/powerpoint/2010/main" val="291702384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cstate="hqprint">
            <a:alphaModFix amt="84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A489D1C-B91B-4BC8-86CD-6C07119B3EB6}"/>
              </a:ext>
            </a:extLst>
          </p:cNvPr>
          <p:cNvSpPr>
            <a:spLocks noGrp="1"/>
          </p:cNvSpPr>
          <p:nvPr>
            <p:ph idx="1"/>
          </p:nvPr>
        </p:nvSpPr>
        <p:spPr>
          <a:xfrm>
            <a:off x="259080" y="545464"/>
            <a:ext cx="6294120" cy="5601335"/>
          </a:xfrm>
        </p:spPr>
        <p:txBody>
          <a:bodyPr>
            <a:normAutofit fontScale="85000" lnSpcReduction="10000"/>
          </a:bodyPr>
          <a:lstStyle/>
          <a:p>
            <a:pPr marL="0" indent="0">
              <a:buNone/>
            </a:pPr>
            <a:r>
              <a:rPr lang="en-AU" b="1">
                <a:solidFill>
                  <a:schemeClr val="bg2"/>
                </a:solidFill>
              </a:rPr>
              <a:t>5.</a:t>
            </a:r>
            <a:r>
              <a:rPr lang="vi-VN" b="1">
                <a:solidFill>
                  <a:schemeClr val="bg2"/>
                </a:solidFill>
              </a:rPr>
              <a:t> Ứng Dụng trong Học Tập và Công Việc </a:t>
            </a:r>
            <a:endParaRPr lang="en-AU" b="1">
              <a:solidFill>
                <a:schemeClr val="bg2"/>
              </a:solidFill>
            </a:endParaRPr>
          </a:p>
          <a:p>
            <a:pPr marL="0" indent="0">
              <a:buNone/>
            </a:pPr>
            <a:r>
              <a:rPr lang="vi-VN" sz="2600">
                <a:solidFill>
                  <a:schemeClr val="bg2"/>
                </a:solidFill>
              </a:rPr>
              <a:t>Suno AI có tiềm năng ứng dụng rộng rãi trong nhiều lĩnh vực, đặc biệt trong sáng tạo nội dung và giáo dục:</a:t>
            </a:r>
            <a:endParaRPr lang="en-AU" sz="2600">
              <a:solidFill>
                <a:schemeClr val="bg2"/>
              </a:solidFill>
            </a:endParaRPr>
          </a:p>
          <a:p>
            <a:pPr>
              <a:buFont typeface="Wingdings" panose="05000000000000000000" pitchFamily="2" charset="2"/>
              <a:buChar char="v"/>
            </a:pPr>
            <a:r>
              <a:rPr lang="vi-VN" sz="2600">
                <a:solidFill>
                  <a:schemeClr val="bg2"/>
                </a:solidFill>
              </a:rPr>
              <a:t>Sáng tạo nội dung và Marketing:</a:t>
            </a:r>
            <a:endParaRPr lang="en-AU" sz="2600">
              <a:solidFill>
                <a:schemeClr val="bg2"/>
              </a:solidFill>
            </a:endParaRPr>
          </a:p>
          <a:p>
            <a:pPr>
              <a:buFont typeface="Wingdings" panose="05000000000000000000" pitchFamily="2" charset="2"/>
              <a:buChar char="ü"/>
            </a:pPr>
            <a:r>
              <a:rPr lang="en-AU" sz="2600">
                <a:solidFill>
                  <a:schemeClr val="bg2"/>
                </a:solidFill>
              </a:rPr>
              <a:t>        </a:t>
            </a:r>
            <a:r>
              <a:rPr lang="vi-VN" sz="2600">
                <a:solidFill>
                  <a:schemeClr val="bg2"/>
                </a:solidFill>
              </a:rPr>
              <a:t>Tạo nhạc nền cho video quảng cáo, phim ngắn hoặc các dự án truyền thông một cách nhanh chóng và tiết kiệm chi phí  ￼ aifirst .</a:t>
            </a:r>
            <a:endParaRPr lang="en-AU" sz="2600">
              <a:solidFill>
                <a:schemeClr val="bg2"/>
              </a:solidFill>
            </a:endParaRPr>
          </a:p>
          <a:p>
            <a:pPr>
              <a:buFont typeface="Wingdings" panose="05000000000000000000" pitchFamily="2" charset="2"/>
              <a:buChar char="ü"/>
            </a:pPr>
            <a:r>
              <a:rPr lang="vi-VN" sz="2600">
                <a:solidFill>
                  <a:schemeClr val="bg2"/>
                </a:solidFill>
              </a:rPr>
              <a:t> </a:t>
            </a:r>
            <a:r>
              <a:rPr lang="en-AU" sz="2600">
                <a:solidFill>
                  <a:schemeClr val="bg2"/>
                </a:solidFill>
              </a:rPr>
              <a:t>    </a:t>
            </a:r>
            <a:r>
              <a:rPr lang="vi-VN" sz="2600">
                <a:solidFill>
                  <a:schemeClr val="bg2"/>
                </a:solidFill>
              </a:rPr>
              <a:t>Xây dựng thương hiệu âm thanh (sonic branding) độc quyền cho doanh nghiệp. </a:t>
            </a:r>
            <a:endParaRPr lang="en-AU" sz="2600">
              <a:solidFill>
                <a:schemeClr val="bg2"/>
              </a:solidFill>
            </a:endParaRPr>
          </a:p>
          <a:p>
            <a:pPr>
              <a:buFont typeface="Wingdings" panose="05000000000000000000" pitchFamily="2" charset="2"/>
              <a:buChar char="v"/>
            </a:pPr>
            <a:r>
              <a:rPr lang="vi-VN" sz="2600">
                <a:solidFill>
                  <a:schemeClr val="bg2"/>
                </a:solidFill>
              </a:rPr>
              <a:t>Học tập và Giảng dạy:</a:t>
            </a:r>
            <a:endParaRPr lang="en-AU" sz="2600">
              <a:solidFill>
                <a:schemeClr val="bg2"/>
              </a:solidFill>
            </a:endParaRPr>
          </a:p>
          <a:p>
            <a:pPr>
              <a:buFont typeface="Wingdings" panose="05000000000000000000" pitchFamily="2" charset="2"/>
              <a:buChar char="ü"/>
            </a:pPr>
            <a:r>
              <a:rPr lang="en-AU" sz="2600">
                <a:solidFill>
                  <a:schemeClr val="bg2"/>
                </a:solidFill>
              </a:rPr>
              <a:t>         </a:t>
            </a:r>
            <a:r>
              <a:rPr lang="vi-VN" sz="2600">
                <a:solidFill>
                  <a:schemeClr val="bg2"/>
                </a:solidFill>
              </a:rPr>
              <a:t> Giáo viên có thể tạo nhạc đệm sinh động cho bài giảng hoặc tài liệu học tập.</a:t>
            </a:r>
            <a:endParaRPr lang="en-AU" sz="2600">
              <a:solidFill>
                <a:schemeClr val="bg2"/>
              </a:solidFill>
            </a:endParaRPr>
          </a:p>
          <a:p>
            <a:pPr>
              <a:buFont typeface="Wingdings" panose="05000000000000000000" pitchFamily="2" charset="2"/>
              <a:buChar char="ü"/>
            </a:pPr>
            <a:r>
              <a:rPr lang="en-AU" sz="2600">
                <a:solidFill>
                  <a:schemeClr val="bg2"/>
                </a:solidFill>
              </a:rPr>
              <a:t>       </a:t>
            </a:r>
            <a:r>
              <a:rPr lang="vi-VN" sz="2600">
                <a:solidFill>
                  <a:schemeClr val="bg2"/>
                </a:solidFill>
              </a:rPr>
              <a:t> Hỗ trợ sinh viên và người mới học nhạc khám phá giai điệu, cấu trúc bài hát và tìm cảm hứng sáng tác.</a:t>
            </a:r>
            <a:endParaRPr lang="en-GB" sz="2600">
              <a:solidFill>
                <a:schemeClr val="bg2"/>
              </a:solidFill>
            </a:endParaRPr>
          </a:p>
        </p:txBody>
      </p:sp>
    </p:spTree>
    <p:extLst>
      <p:ext uri="{BB962C8B-B14F-4D97-AF65-F5344CB8AC3E}">
        <p14:creationId xmlns:p14="http://schemas.microsoft.com/office/powerpoint/2010/main" val="1371577569"/>
      </p:ext>
    </p:extLst>
  </p:cSld>
  <p:clrMapOvr>
    <a:masterClrMapping/>
  </p:clrMapOvr>
  <mc:AlternateContent xmlns:mc="http://schemas.openxmlformats.org/markup-compatibility/2006" xmlns:p14="http://schemas.microsoft.com/office/powerpoint/2010/main">
    <mc:Choice Requires="p14">
      <p:transition spd="slow" p14:dur="1250">
        <p14:flip dir="r"/>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161</TotalTime>
  <Words>1616</Words>
  <Application>Microsoft Office PowerPoint</Application>
  <PresentationFormat>Widescreen</PresentationFormat>
  <Paragraphs>87</Paragraphs>
  <Slides>8</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8</vt:i4>
      </vt:variant>
    </vt:vector>
  </HeadingPairs>
  <TitlesOfParts>
    <vt:vector size="16" baseType="lpstr">
      <vt:lpstr>.VnBahamasB</vt:lpstr>
      <vt:lpstr>Arial</vt:lpstr>
      <vt:lpstr>Calibri</vt:lpstr>
      <vt:lpstr>Calibri Light</vt:lpstr>
      <vt:lpstr>SegoeuiPc</vt:lpstr>
      <vt:lpstr>Times New Roman</vt:lpstr>
      <vt:lpstr>Wingdings</vt:lpstr>
      <vt:lpstr>Office Theme</vt:lpstr>
      <vt:lpstr>TÌM HIỂU MỘT SỐ CÔNG CỤ AI</vt:lpstr>
      <vt:lpstr>I. ChatGPT</vt:lpstr>
      <vt:lpstr>PowerPoint Presentation</vt:lpstr>
      <vt:lpstr>PowerPoint Presentation</vt:lpstr>
      <vt:lpstr>5,Khả năng ứng dụng trong học tập &amp; công việc</vt:lpstr>
      <vt:lpstr>III.Suno AI</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Administrator</dc:creator>
  <cp:lastModifiedBy>Administrator</cp:lastModifiedBy>
  <cp:revision>6</cp:revision>
  <dcterms:created xsi:type="dcterms:W3CDTF">2025-11-29T02:02:42Z</dcterms:created>
  <dcterms:modified xsi:type="dcterms:W3CDTF">2025-12-15T09:00:41Z</dcterms:modified>
</cp:coreProperties>
</file>