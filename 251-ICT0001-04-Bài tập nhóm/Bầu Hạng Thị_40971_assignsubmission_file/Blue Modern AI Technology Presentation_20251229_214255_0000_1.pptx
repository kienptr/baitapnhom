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TT Lakes Neue" charset="1" panose="02010001040000080307"/>
      <p:regular r:id="rId22"/>
    </p:embeddedFont>
    <p:embeddedFont>
      <p:font typeface="TT Lakes Neue Bold" charset="1" panose="02010001040000080307"/>
      <p:regular r:id="rId23"/>
    </p:embeddedFont>
    <p:embeddedFont>
      <p:font typeface="Montserrat" charset="1" panose="00000500000000000000"/>
      <p:regular r:id="rId24"/>
    </p:embeddedFont>
    <p:embeddedFont>
      <p:font typeface="Raleway Bold" charset="1" panose="00000000000000000000"/>
      <p:regular r:id="rId25"/>
    </p:embeddedFont>
    <p:embeddedFont>
      <p:font typeface="Raleway Semi-Bold" charset="1" panose="00000000000000000000"/>
      <p:regular r:id="rId26"/>
    </p:embeddedFont>
    <p:embeddedFont>
      <p:font typeface="Raleway" charset="1" panose="000000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8.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8.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8.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jpe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jpe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jpe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jpe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F40">
                <a:alpha val="100000"/>
              </a:srgbClr>
            </a:gs>
            <a:gs pos="100000">
              <a:srgbClr val="3D6D81">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0960842" y="1306549"/>
            <a:ext cx="5126886" cy="5033670"/>
          </a:xfrm>
          <a:custGeom>
            <a:avLst/>
            <a:gdLst/>
            <a:ahLst/>
            <a:cxnLst/>
            <a:rect r="r" b="b" t="t" l="l"/>
            <a:pathLst>
              <a:path h="5033670" w="5126886">
                <a:moveTo>
                  <a:pt x="0" y="0"/>
                </a:moveTo>
                <a:lnTo>
                  <a:pt x="5126886" y="0"/>
                </a:lnTo>
                <a:lnTo>
                  <a:pt x="5126886" y="5033670"/>
                </a:lnTo>
                <a:lnTo>
                  <a:pt x="0" y="5033670"/>
                </a:lnTo>
                <a:lnTo>
                  <a:pt x="0" y="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75639" y="2786826"/>
            <a:ext cx="12568900" cy="1122149"/>
          </a:xfrm>
          <a:prstGeom prst="rect">
            <a:avLst/>
          </a:prstGeom>
        </p:spPr>
        <p:txBody>
          <a:bodyPr anchor="t" rtlCol="false" tIns="0" lIns="0" bIns="0" rIns="0">
            <a:spAutoFit/>
          </a:bodyPr>
          <a:lstStyle/>
          <a:p>
            <a:pPr algn="l">
              <a:lnSpc>
                <a:spcPts val="8551"/>
              </a:lnSpc>
              <a:spcBef>
                <a:spcPct val="0"/>
              </a:spcBef>
            </a:pPr>
            <a:r>
              <a:rPr lang="en-US" sz="8067">
                <a:solidFill>
                  <a:srgbClr val="FFFFFF"/>
                </a:solidFill>
                <a:latin typeface="TT Lakes Neue"/>
                <a:ea typeface="TT Lakes Neue"/>
                <a:cs typeface="TT Lakes Neue"/>
                <a:sym typeface="TT Lakes Neue"/>
              </a:rPr>
              <a:t>TÌM HIỂU 1 SỐ CÔNG CỤ</a:t>
            </a:r>
          </a:p>
        </p:txBody>
      </p:sp>
      <p:sp>
        <p:nvSpPr>
          <p:cNvPr name="TextBox 4" id="4"/>
          <p:cNvSpPr txBox="true"/>
          <p:nvPr/>
        </p:nvSpPr>
        <p:spPr>
          <a:xfrm rot="0">
            <a:off x="12744539" y="2734641"/>
            <a:ext cx="1559492" cy="1245569"/>
          </a:xfrm>
          <a:prstGeom prst="rect">
            <a:avLst/>
          </a:prstGeom>
        </p:spPr>
        <p:txBody>
          <a:bodyPr anchor="t" rtlCol="false" tIns="0" lIns="0" bIns="0" rIns="0">
            <a:spAutoFit/>
          </a:bodyPr>
          <a:lstStyle/>
          <a:p>
            <a:pPr algn="l">
              <a:lnSpc>
                <a:spcPts val="9544"/>
              </a:lnSpc>
              <a:spcBef>
                <a:spcPct val="0"/>
              </a:spcBef>
            </a:pPr>
            <a:r>
              <a:rPr lang="en-US" b="true" sz="9004">
                <a:solidFill>
                  <a:srgbClr val="84E3F8"/>
                </a:solidFill>
                <a:latin typeface="TT Lakes Neue Bold"/>
                <a:ea typeface="TT Lakes Neue Bold"/>
                <a:cs typeface="TT Lakes Neue Bold"/>
                <a:sym typeface="TT Lakes Neue Bold"/>
              </a:rPr>
              <a:t>AI </a:t>
            </a:r>
          </a:p>
        </p:txBody>
      </p:sp>
      <p:sp>
        <p:nvSpPr>
          <p:cNvPr name="TextBox 5" id="5"/>
          <p:cNvSpPr txBox="true"/>
          <p:nvPr/>
        </p:nvSpPr>
        <p:spPr>
          <a:xfrm rot="0">
            <a:off x="3990503" y="4724587"/>
            <a:ext cx="8754036" cy="949579"/>
          </a:xfrm>
          <a:prstGeom prst="rect">
            <a:avLst/>
          </a:prstGeom>
        </p:spPr>
        <p:txBody>
          <a:bodyPr anchor="t" rtlCol="false" tIns="0" lIns="0" bIns="0" rIns="0">
            <a:spAutoFit/>
          </a:bodyPr>
          <a:lstStyle/>
          <a:p>
            <a:pPr algn="l">
              <a:lnSpc>
                <a:spcPts val="7208"/>
              </a:lnSpc>
              <a:spcBef>
                <a:spcPct val="0"/>
              </a:spcBef>
            </a:pPr>
            <a:r>
              <a:rPr lang="en-US" sz="6800">
                <a:solidFill>
                  <a:srgbClr val="FFFFFF"/>
                </a:solidFill>
                <a:latin typeface="Montserrat"/>
                <a:ea typeface="Montserrat"/>
                <a:cs typeface="Montserrat"/>
                <a:sym typeface="Montserrat"/>
              </a:rPr>
              <a:t>Nhóm 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F40">
                <a:alpha val="100000"/>
              </a:srgbClr>
            </a:gs>
            <a:gs pos="100000">
              <a:srgbClr val="3D6D81">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7194873" y="678590"/>
            <a:ext cx="1396821" cy="1371424"/>
          </a:xfrm>
          <a:custGeom>
            <a:avLst/>
            <a:gdLst/>
            <a:ahLst/>
            <a:cxnLst/>
            <a:rect r="r" b="b" t="t" l="l"/>
            <a:pathLst>
              <a:path h="1371424" w="1396821">
                <a:moveTo>
                  <a:pt x="0" y="0"/>
                </a:moveTo>
                <a:lnTo>
                  <a:pt x="1396821" y="0"/>
                </a:lnTo>
                <a:lnTo>
                  <a:pt x="1396821" y="1371424"/>
                </a:lnTo>
                <a:lnTo>
                  <a:pt x="0" y="1371424"/>
                </a:lnTo>
                <a:lnTo>
                  <a:pt x="0" y="0"/>
                </a:lnTo>
                <a:close/>
              </a:path>
            </a:pathLst>
          </a:custGeom>
          <a:blipFill>
            <a:blip r:embed="rId2">
              <a:alphaModFix amt="72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68803" y="1651752"/>
            <a:ext cx="5702432" cy="1167826"/>
          </a:xfrm>
          <a:prstGeom prst="rect">
            <a:avLst/>
          </a:prstGeom>
        </p:spPr>
        <p:txBody>
          <a:bodyPr anchor="t" rtlCol="false" tIns="0" lIns="0" bIns="0" rIns="0">
            <a:spAutoFit/>
          </a:bodyPr>
          <a:lstStyle/>
          <a:p>
            <a:pPr algn="l">
              <a:lnSpc>
                <a:spcPts val="8936"/>
              </a:lnSpc>
              <a:spcBef>
                <a:spcPct val="0"/>
              </a:spcBef>
            </a:pPr>
            <a:r>
              <a:rPr lang="en-US" b="true" sz="8430">
                <a:solidFill>
                  <a:srgbClr val="84E3F8"/>
                </a:solidFill>
                <a:latin typeface="TT Lakes Neue Bold"/>
                <a:ea typeface="TT Lakes Neue Bold"/>
                <a:cs typeface="TT Lakes Neue Bold"/>
                <a:sym typeface="TT Lakes Neue Bold"/>
              </a:rPr>
              <a:t>CHAT GPT</a:t>
            </a:r>
          </a:p>
        </p:txBody>
      </p:sp>
      <p:sp>
        <p:nvSpPr>
          <p:cNvPr name="TextBox 4" id="4"/>
          <p:cNvSpPr txBox="true"/>
          <p:nvPr/>
        </p:nvSpPr>
        <p:spPr>
          <a:xfrm rot="0">
            <a:off x="7746019" y="892318"/>
            <a:ext cx="845675" cy="785364"/>
          </a:xfrm>
          <a:prstGeom prst="rect">
            <a:avLst/>
          </a:prstGeom>
        </p:spPr>
        <p:txBody>
          <a:bodyPr anchor="t" rtlCol="false" tIns="0" lIns="0" bIns="0" rIns="0">
            <a:spAutoFit/>
          </a:bodyPr>
          <a:lstStyle/>
          <a:p>
            <a:pPr algn="l">
              <a:lnSpc>
                <a:spcPts val="6169"/>
              </a:lnSpc>
              <a:spcBef>
                <a:spcPct val="0"/>
              </a:spcBef>
            </a:pPr>
            <a:r>
              <a:rPr lang="en-US" sz="5820">
                <a:solidFill>
                  <a:srgbClr val="FFFFFF"/>
                </a:solidFill>
                <a:latin typeface="TT Lakes Neue"/>
                <a:ea typeface="TT Lakes Neue"/>
                <a:cs typeface="TT Lakes Neue"/>
                <a:sym typeface="TT Lakes Neue"/>
              </a:rPr>
              <a:t>1.</a:t>
            </a:r>
          </a:p>
        </p:txBody>
      </p:sp>
      <p:sp>
        <p:nvSpPr>
          <p:cNvPr name="TextBox 5" id="5"/>
          <p:cNvSpPr txBox="true"/>
          <p:nvPr/>
        </p:nvSpPr>
        <p:spPr>
          <a:xfrm rot="0">
            <a:off x="8867267" y="1120084"/>
            <a:ext cx="3032515" cy="557598"/>
          </a:xfrm>
          <a:prstGeom prst="rect">
            <a:avLst/>
          </a:prstGeom>
        </p:spPr>
        <p:txBody>
          <a:bodyPr anchor="t" rtlCol="false" tIns="0" lIns="0" bIns="0" rIns="0">
            <a:spAutoFit/>
          </a:bodyPr>
          <a:lstStyle/>
          <a:p>
            <a:pPr algn="l">
              <a:lnSpc>
                <a:spcPts val="4213"/>
              </a:lnSpc>
              <a:spcBef>
                <a:spcPct val="0"/>
              </a:spcBef>
            </a:pPr>
            <a:r>
              <a:rPr lang="en-US" b="true" sz="3975">
                <a:solidFill>
                  <a:srgbClr val="FFFFFF"/>
                </a:solidFill>
                <a:latin typeface="Raleway Bold"/>
                <a:ea typeface="Raleway Bold"/>
                <a:cs typeface="Raleway Bold"/>
                <a:sym typeface="Raleway Bold"/>
              </a:rPr>
              <a:t>KHÁI NIỆM</a:t>
            </a:r>
          </a:p>
        </p:txBody>
      </p:sp>
      <p:sp>
        <p:nvSpPr>
          <p:cNvPr name="TextBox 6" id="6"/>
          <p:cNvSpPr txBox="true"/>
          <p:nvPr/>
        </p:nvSpPr>
        <p:spPr>
          <a:xfrm rot="0">
            <a:off x="682182" y="4170886"/>
            <a:ext cx="5702432" cy="1167826"/>
          </a:xfrm>
          <a:prstGeom prst="rect">
            <a:avLst/>
          </a:prstGeom>
        </p:spPr>
        <p:txBody>
          <a:bodyPr anchor="t" rtlCol="false" tIns="0" lIns="0" bIns="0" rIns="0">
            <a:spAutoFit/>
          </a:bodyPr>
          <a:lstStyle/>
          <a:p>
            <a:pPr algn="l">
              <a:lnSpc>
                <a:spcPts val="8936"/>
              </a:lnSpc>
              <a:spcBef>
                <a:spcPct val="0"/>
              </a:spcBef>
            </a:pPr>
            <a:r>
              <a:rPr lang="en-US" b="true" sz="8430">
                <a:solidFill>
                  <a:srgbClr val="84E3F8"/>
                </a:solidFill>
                <a:latin typeface="TT Lakes Neue Bold"/>
                <a:ea typeface="TT Lakes Neue Bold"/>
                <a:cs typeface="TT Lakes Neue Bold"/>
                <a:sym typeface="TT Lakes Neue Bold"/>
              </a:rPr>
              <a:t>GAMMA</a:t>
            </a:r>
          </a:p>
        </p:txBody>
      </p:sp>
      <p:sp>
        <p:nvSpPr>
          <p:cNvPr name="TextBox 7" id="7"/>
          <p:cNvSpPr txBox="true"/>
          <p:nvPr/>
        </p:nvSpPr>
        <p:spPr>
          <a:xfrm rot="0">
            <a:off x="995562" y="6795151"/>
            <a:ext cx="5702432" cy="1167826"/>
          </a:xfrm>
          <a:prstGeom prst="rect">
            <a:avLst/>
          </a:prstGeom>
        </p:spPr>
        <p:txBody>
          <a:bodyPr anchor="t" rtlCol="false" tIns="0" lIns="0" bIns="0" rIns="0">
            <a:spAutoFit/>
          </a:bodyPr>
          <a:lstStyle/>
          <a:p>
            <a:pPr algn="l">
              <a:lnSpc>
                <a:spcPts val="8936"/>
              </a:lnSpc>
              <a:spcBef>
                <a:spcPct val="0"/>
              </a:spcBef>
            </a:pPr>
            <a:r>
              <a:rPr lang="en-US" b="true" sz="8430">
                <a:solidFill>
                  <a:srgbClr val="84E3F8"/>
                </a:solidFill>
                <a:latin typeface="TT Lakes Neue Bold"/>
                <a:ea typeface="TT Lakes Neue Bold"/>
                <a:cs typeface="TT Lakes Neue Bold"/>
                <a:sym typeface="TT Lakes Neue Bold"/>
              </a:rPr>
              <a:t>SUNO</a:t>
            </a:r>
          </a:p>
        </p:txBody>
      </p:sp>
      <p:sp>
        <p:nvSpPr>
          <p:cNvPr name="Freeform 8" id="8"/>
          <p:cNvSpPr/>
          <p:nvPr/>
        </p:nvSpPr>
        <p:spPr>
          <a:xfrm flipH="false" flipV="false" rot="0">
            <a:off x="7194873" y="2569383"/>
            <a:ext cx="1396821" cy="1371424"/>
          </a:xfrm>
          <a:custGeom>
            <a:avLst/>
            <a:gdLst/>
            <a:ahLst/>
            <a:cxnLst/>
            <a:rect r="r" b="b" t="t" l="l"/>
            <a:pathLst>
              <a:path h="1371424" w="1396821">
                <a:moveTo>
                  <a:pt x="0" y="0"/>
                </a:moveTo>
                <a:lnTo>
                  <a:pt x="1396821" y="0"/>
                </a:lnTo>
                <a:lnTo>
                  <a:pt x="1396821" y="1371424"/>
                </a:lnTo>
                <a:lnTo>
                  <a:pt x="0" y="1371424"/>
                </a:lnTo>
                <a:lnTo>
                  <a:pt x="0" y="0"/>
                </a:lnTo>
                <a:close/>
              </a:path>
            </a:pathLst>
          </a:custGeom>
          <a:blipFill>
            <a:blip r:embed="rId2">
              <a:alphaModFix amt="72000"/>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7598754" y="2905303"/>
            <a:ext cx="845675" cy="785309"/>
          </a:xfrm>
          <a:prstGeom prst="rect">
            <a:avLst/>
          </a:prstGeom>
        </p:spPr>
        <p:txBody>
          <a:bodyPr anchor="t" rtlCol="false" tIns="0" lIns="0" bIns="0" rIns="0">
            <a:spAutoFit/>
          </a:bodyPr>
          <a:lstStyle/>
          <a:p>
            <a:pPr algn="l">
              <a:lnSpc>
                <a:spcPts val="6169"/>
              </a:lnSpc>
              <a:spcBef>
                <a:spcPct val="0"/>
              </a:spcBef>
            </a:pPr>
            <a:r>
              <a:rPr lang="en-US" sz="5820">
                <a:solidFill>
                  <a:srgbClr val="FFFFFF"/>
                </a:solidFill>
                <a:latin typeface="TT Lakes Neue"/>
                <a:ea typeface="TT Lakes Neue"/>
                <a:cs typeface="TT Lakes Neue"/>
                <a:sym typeface="TT Lakes Neue"/>
              </a:rPr>
              <a:t>2.</a:t>
            </a:r>
          </a:p>
        </p:txBody>
      </p:sp>
      <p:sp>
        <p:nvSpPr>
          <p:cNvPr name="TextBox 10" id="10"/>
          <p:cNvSpPr txBox="true"/>
          <p:nvPr/>
        </p:nvSpPr>
        <p:spPr>
          <a:xfrm rot="0">
            <a:off x="8867267" y="2732836"/>
            <a:ext cx="3032515" cy="1092142"/>
          </a:xfrm>
          <a:prstGeom prst="rect">
            <a:avLst/>
          </a:prstGeom>
        </p:spPr>
        <p:txBody>
          <a:bodyPr anchor="t" rtlCol="false" tIns="0" lIns="0" bIns="0" rIns="0">
            <a:spAutoFit/>
          </a:bodyPr>
          <a:lstStyle/>
          <a:p>
            <a:pPr algn="l">
              <a:lnSpc>
                <a:spcPts val="4213"/>
              </a:lnSpc>
              <a:spcBef>
                <a:spcPct val="0"/>
              </a:spcBef>
            </a:pPr>
            <a:r>
              <a:rPr lang="en-US" b="true" sz="3975">
                <a:solidFill>
                  <a:srgbClr val="FFFFFF"/>
                </a:solidFill>
                <a:latin typeface="Raleway Bold"/>
                <a:ea typeface="Raleway Bold"/>
                <a:cs typeface="Raleway Bold"/>
                <a:sym typeface="Raleway Bold"/>
              </a:rPr>
              <a:t>CÁCH THỨC HOẠT ĐỘNG</a:t>
            </a:r>
          </a:p>
        </p:txBody>
      </p:sp>
      <p:sp>
        <p:nvSpPr>
          <p:cNvPr name="Freeform 11" id="11"/>
          <p:cNvSpPr/>
          <p:nvPr/>
        </p:nvSpPr>
        <p:spPr>
          <a:xfrm flipH="false" flipV="false" rot="0">
            <a:off x="7194873" y="4499801"/>
            <a:ext cx="1396821" cy="1371424"/>
          </a:xfrm>
          <a:custGeom>
            <a:avLst/>
            <a:gdLst/>
            <a:ahLst/>
            <a:cxnLst/>
            <a:rect r="r" b="b" t="t" l="l"/>
            <a:pathLst>
              <a:path h="1371424" w="1396821">
                <a:moveTo>
                  <a:pt x="0" y="0"/>
                </a:moveTo>
                <a:lnTo>
                  <a:pt x="1396821" y="0"/>
                </a:lnTo>
                <a:lnTo>
                  <a:pt x="1396821" y="1371425"/>
                </a:lnTo>
                <a:lnTo>
                  <a:pt x="0" y="1371425"/>
                </a:lnTo>
                <a:lnTo>
                  <a:pt x="0" y="0"/>
                </a:lnTo>
                <a:close/>
              </a:path>
            </a:pathLst>
          </a:custGeom>
          <a:blipFill>
            <a:blip r:embed="rId2">
              <a:alphaModFix amt="72000"/>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7598754" y="4835722"/>
            <a:ext cx="845675" cy="785309"/>
          </a:xfrm>
          <a:prstGeom prst="rect">
            <a:avLst/>
          </a:prstGeom>
        </p:spPr>
        <p:txBody>
          <a:bodyPr anchor="t" rtlCol="false" tIns="0" lIns="0" bIns="0" rIns="0">
            <a:spAutoFit/>
          </a:bodyPr>
          <a:lstStyle/>
          <a:p>
            <a:pPr algn="l">
              <a:lnSpc>
                <a:spcPts val="6169"/>
              </a:lnSpc>
              <a:spcBef>
                <a:spcPct val="0"/>
              </a:spcBef>
            </a:pPr>
            <a:r>
              <a:rPr lang="en-US" sz="5820">
                <a:solidFill>
                  <a:srgbClr val="FFFFFF"/>
                </a:solidFill>
                <a:latin typeface="TT Lakes Neue"/>
                <a:ea typeface="TT Lakes Neue"/>
                <a:cs typeface="TT Lakes Neue"/>
                <a:sym typeface="TT Lakes Neue"/>
              </a:rPr>
              <a:t>3.</a:t>
            </a:r>
          </a:p>
        </p:txBody>
      </p:sp>
      <p:sp>
        <p:nvSpPr>
          <p:cNvPr name="TextBox 13" id="13"/>
          <p:cNvSpPr txBox="true"/>
          <p:nvPr/>
        </p:nvSpPr>
        <p:spPr>
          <a:xfrm rot="0">
            <a:off x="8867267" y="4930527"/>
            <a:ext cx="3032515" cy="557598"/>
          </a:xfrm>
          <a:prstGeom prst="rect">
            <a:avLst/>
          </a:prstGeom>
        </p:spPr>
        <p:txBody>
          <a:bodyPr anchor="t" rtlCol="false" tIns="0" lIns="0" bIns="0" rIns="0">
            <a:spAutoFit/>
          </a:bodyPr>
          <a:lstStyle/>
          <a:p>
            <a:pPr algn="l">
              <a:lnSpc>
                <a:spcPts val="4213"/>
              </a:lnSpc>
              <a:spcBef>
                <a:spcPct val="0"/>
              </a:spcBef>
            </a:pPr>
            <a:r>
              <a:rPr lang="en-US" b="true" sz="3975">
                <a:solidFill>
                  <a:srgbClr val="FFFFFF"/>
                </a:solidFill>
                <a:latin typeface="Raleway Bold"/>
                <a:ea typeface="Raleway Bold"/>
                <a:cs typeface="Raleway Bold"/>
                <a:sym typeface="Raleway Bold"/>
              </a:rPr>
              <a:t>ƯU ĐIỂM </a:t>
            </a:r>
          </a:p>
        </p:txBody>
      </p:sp>
      <p:sp>
        <p:nvSpPr>
          <p:cNvPr name="Freeform 14" id="14"/>
          <p:cNvSpPr/>
          <p:nvPr/>
        </p:nvSpPr>
        <p:spPr>
          <a:xfrm flipH="false" flipV="false" rot="0">
            <a:off x="7194873" y="6333590"/>
            <a:ext cx="1396821" cy="1371424"/>
          </a:xfrm>
          <a:custGeom>
            <a:avLst/>
            <a:gdLst/>
            <a:ahLst/>
            <a:cxnLst/>
            <a:rect r="r" b="b" t="t" l="l"/>
            <a:pathLst>
              <a:path h="1371424" w="1396821">
                <a:moveTo>
                  <a:pt x="0" y="0"/>
                </a:moveTo>
                <a:lnTo>
                  <a:pt x="1396821" y="0"/>
                </a:lnTo>
                <a:lnTo>
                  <a:pt x="1396821" y="1371424"/>
                </a:lnTo>
                <a:lnTo>
                  <a:pt x="0" y="1371424"/>
                </a:lnTo>
                <a:lnTo>
                  <a:pt x="0" y="0"/>
                </a:lnTo>
                <a:close/>
              </a:path>
            </a:pathLst>
          </a:custGeom>
          <a:blipFill>
            <a:blip r:embed="rId2">
              <a:alphaModFix amt="72000"/>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7598754" y="6728476"/>
            <a:ext cx="845675" cy="785309"/>
          </a:xfrm>
          <a:prstGeom prst="rect">
            <a:avLst/>
          </a:prstGeom>
        </p:spPr>
        <p:txBody>
          <a:bodyPr anchor="t" rtlCol="false" tIns="0" lIns="0" bIns="0" rIns="0">
            <a:spAutoFit/>
          </a:bodyPr>
          <a:lstStyle/>
          <a:p>
            <a:pPr algn="l">
              <a:lnSpc>
                <a:spcPts val="6169"/>
              </a:lnSpc>
              <a:spcBef>
                <a:spcPct val="0"/>
              </a:spcBef>
            </a:pPr>
            <a:r>
              <a:rPr lang="en-US" sz="5820">
                <a:solidFill>
                  <a:srgbClr val="FFFFFF"/>
                </a:solidFill>
                <a:latin typeface="TT Lakes Neue"/>
                <a:ea typeface="TT Lakes Neue"/>
                <a:cs typeface="TT Lakes Neue"/>
                <a:sym typeface="TT Lakes Neue"/>
              </a:rPr>
              <a:t>4.</a:t>
            </a:r>
          </a:p>
        </p:txBody>
      </p:sp>
      <p:sp>
        <p:nvSpPr>
          <p:cNvPr name="TextBox 16" id="16"/>
          <p:cNvSpPr txBox="true"/>
          <p:nvPr/>
        </p:nvSpPr>
        <p:spPr>
          <a:xfrm rot="0">
            <a:off x="8867267" y="6764316"/>
            <a:ext cx="3032515" cy="557598"/>
          </a:xfrm>
          <a:prstGeom prst="rect">
            <a:avLst/>
          </a:prstGeom>
        </p:spPr>
        <p:txBody>
          <a:bodyPr anchor="t" rtlCol="false" tIns="0" lIns="0" bIns="0" rIns="0">
            <a:spAutoFit/>
          </a:bodyPr>
          <a:lstStyle/>
          <a:p>
            <a:pPr algn="l">
              <a:lnSpc>
                <a:spcPts val="4213"/>
              </a:lnSpc>
              <a:spcBef>
                <a:spcPct val="0"/>
              </a:spcBef>
            </a:pPr>
            <a:r>
              <a:rPr lang="en-US" b="true" sz="3975">
                <a:solidFill>
                  <a:srgbClr val="FFFFFF"/>
                </a:solidFill>
                <a:latin typeface="Raleway Bold"/>
                <a:ea typeface="Raleway Bold"/>
                <a:cs typeface="Raleway Bold"/>
                <a:sym typeface="Raleway Bold"/>
              </a:rPr>
              <a:t>HẠN CHẾ</a:t>
            </a:r>
          </a:p>
        </p:txBody>
      </p:sp>
      <p:sp>
        <p:nvSpPr>
          <p:cNvPr name="TextBox 17" id="17"/>
          <p:cNvSpPr txBox="true"/>
          <p:nvPr/>
        </p:nvSpPr>
        <p:spPr>
          <a:xfrm rot="0">
            <a:off x="7598754" y="8604725"/>
            <a:ext cx="845675" cy="785309"/>
          </a:xfrm>
          <a:prstGeom prst="rect">
            <a:avLst/>
          </a:prstGeom>
        </p:spPr>
        <p:txBody>
          <a:bodyPr anchor="t" rtlCol="false" tIns="0" lIns="0" bIns="0" rIns="0">
            <a:spAutoFit/>
          </a:bodyPr>
          <a:lstStyle/>
          <a:p>
            <a:pPr algn="l">
              <a:lnSpc>
                <a:spcPts val="6169"/>
              </a:lnSpc>
              <a:spcBef>
                <a:spcPct val="0"/>
              </a:spcBef>
            </a:pPr>
            <a:r>
              <a:rPr lang="en-US" sz="5820">
                <a:solidFill>
                  <a:srgbClr val="FFFFFF"/>
                </a:solidFill>
                <a:latin typeface="TT Lakes Neue"/>
                <a:ea typeface="TT Lakes Neue"/>
                <a:cs typeface="TT Lakes Neue"/>
                <a:sym typeface="TT Lakes Neue"/>
              </a:rPr>
              <a:t>5.</a:t>
            </a:r>
          </a:p>
        </p:txBody>
      </p:sp>
      <p:sp>
        <p:nvSpPr>
          <p:cNvPr name="Freeform 18" id="18"/>
          <p:cNvSpPr/>
          <p:nvPr/>
        </p:nvSpPr>
        <p:spPr>
          <a:xfrm flipH="false" flipV="false" rot="0">
            <a:off x="7194873" y="8167538"/>
            <a:ext cx="1396821" cy="1371424"/>
          </a:xfrm>
          <a:custGeom>
            <a:avLst/>
            <a:gdLst/>
            <a:ahLst/>
            <a:cxnLst/>
            <a:rect r="r" b="b" t="t" l="l"/>
            <a:pathLst>
              <a:path h="1371424" w="1396821">
                <a:moveTo>
                  <a:pt x="0" y="0"/>
                </a:moveTo>
                <a:lnTo>
                  <a:pt x="1396821" y="0"/>
                </a:lnTo>
                <a:lnTo>
                  <a:pt x="1396821" y="1371424"/>
                </a:lnTo>
                <a:lnTo>
                  <a:pt x="0" y="1371424"/>
                </a:lnTo>
                <a:lnTo>
                  <a:pt x="0" y="0"/>
                </a:lnTo>
                <a:close/>
              </a:path>
            </a:pathLst>
          </a:custGeom>
          <a:blipFill>
            <a:blip r:embed="rId2">
              <a:alphaModFix amt="72000"/>
              <a:extLst>
                <a:ext uri="{96DAC541-7B7A-43D3-8B79-37D633B846F1}">
                  <asvg:svgBlip xmlns:asvg="http://schemas.microsoft.com/office/drawing/2016/SVG/main" r:embed="rId3"/>
                </a:ext>
              </a:extLst>
            </a:blip>
            <a:stretch>
              <a:fillRect l="0" t="0" r="0" b="0"/>
            </a:stretch>
          </a:blipFill>
        </p:spPr>
      </p:sp>
      <p:sp>
        <p:nvSpPr>
          <p:cNvPr name="TextBox 19" id="19"/>
          <p:cNvSpPr txBox="true"/>
          <p:nvPr/>
        </p:nvSpPr>
        <p:spPr>
          <a:xfrm rot="0">
            <a:off x="8867267" y="8598264"/>
            <a:ext cx="6544872" cy="1092142"/>
          </a:xfrm>
          <a:prstGeom prst="rect">
            <a:avLst/>
          </a:prstGeom>
        </p:spPr>
        <p:txBody>
          <a:bodyPr anchor="t" rtlCol="false" tIns="0" lIns="0" bIns="0" rIns="0">
            <a:spAutoFit/>
          </a:bodyPr>
          <a:lstStyle/>
          <a:p>
            <a:pPr algn="l">
              <a:lnSpc>
                <a:spcPts val="4213"/>
              </a:lnSpc>
              <a:spcBef>
                <a:spcPct val="0"/>
              </a:spcBef>
            </a:pPr>
            <a:r>
              <a:rPr lang="en-US" b="true" sz="3975">
                <a:solidFill>
                  <a:srgbClr val="FFFFFF"/>
                </a:solidFill>
                <a:latin typeface="Raleway Bold"/>
                <a:ea typeface="Raleway Bold"/>
                <a:cs typeface="Raleway Bold"/>
                <a:sym typeface="Raleway Bold"/>
              </a:rPr>
              <a:t>MỘT SỐ LƯU Ý CHUNG KHI DỬ DỤNG AI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F40">
                <a:alpha val="100000"/>
              </a:srgbClr>
            </a:gs>
            <a:gs pos="100000">
              <a:srgbClr val="3D6D81">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8772868" y="3356903"/>
            <a:ext cx="1026795" cy="1026795"/>
          </a:xfrm>
          <a:custGeom>
            <a:avLst/>
            <a:gdLst/>
            <a:ahLst/>
            <a:cxnLst/>
            <a:rect r="r" b="b" t="t" l="l"/>
            <a:pathLst>
              <a:path h="1026795" w="1026795">
                <a:moveTo>
                  <a:pt x="0" y="0"/>
                </a:moveTo>
                <a:lnTo>
                  <a:pt x="1026795" y="0"/>
                </a:lnTo>
                <a:lnTo>
                  <a:pt x="1026795" y="1026795"/>
                </a:lnTo>
                <a:lnTo>
                  <a:pt x="0" y="10267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91456" y="3191915"/>
            <a:ext cx="8104458" cy="6085711"/>
          </a:xfrm>
          <a:custGeom>
            <a:avLst/>
            <a:gdLst/>
            <a:ahLst/>
            <a:cxnLst/>
            <a:rect r="r" b="b" t="t" l="l"/>
            <a:pathLst>
              <a:path h="6085711" w="8104458">
                <a:moveTo>
                  <a:pt x="0" y="0"/>
                </a:moveTo>
                <a:lnTo>
                  <a:pt x="8104458" y="0"/>
                </a:lnTo>
                <a:lnTo>
                  <a:pt x="8104458" y="6085712"/>
                </a:lnTo>
                <a:lnTo>
                  <a:pt x="0" y="60857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662721" y="3122331"/>
            <a:ext cx="4961928" cy="6291878"/>
            <a:chOff x="0" y="0"/>
            <a:chExt cx="768732" cy="974776"/>
          </a:xfrm>
        </p:grpSpPr>
        <p:sp>
          <p:nvSpPr>
            <p:cNvPr name="Freeform 5" id="5"/>
            <p:cNvSpPr/>
            <p:nvPr/>
          </p:nvSpPr>
          <p:spPr>
            <a:xfrm flipH="false" flipV="false" rot="0">
              <a:off x="0" y="0"/>
              <a:ext cx="768732" cy="974776"/>
            </a:xfrm>
            <a:custGeom>
              <a:avLst/>
              <a:gdLst/>
              <a:ahLst/>
              <a:cxnLst/>
              <a:rect r="r" b="b" t="t" l="l"/>
              <a:pathLst>
                <a:path h="974776" w="768732">
                  <a:moveTo>
                    <a:pt x="0" y="0"/>
                  </a:moveTo>
                  <a:lnTo>
                    <a:pt x="768732" y="0"/>
                  </a:lnTo>
                  <a:lnTo>
                    <a:pt x="768732" y="974776"/>
                  </a:lnTo>
                  <a:lnTo>
                    <a:pt x="0" y="974776"/>
                  </a:lnTo>
                  <a:close/>
                </a:path>
              </a:pathLst>
            </a:custGeom>
            <a:blipFill>
              <a:blip r:embed="rId6"/>
              <a:stretch>
                <a:fillRect l="-13401" t="0" r="-13401" b="0"/>
              </a:stretch>
            </a:blipFill>
          </p:spPr>
        </p:sp>
      </p:grpSp>
      <p:sp>
        <p:nvSpPr>
          <p:cNvPr name="TextBox 6" id="6"/>
          <p:cNvSpPr txBox="true"/>
          <p:nvPr/>
        </p:nvSpPr>
        <p:spPr>
          <a:xfrm rot="0">
            <a:off x="10561996" y="2062011"/>
            <a:ext cx="6763027" cy="875792"/>
          </a:xfrm>
          <a:prstGeom prst="rect">
            <a:avLst/>
          </a:prstGeom>
        </p:spPr>
        <p:txBody>
          <a:bodyPr anchor="t" rtlCol="false" tIns="0" lIns="0" bIns="0" rIns="0">
            <a:spAutoFit/>
          </a:bodyPr>
          <a:lstStyle/>
          <a:p>
            <a:pPr algn="l">
              <a:lnSpc>
                <a:spcPts val="6783"/>
              </a:lnSpc>
              <a:spcBef>
                <a:spcPct val="0"/>
              </a:spcBef>
            </a:pPr>
            <a:r>
              <a:rPr lang="en-US" b="true" sz="6399">
                <a:solidFill>
                  <a:srgbClr val="FFFFFF"/>
                </a:solidFill>
                <a:latin typeface="TT Lakes Neue Bold"/>
                <a:ea typeface="TT Lakes Neue Bold"/>
                <a:cs typeface="TT Lakes Neue Bold"/>
                <a:sym typeface="TT Lakes Neue Bold"/>
              </a:rPr>
              <a:t>1.KHÁI NIỆM</a:t>
            </a:r>
          </a:p>
        </p:txBody>
      </p:sp>
      <p:sp>
        <p:nvSpPr>
          <p:cNvPr name="TextBox 7" id="7"/>
          <p:cNvSpPr txBox="true"/>
          <p:nvPr/>
        </p:nvSpPr>
        <p:spPr>
          <a:xfrm rot="0">
            <a:off x="5802124" y="617960"/>
            <a:ext cx="5702432" cy="1167826"/>
          </a:xfrm>
          <a:prstGeom prst="rect">
            <a:avLst/>
          </a:prstGeom>
        </p:spPr>
        <p:txBody>
          <a:bodyPr anchor="t" rtlCol="false" tIns="0" lIns="0" bIns="0" rIns="0">
            <a:spAutoFit/>
          </a:bodyPr>
          <a:lstStyle/>
          <a:p>
            <a:pPr algn="l">
              <a:lnSpc>
                <a:spcPts val="8936"/>
              </a:lnSpc>
              <a:spcBef>
                <a:spcPct val="0"/>
              </a:spcBef>
            </a:pPr>
            <a:r>
              <a:rPr lang="en-US" b="true" sz="8430">
                <a:solidFill>
                  <a:srgbClr val="84E3F8"/>
                </a:solidFill>
                <a:latin typeface="TT Lakes Neue Bold"/>
                <a:ea typeface="TT Lakes Neue Bold"/>
                <a:cs typeface="TT Lakes Neue Bold"/>
                <a:sym typeface="TT Lakes Neue Bold"/>
              </a:rPr>
              <a:t>CHAT GPT</a:t>
            </a:r>
          </a:p>
        </p:txBody>
      </p:sp>
      <p:sp>
        <p:nvSpPr>
          <p:cNvPr name="TextBox 8" id="8"/>
          <p:cNvSpPr txBox="true"/>
          <p:nvPr/>
        </p:nvSpPr>
        <p:spPr>
          <a:xfrm rot="0">
            <a:off x="10164344" y="3395003"/>
            <a:ext cx="7558331" cy="2015490"/>
          </a:xfrm>
          <a:prstGeom prst="rect">
            <a:avLst/>
          </a:prstGeom>
        </p:spPr>
        <p:txBody>
          <a:bodyPr anchor="t" rtlCol="false" tIns="0" lIns="0" bIns="0" rIns="0">
            <a:spAutoFit/>
          </a:bodyPr>
          <a:lstStyle/>
          <a:p>
            <a:pPr algn="l">
              <a:lnSpc>
                <a:spcPts val="3180"/>
              </a:lnSpc>
            </a:pPr>
            <a:r>
              <a:rPr lang="en-US" sz="3000" b="true">
                <a:solidFill>
                  <a:srgbClr val="FFFFFF"/>
                </a:solidFill>
                <a:latin typeface="Raleway Bold"/>
                <a:ea typeface="Raleway Bold"/>
                <a:cs typeface="Raleway Bold"/>
                <a:sym typeface="Raleway Bold"/>
              </a:rPr>
              <a:t>-ChatGPT là một trí tuệ nhân tạo (AI) do công ty OpenAI phát triển, dùng để trò chuyện và trả lời câu hỏi bằng ngôn ngữ tự nhiên (như tiếng Việt, tiếng Anh,…).</a:t>
            </a:r>
          </a:p>
          <a:p>
            <a:pPr algn="l">
              <a:lnSpc>
                <a:spcPts val="3180"/>
              </a:lnSpc>
              <a:spcBef>
                <a:spcPct val="0"/>
              </a:spcBef>
            </a:pPr>
          </a:p>
        </p:txBody>
      </p:sp>
      <p:sp>
        <p:nvSpPr>
          <p:cNvPr name="TextBox 9" id="9"/>
          <p:cNvSpPr txBox="true"/>
          <p:nvPr/>
        </p:nvSpPr>
        <p:spPr>
          <a:xfrm rot="0">
            <a:off x="10164344" y="5871210"/>
            <a:ext cx="7094956" cy="4415790"/>
          </a:xfrm>
          <a:prstGeom prst="rect">
            <a:avLst/>
          </a:prstGeom>
        </p:spPr>
        <p:txBody>
          <a:bodyPr anchor="t" rtlCol="false" tIns="0" lIns="0" bIns="0" rIns="0">
            <a:spAutoFit/>
          </a:bodyPr>
          <a:lstStyle/>
          <a:p>
            <a:pPr algn="l">
              <a:lnSpc>
                <a:spcPts val="3180"/>
              </a:lnSpc>
            </a:pPr>
            <a:r>
              <a:rPr lang="en-US" sz="3000" b="true">
                <a:solidFill>
                  <a:srgbClr val="FFFFFF"/>
                </a:solidFill>
                <a:latin typeface="Raleway Semi-Bold"/>
                <a:ea typeface="Raleway Semi-Bold"/>
                <a:cs typeface="Raleway Semi-Bold"/>
                <a:sym typeface="Raleway Semi-Bold"/>
              </a:rPr>
              <a:t>-Nói đơn giản, ChatGPT có thể:</a:t>
            </a:r>
            <a:r>
              <a:rPr lang="en-US" sz="3000" b="true">
                <a:solidFill>
                  <a:srgbClr val="FFFFFF"/>
                </a:solidFill>
                <a:latin typeface="Raleway Semi-Bold"/>
                <a:ea typeface="Raleway Semi-Bold"/>
                <a:cs typeface="Raleway Semi-Bold"/>
                <a:sym typeface="Raleway Semi-Bold"/>
              </a:rPr>
              <a:t> </a:t>
            </a:r>
          </a:p>
          <a:p>
            <a:pPr algn="l">
              <a:lnSpc>
                <a:spcPts val="3180"/>
              </a:lnSpc>
            </a:pPr>
            <a:r>
              <a:rPr lang="en-US" sz="3000">
                <a:solidFill>
                  <a:srgbClr val="FFFFFF"/>
                </a:solidFill>
                <a:latin typeface="Raleway"/>
                <a:ea typeface="Raleway"/>
                <a:cs typeface="Raleway"/>
                <a:sym typeface="Raleway"/>
              </a:rPr>
              <a:t>+</a:t>
            </a:r>
            <a:r>
              <a:rPr lang="en-US" sz="3000" b="true">
                <a:solidFill>
                  <a:srgbClr val="FFFFFF"/>
                </a:solidFill>
                <a:latin typeface="Raleway Semi-Bold"/>
                <a:ea typeface="Raleway Semi-Bold"/>
                <a:cs typeface="Raleway Semi-Bold"/>
                <a:sym typeface="Raleway Semi-Bold"/>
              </a:rPr>
              <a:t>Giải thích bài học, hỗ trợ làm bài tập     +Giúp đoạn văn, email, dàn ý </a:t>
            </a:r>
          </a:p>
          <a:p>
            <a:pPr algn="l">
              <a:lnSpc>
                <a:spcPts val="3180"/>
              </a:lnSpc>
            </a:pPr>
            <a:r>
              <a:rPr lang="en-US" sz="3000">
                <a:solidFill>
                  <a:srgbClr val="FFFFFF"/>
                </a:solidFill>
                <a:latin typeface="Raleway"/>
                <a:ea typeface="Raleway"/>
                <a:cs typeface="Raleway"/>
                <a:sym typeface="Raleway"/>
              </a:rPr>
              <a:t>+</a:t>
            </a:r>
            <a:r>
              <a:rPr lang="en-US" sz="3000" b="true">
                <a:solidFill>
                  <a:srgbClr val="FFFFFF"/>
                </a:solidFill>
                <a:latin typeface="Raleway Semi-Bold"/>
                <a:ea typeface="Raleway Semi-Bold"/>
                <a:cs typeface="Raleway Semi-Bold"/>
                <a:sym typeface="Raleway Semi-Bold"/>
              </a:rPr>
              <a:t>Trả lời câu hỏi kiến thức tổng quát </a:t>
            </a:r>
          </a:p>
          <a:p>
            <a:pPr algn="l">
              <a:lnSpc>
                <a:spcPts val="3180"/>
              </a:lnSpc>
            </a:pPr>
            <a:r>
              <a:rPr lang="en-US" sz="3000">
                <a:solidFill>
                  <a:srgbClr val="FFFFFF"/>
                </a:solidFill>
                <a:latin typeface="Raleway"/>
                <a:ea typeface="Raleway"/>
                <a:cs typeface="Raleway"/>
                <a:sym typeface="Raleway"/>
              </a:rPr>
              <a:t>+</a:t>
            </a:r>
            <a:r>
              <a:rPr lang="en-US" sz="3000" b="true">
                <a:solidFill>
                  <a:srgbClr val="FFFFFF"/>
                </a:solidFill>
                <a:latin typeface="Raleway Semi-Bold"/>
                <a:ea typeface="Raleway Semi-Bold"/>
                <a:cs typeface="Raleway Semi-Bold"/>
                <a:sym typeface="Raleway Semi-Bold"/>
              </a:rPr>
              <a:t>Trò chuyện, tư vấn học tập (ở mức an toàn và phù hợp) ChatGPT không phải con người, mà là chương trình máy tính được huấn luyện từ rất nhiều văn bản để học cách trả lời giống như con người.</a:t>
            </a:r>
          </a:p>
          <a:p>
            <a:pPr algn="l">
              <a:lnSpc>
                <a:spcPts val="3180"/>
              </a:lnSpc>
              <a:spcBef>
                <a:spcPct val="0"/>
              </a:spcBef>
            </a:pPr>
          </a:p>
        </p:txBody>
      </p:sp>
      <p:sp>
        <p:nvSpPr>
          <p:cNvPr name="Freeform 10" id="10"/>
          <p:cNvSpPr/>
          <p:nvPr/>
        </p:nvSpPr>
        <p:spPr>
          <a:xfrm flipH="false" flipV="false" rot="0">
            <a:off x="8772868" y="5955323"/>
            <a:ext cx="1026795" cy="1026795"/>
          </a:xfrm>
          <a:custGeom>
            <a:avLst/>
            <a:gdLst/>
            <a:ahLst/>
            <a:cxnLst/>
            <a:rect r="r" b="b" t="t" l="l"/>
            <a:pathLst>
              <a:path h="1026795" w="1026795">
                <a:moveTo>
                  <a:pt x="0" y="0"/>
                </a:moveTo>
                <a:lnTo>
                  <a:pt x="1026795" y="0"/>
                </a:lnTo>
                <a:lnTo>
                  <a:pt x="1026795" y="1026796"/>
                </a:lnTo>
                <a:lnTo>
                  <a:pt x="0" y="10267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F40">
                <a:alpha val="100000"/>
              </a:srgbClr>
            </a:gs>
            <a:gs pos="100000">
              <a:srgbClr val="3D6D81">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8785696" y="4029707"/>
            <a:ext cx="1053083" cy="1053083"/>
          </a:xfrm>
          <a:custGeom>
            <a:avLst/>
            <a:gdLst/>
            <a:ahLst/>
            <a:cxnLst/>
            <a:rect r="r" b="b" t="t" l="l"/>
            <a:pathLst>
              <a:path h="1053083" w="1053083">
                <a:moveTo>
                  <a:pt x="0" y="0"/>
                </a:moveTo>
                <a:lnTo>
                  <a:pt x="1053083" y="0"/>
                </a:lnTo>
                <a:lnTo>
                  <a:pt x="1053083" y="1053083"/>
                </a:lnTo>
                <a:lnTo>
                  <a:pt x="0" y="10530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542565" y="2418581"/>
            <a:ext cx="8104458" cy="6085711"/>
          </a:xfrm>
          <a:custGeom>
            <a:avLst/>
            <a:gdLst/>
            <a:ahLst/>
            <a:cxnLst/>
            <a:rect r="r" b="b" t="t" l="l"/>
            <a:pathLst>
              <a:path h="6085711" w="8104458">
                <a:moveTo>
                  <a:pt x="0" y="0"/>
                </a:moveTo>
                <a:lnTo>
                  <a:pt x="8104458" y="0"/>
                </a:lnTo>
                <a:lnTo>
                  <a:pt x="8104458" y="6085711"/>
                </a:lnTo>
                <a:lnTo>
                  <a:pt x="0" y="60857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028700" y="2567647"/>
            <a:ext cx="4961928" cy="6291878"/>
            <a:chOff x="0" y="0"/>
            <a:chExt cx="768732" cy="974776"/>
          </a:xfrm>
        </p:grpSpPr>
        <p:sp>
          <p:nvSpPr>
            <p:cNvPr name="Freeform 5" id="5"/>
            <p:cNvSpPr/>
            <p:nvPr/>
          </p:nvSpPr>
          <p:spPr>
            <a:xfrm flipH="false" flipV="false" rot="0">
              <a:off x="0" y="0"/>
              <a:ext cx="768732" cy="974776"/>
            </a:xfrm>
            <a:custGeom>
              <a:avLst/>
              <a:gdLst/>
              <a:ahLst/>
              <a:cxnLst/>
              <a:rect r="r" b="b" t="t" l="l"/>
              <a:pathLst>
                <a:path h="974776" w="768732">
                  <a:moveTo>
                    <a:pt x="0" y="0"/>
                  </a:moveTo>
                  <a:lnTo>
                    <a:pt x="768732" y="0"/>
                  </a:lnTo>
                  <a:lnTo>
                    <a:pt x="768732" y="974776"/>
                  </a:lnTo>
                  <a:lnTo>
                    <a:pt x="0" y="974776"/>
                  </a:lnTo>
                  <a:close/>
                </a:path>
              </a:pathLst>
            </a:custGeom>
            <a:blipFill>
              <a:blip r:embed="rId6"/>
              <a:stretch>
                <a:fillRect l="-13401" t="0" r="-13401" b="0"/>
              </a:stretch>
            </a:blipFill>
          </p:spPr>
        </p:sp>
      </p:grpSp>
      <p:sp>
        <p:nvSpPr>
          <p:cNvPr name="TextBox 6" id="6"/>
          <p:cNvSpPr txBox="true"/>
          <p:nvPr/>
        </p:nvSpPr>
        <p:spPr>
          <a:xfrm rot="0">
            <a:off x="9312238" y="2029965"/>
            <a:ext cx="9000145" cy="1733042"/>
          </a:xfrm>
          <a:prstGeom prst="rect">
            <a:avLst/>
          </a:prstGeom>
        </p:spPr>
        <p:txBody>
          <a:bodyPr anchor="t" rtlCol="false" tIns="0" lIns="0" bIns="0" rIns="0">
            <a:spAutoFit/>
          </a:bodyPr>
          <a:lstStyle/>
          <a:p>
            <a:pPr algn="l">
              <a:lnSpc>
                <a:spcPts val="6783"/>
              </a:lnSpc>
              <a:spcBef>
                <a:spcPct val="0"/>
              </a:spcBef>
            </a:pPr>
            <a:r>
              <a:rPr lang="en-US" b="true" sz="6399">
                <a:solidFill>
                  <a:srgbClr val="FFFFFF"/>
                </a:solidFill>
                <a:latin typeface="TT Lakes Neue Bold"/>
                <a:ea typeface="TT Lakes Neue Bold"/>
                <a:cs typeface="TT Lakes Neue Bold"/>
                <a:sym typeface="TT Lakes Neue Bold"/>
              </a:rPr>
              <a:t>2.CÁCH THỨC HOẠT ĐỘNG</a:t>
            </a:r>
          </a:p>
        </p:txBody>
      </p:sp>
      <p:sp>
        <p:nvSpPr>
          <p:cNvPr name="TextBox 7" id="7"/>
          <p:cNvSpPr txBox="true"/>
          <p:nvPr/>
        </p:nvSpPr>
        <p:spPr>
          <a:xfrm rot="0">
            <a:off x="6292784" y="501937"/>
            <a:ext cx="5702432" cy="1167826"/>
          </a:xfrm>
          <a:prstGeom prst="rect">
            <a:avLst/>
          </a:prstGeom>
        </p:spPr>
        <p:txBody>
          <a:bodyPr anchor="t" rtlCol="false" tIns="0" lIns="0" bIns="0" rIns="0">
            <a:spAutoFit/>
          </a:bodyPr>
          <a:lstStyle/>
          <a:p>
            <a:pPr algn="l">
              <a:lnSpc>
                <a:spcPts val="8936"/>
              </a:lnSpc>
              <a:spcBef>
                <a:spcPct val="0"/>
              </a:spcBef>
            </a:pPr>
            <a:r>
              <a:rPr lang="en-US" b="true" sz="8430">
                <a:solidFill>
                  <a:srgbClr val="84E3F8"/>
                </a:solidFill>
                <a:latin typeface="TT Lakes Neue Bold"/>
                <a:ea typeface="TT Lakes Neue Bold"/>
                <a:cs typeface="TT Lakes Neue Bold"/>
                <a:sym typeface="TT Lakes Neue Bold"/>
              </a:rPr>
              <a:t>CHAT GPT</a:t>
            </a:r>
          </a:p>
        </p:txBody>
      </p:sp>
      <p:sp>
        <p:nvSpPr>
          <p:cNvPr name="TextBox 8" id="8"/>
          <p:cNvSpPr txBox="true"/>
          <p:nvPr/>
        </p:nvSpPr>
        <p:spPr>
          <a:xfrm rot="0">
            <a:off x="10365321" y="4056534"/>
            <a:ext cx="6893979" cy="4385050"/>
          </a:xfrm>
          <a:prstGeom prst="rect">
            <a:avLst/>
          </a:prstGeom>
        </p:spPr>
        <p:txBody>
          <a:bodyPr anchor="t" rtlCol="false" tIns="0" lIns="0" bIns="0" rIns="0">
            <a:spAutoFit/>
          </a:bodyPr>
          <a:lstStyle/>
          <a:p>
            <a:pPr algn="l">
              <a:lnSpc>
                <a:spcPts val="3462"/>
              </a:lnSpc>
            </a:pPr>
            <a:r>
              <a:rPr lang="en-US" sz="3266" b="true">
                <a:solidFill>
                  <a:srgbClr val="FFFFFF"/>
                </a:solidFill>
                <a:latin typeface="Raleway Bold"/>
                <a:ea typeface="Raleway Bold"/>
                <a:cs typeface="Raleway Bold"/>
                <a:sym typeface="Raleway Bold"/>
              </a:rPr>
              <a:t>-ChatGPT hoạt động bằng cách:</a:t>
            </a:r>
          </a:p>
          <a:p>
            <a:pPr algn="l">
              <a:lnSpc>
                <a:spcPts val="3462"/>
              </a:lnSpc>
            </a:pPr>
            <a:r>
              <a:rPr lang="en-US" sz="3266" b="true">
                <a:solidFill>
                  <a:srgbClr val="FFFFFF"/>
                </a:solidFill>
                <a:latin typeface="Raleway Bold"/>
                <a:ea typeface="Raleway Bold"/>
                <a:cs typeface="Raleway Bold"/>
                <a:sym typeface="Raleway Bold"/>
              </a:rPr>
              <a:t> + Học từ hàng tỷ văn bản (sách, bài báo, dữ liệu công khai…)</a:t>
            </a:r>
          </a:p>
          <a:p>
            <a:pPr algn="l">
              <a:lnSpc>
                <a:spcPts val="3462"/>
              </a:lnSpc>
            </a:pPr>
            <a:r>
              <a:rPr lang="en-US" sz="3266" b="true">
                <a:solidFill>
                  <a:srgbClr val="FFFFFF"/>
                </a:solidFill>
                <a:latin typeface="Raleway Bold"/>
                <a:ea typeface="Raleway Bold"/>
                <a:cs typeface="Raleway Bold"/>
                <a:sym typeface="Raleway Bold"/>
              </a:rPr>
              <a:t> + Dự đoán và tạo ra câu trả lời phù hợp nhất dựa trên ngữ cảnh </a:t>
            </a:r>
          </a:p>
          <a:p>
            <a:pPr algn="l">
              <a:lnSpc>
                <a:spcPts val="3462"/>
              </a:lnSpc>
            </a:pPr>
            <a:r>
              <a:rPr lang="en-US" sz="3266">
                <a:solidFill>
                  <a:srgbClr val="FFFFFF"/>
                </a:solidFill>
                <a:latin typeface="Raleway"/>
                <a:ea typeface="Raleway"/>
                <a:cs typeface="Raleway"/>
                <a:sym typeface="Raleway"/>
              </a:rPr>
              <a:t>+ </a:t>
            </a:r>
            <a:r>
              <a:rPr lang="en-US" sz="3266" b="true">
                <a:solidFill>
                  <a:srgbClr val="FFFFFF"/>
                </a:solidFill>
                <a:latin typeface="Raleway Bold"/>
                <a:ea typeface="Raleway Bold"/>
                <a:cs typeface="Raleway Bold"/>
                <a:sym typeface="Raleway Bold"/>
              </a:rPr>
              <a:t>Không “suy nghĩ” như con người mà phân tích xác suất từ ngữ </a:t>
            </a:r>
          </a:p>
          <a:p>
            <a:pPr algn="l">
              <a:lnSpc>
                <a:spcPts val="3462"/>
              </a:lnSpc>
              <a:spcBef>
                <a:spcPct val="0"/>
              </a:spcBef>
            </a:pPr>
            <a:r>
              <a:rPr lang="en-US" b="true" sz="3266">
                <a:solidFill>
                  <a:srgbClr val="FFFFFF"/>
                </a:solidFill>
                <a:latin typeface="Raleway Bold"/>
                <a:ea typeface="Raleway Bold"/>
                <a:cs typeface="Raleway Bold"/>
                <a:sym typeface="Raleway Bold"/>
              </a:rPr>
              <a:t> +ChatGPT không có cảm xúc, ý thức hay trí nhớ cá nhân như con người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F40">
                <a:alpha val="100000"/>
              </a:srgbClr>
            </a:gs>
            <a:gs pos="100000">
              <a:srgbClr val="3D6D81">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9144000" y="4630557"/>
            <a:ext cx="1025887" cy="1025887"/>
          </a:xfrm>
          <a:custGeom>
            <a:avLst/>
            <a:gdLst/>
            <a:ahLst/>
            <a:cxnLst/>
            <a:rect r="r" b="b" t="t" l="l"/>
            <a:pathLst>
              <a:path h="1025887" w="1025887">
                <a:moveTo>
                  <a:pt x="0" y="0"/>
                </a:moveTo>
                <a:lnTo>
                  <a:pt x="1025887" y="0"/>
                </a:lnTo>
                <a:lnTo>
                  <a:pt x="1025887" y="1025886"/>
                </a:lnTo>
                <a:lnTo>
                  <a:pt x="0" y="10258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653348" y="3191915"/>
            <a:ext cx="8104458" cy="6085711"/>
          </a:xfrm>
          <a:custGeom>
            <a:avLst/>
            <a:gdLst/>
            <a:ahLst/>
            <a:cxnLst/>
            <a:rect r="r" b="b" t="t" l="l"/>
            <a:pathLst>
              <a:path h="6085711" w="8104458">
                <a:moveTo>
                  <a:pt x="0" y="0"/>
                </a:moveTo>
                <a:lnTo>
                  <a:pt x="8104458" y="0"/>
                </a:lnTo>
                <a:lnTo>
                  <a:pt x="8104458" y="6085712"/>
                </a:lnTo>
                <a:lnTo>
                  <a:pt x="0" y="60857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2224613" y="3122331"/>
            <a:ext cx="4961928" cy="6291878"/>
            <a:chOff x="0" y="0"/>
            <a:chExt cx="768732" cy="974776"/>
          </a:xfrm>
        </p:grpSpPr>
        <p:sp>
          <p:nvSpPr>
            <p:cNvPr name="Freeform 5" id="5"/>
            <p:cNvSpPr/>
            <p:nvPr/>
          </p:nvSpPr>
          <p:spPr>
            <a:xfrm flipH="false" flipV="false" rot="0">
              <a:off x="0" y="0"/>
              <a:ext cx="768732" cy="974776"/>
            </a:xfrm>
            <a:custGeom>
              <a:avLst/>
              <a:gdLst/>
              <a:ahLst/>
              <a:cxnLst/>
              <a:rect r="r" b="b" t="t" l="l"/>
              <a:pathLst>
                <a:path h="974776" w="768732">
                  <a:moveTo>
                    <a:pt x="0" y="0"/>
                  </a:moveTo>
                  <a:lnTo>
                    <a:pt x="768732" y="0"/>
                  </a:lnTo>
                  <a:lnTo>
                    <a:pt x="768732" y="974776"/>
                  </a:lnTo>
                  <a:lnTo>
                    <a:pt x="0" y="974776"/>
                  </a:lnTo>
                  <a:close/>
                </a:path>
              </a:pathLst>
            </a:custGeom>
            <a:blipFill>
              <a:blip r:embed="rId6"/>
              <a:stretch>
                <a:fillRect l="-13401" t="0" r="-13401" b="0"/>
              </a:stretch>
            </a:blipFill>
          </p:spPr>
        </p:sp>
      </p:grpSp>
      <p:sp>
        <p:nvSpPr>
          <p:cNvPr name="TextBox 6" id="6"/>
          <p:cNvSpPr txBox="true"/>
          <p:nvPr/>
        </p:nvSpPr>
        <p:spPr>
          <a:xfrm rot="0">
            <a:off x="10542768" y="2732060"/>
            <a:ext cx="9000145" cy="875792"/>
          </a:xfrm>
          <a:prstGeom prst="rect">
            <a:avLst/>
          </a:prstGeom>
        </p:spPr>
        <p:txBody>
          <a:bodyPr anchor="t" rtlCol="false" tIns="0" lIns="0" bIns="0" rIns="0">
            <a:spAutoFit/>
          </a:bodyPr>
          <a:lstStyle/>
          <a:p>
            <a:pPr algn="l">
              <a:lnSpc>
                <a:spcPts val="6783"/>
              </a:lnSpc>
              <a:spcBef>
                <a:spcPct val="0"/>
              </a:spcBef>
            </a:pPr>
            <a:r>
              <a:rPr lang="en-US" b="true" sz="6399">
                <a:solidFill>
                  <a:srgbClr val="FFFFFF"/>
                </a:solidFill>
                <a:latin typeface="TT Lakes Neue Bold"/>
                <a:ea typeface="TT Lakes Neue Bold"/>
                <a:cs typeface="TT Lakes Neue Bold"/>
                <a:sym typeface="TT Lakes Neue Bold"/>
              </a:rPr>
              <a:t>3.ƯU ĐIỂM</a:t>
            </a:r>
          </a:p>
        </p:txBody>
      </p:sp>
      <p:sp>
        <p:nvSpPr>
          <p:cNvPr name="TextBox 7" id="7"/>
          <p:cNvSpPr txBox="true"/>
          <p:nvPr/>
        </p:nvSpPr>
        <p:spPr>
          <a:xfrm rot="0">
            <a:off x="6365801" y="493530"/>
            <a:ext cx="5702432" cy="1167826"/>
          </a:xfrm>
          <a:prstGeom prst="rect">
            <a:avLst/>
          </a:prstGeom>
        </p:spPr>
        <p:txBody>
          <a:bodyPr anchor="t" rtlCol="false" tIns="0" lIns="0" bIns="0" rIns="0">
            <a:spAutoFit/>
          </a:bodyPr>
          <a:lstStyle/>
          <a:p>
            <a:pPr algn="l">
              <a:lnSpc>
                <a:spcPts val="8936"/>
              </a:lnSpc>
              <a:spcBef>
                <a:spcPct val="0"/>
              </a:spcBef>
            </a:pPr>
            <a:r>
              <a:rPr lang="en-US" b="true" sz="8430">
                <a:solidFill>
                  <a:srgbClr val="84E3F8"/>
                </a:solidFill>
                <a:latin typeface="TT Lakes Neue Bold"/>
                <a:ea typeface="TT Lakes Neue Bold"/>
                <a:cs typeface="TT Lakes Neue Bold"/>
                <a:sym typeface="TT Lakes Neue Bold"/>
              </a:rPr>
              <a:t>CHAT GPT</a:t>
            </a:r>
          </a:p>
        </p:txBody>
      </p:sp>
      <p:sp>
        <p:nvSpPr>
          <p:cNvPr name="TextBox 8" id="8"/>
          <p:cNvSpPr txBox="true"/>
          <p:nvPr/>
        </p:nvSpPr>
        <p:spPr>
          <a:xfrm rot="0">
            <a:off x="10542768" y="4132712"/>
            <a:ext cx="8110263" cy="3095087"/>
          </a:xfrm>
          <a:prstGeom prst="rect">
            <a:avLst/>
          </a:prstGeom>
        </p:spPr>
        <p:txBody>
          <a:bodyPr anchor="t" rtlCol="false" tIns="0" lIns="0" bIns="0" rIns="0">
            <a:spAutoFit/>
          </a:bodyPr>
          <a:lstStyle/>
          <a:p>
            <a:pPr algn="l">
              <a:lnSpc>
                <a:spcPts val="4073"/>
              </a:lnSpc>
            </a:pPr>
          </a:p>
          <a:p>
            <a:pPr algn="l">
              <a:lnSpc>
                <a:spcPts val="4073"/>
              </a:lnSpc>
            </a:pPr>
            <a:r>
              <a:rPr lang="en-US" sz="3842" b="true">
                <a:solidFill>
                  <a:srgbClr val="FFFFFF"/>
                </a:solidFill>
                <a:latin typeface="Raleway Bold"/>
                <a:ea typeface="Raleway Bold"/>
                <a:cs typeface="Raleway Bold"/>
                <a:sym typeface="Raleway Bold"/>
              </a:rPr>
              <a:t> -Trả lời nhanh </a:t>
            </a:r>
          </a:p>
          <a:p>
            <a:pPr algn="l">
              <a:lnSpc>
                <a:spcPts val="4073"/>
              </a:lnSpc>
            </a:pPr>
            <a:r>
              <a:rPr lang="en-US" sz="3842" b="true">
                <a:solidFill>
                  <a:srgbClr val="FFFFFF"/>
                </a:solidFill>
                <a:latin typeface="Raleway Bold"/>
                <a:ea typeface="Raleway Bold"/>
                <a:cs typeface="Raleway Bold"/>
                <a:sym typeface="Raleway Bold"/>
              </a:rPr>
              <a:t> -Dễ sử dụng </a:t>
            </a:r>
          </a:p>
          <a:p>
            <a:pPr algn="l">
              <a:lnSpc>
                <a:spcPts val="4073"/>
              </a:lnSpc>
            </a:pPr>
            <a:r>
              <a:rPr lang="en-US" sz="3842" b="true">
                <a:solidFill>
                  <a:srgbClr val="FFFFFF"/>
                </a:solidFill>
                <a:latin typeface="Raleway Bold"/>
                <a:ea typeface="Raleway Bold"/>
                <a:cs typeface="Raleway Bold"/>
                <a:sym typeface="Raleway Bold"/>
              </a:rPr>
              <a:t> -Hỗ trợ nhiều lĩnh vực </a:t>
            </a:r>
          </a:p>
          <a:p>
            <a:pPr algn="l">
              <a:lnSpc>
                <a:spcPts val="4073"/>
              </a:lnSpc>
              <a:spcBef>
                <a:spcPct val="0"/>
              </a:spcBef>
            </a:pPr>
            <a:r>
              <a:rPr lang="en-US" b="true" sz="3842">
                <a:solidFill>
                  <a:srgbClr val="FFFFFF"/>
                </a:solidFill>
                <a:latin typeface="Raleway Bold"/>
                <a:ea typeface="Raleway Bold"/>
                <a:cs typeface="Raleway Bold"/>
                <a:sym typeface="Raleway Bold"/>
              </a:rPr>
              <a:t> -Dùng được nhiều ngôn ngữ (trong đó có tiếng Việt)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F40">
                <a:alpha val="100000"/>
              </a:srgbClr>
            </a:gs>
            <a:gs pos="100000">
              <a:srgbClr val="3D6D81">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8486838" y="3829177"/>
            <a:ext cx="1314323" cy="1314323"/>
          </a:xfrm>
          <a:custGeom>
            <a:avLst/>
            <a:gdLst/>
            <a:ahLst/>
            <a:cxnLst/>
            <a:rect r="r" b="b" t="t" l="l"/>
            <a:pathLst>
              <a:path h="1314323" w="1314323">
                <a:moveTo>
                  <a:pt x="0" y="0"/>
                </a:moveTo>
                <a:lnTo>
                  <a:pt x="1314324" y="0"/>
                </a:lnTo>
                <a:lnTo>
                  <a:pt x="1314324" y="1314323"/>
                </a:lnTo>
                <a:lnTo>
                  <a:pt x="0" y="13143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653348" y="3191915"/>
            <a:ext cx="8104458" cy="6085711"/>
          </a:xfrm>
          <a:custGeom>
            <a:avLst/>
            <a:gdLst/>
            <a:ahLst/>
            <a:cxnLst/>
            <a:rect r="r" b="b" t="t" l="l"/>
            <a:pathLst>
              <a:path h="6085711" w="8104458">
                <a:moveTo>
                  <a:pt x="0" y="0"/>
                </a:moveTo>
                <a:lnTo>
                  <a:pt x="8104458" y="0"/>
                </a:lnTo>
                <a:lnTo>
                  <a:pt x="8104458" y="6085712"/>
                </a:lnTo>
                <a:lnTo>
                  <a:pt x="0" y="60857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2224613" y="3122331"/>
            <a:ext cx="4961928" cy="6291878"/>
            <a:chOff x="0" y="0"/>
            <a:chExt cx="768732" cy="974776"/>
          </a:xfrm>
        </p:grpSpPr>
        <p:sp>
          <p:nvSpPr>
            <p:cNvPr name="Freeform 5" id="5"/>
            <p:cNvSpPr/>
            <p:nvPr/>
          </p:nvSpPr>
          <p:spPr>
            <a:xfrm flipH="false" flipV="false" rot="0">
              <a:off x="0" y="0"/>
              <a:ext cx="768732" cy="974776"/>
            </a:xfrm>
            <a:custGeom>
              <a:avLst/>
              <a:gdLst/>
              <a:ahLst/>
              <a:cxnLst/>
              <a:rect r="r" b="b" t="t" l="l"/>
              <a:pathLst>
                <a:path h="974776" w="768732">
                  <a:moveTo>
                    <a:pt x="0" y="0"/>
                  </a:moveTo>
                  <a:lnTo>
                    <a:pt x="768732" y="0"/>
                  </a:lnTo>
                  <a:lnTo>
                    <a:pt x="768732" y="974776"/>
                  </a:lnTo>
                  <a:lnTo>
                    <a:pt x="0" y="974776"/>
                  </a:lnTo>
                  <a:close/>
                </a:path>
              </a:pathLst>
            </a:custGeom>
            <a:blipFill>
              <a:blip r:embed="rId6"/>
              <a:stretch>
                <a:fillRect l="-13401" t="0" r="-13401" b="0"/>
              </a:stretch>
            </a:blipFill>
          </p:spPr>
        </p:sp>
      </p:grpSp>
      <p:sp>
        <p:nvSpPr>
          <p:cNvPr name="TextBox 6" id="6"/>
          <p:cNvSpPr txBox="true"/>
          <p:nvPr/>
        </p:nvSpPr>
        <p:spPr>
          <a:xfrm rot="0">
            <a:off x="10801641" y="2246539"/>
            <a:ext cx="9000145" cy="875792"/>
          </a:xfrm>
          <a:prstGeom prst="rect">
            <a:avLst/>
          </a:prstGeom>
        </p:spPr>
        <p:txBody>
          <a:bodyPr anchor="t" rtlCol="false" tIns="0" lIns="0" bIns="0" rIns="0">
            <a:spAutoFit/>
          </a:bodyPr>
          <a:lstStyle/>
          <a:p>
            <a:pPr algn="l">
              <a:lnSpc>
                <a:spcPts val="6783"/>
              </a:lnSpc>
              <a:spcBef>
                <a:spcPct val="0"/>
              </a:spcBef>
            </a:pPr>
            <a:r>
              <a:rPr lang="en-US" b="true" sz="6399">
                <a:solidFill>
                  <a:srgbClr val="FFFFFF"/>
                </a:solidFill>
                <a:latin typeface="TT Lakes Neue Bold"/>
                <a:ea typeface="TT Lakes Neue Bold"/>
                <a:cs typeface="TT Lakes Neue Bold"/>
                <a:sym typeface="TT Lakes Neue Bold"/>
              </a:rPr>
              <a:t>4.HẠN CHẾ</a:t>
            </a:r>
          </a:p>
        </p:txBody>
      </p:sp>
      <p:sp>
        <p:nvSpPr>
          <p:cNvPr name="TextBox 7" id="7"/>
          <p:cNvSpPr txBox="true"/>
          <p:nvPr/>
        </p:nvSpPr>
        <p:spPr>
          <a:xfrm rot="0">
            <a:off x="6292784" y="501937"/>
            <a:ext cx="5702432" cy="1167826"/>
          </a:xfrm>
          <a:prstGeom prst="rect">
            <a:avLst/>
          </a:prstGeom>
        </p:spPr>
        <p:txBody>
          <a:bodyPr anchor="t" rtlCol="false" tIns="0" lIns="0" bIns="0" rIns="0">
            <a:spAutoFit/>
          </a:bodyPr>
          <a:lstStyle/>
          <a:p>
            <a:pPr algn="l">
              <a:lnSpc>
                <a:spcPts val="8936"/>
              </a:lnSpc>
              <a:spcBef>
                <a:spcPct val="0"/>
              </a:spcBef>
            </a:pPr>
            <a:r>
              <a:rPr lang="en-US" b="true" sz="8430">
                <a:solidFill>
                  <a:srgbClr val="84E3F8"/>
                </a:solidFill>
                <a:latin typeface="TT Lakes Neue Bold"/>
                <a:ea typeface="TT Lakes Neue Bold"/>
                <a:cs typeface="TT Lakes Neue Bold"/>
                <a:sym typeface="TT Lakes Neue Bold"/>
              </a:rPr>
              <a:t>CHAT GPT</a:t>
            </a:r>
          </a:p>
        </p:txBody>
      </p:sp>
      <p:sp>
        <p:nvSpPr>
          <p:cNvPr name="TextBox 8" id="8"/>
          <p:cNvSpPr txBox="true"/>
          <p:nvPr/>
        </p:nvSpPr>
        <p:spPr>
          <a:xfrm rot="0">
            <a:off x="10119012" y="3713804"/>
            <a:ext cx="8110263" cy="3999611"/>
          </a:xfrm>
          <a:prstGeom prst="rect">
            <a:avLst/>
          </a:prstGeom>
        </p:spPr>
        <p:txBody>
          <a:bodyPr anchor="t" rtlCol="false" tIns="0" lIns="0" bIns="0" rIns="0">
            <a:spAutoFit/>
          </a:bodyPr>
          <a:lstStyle/>
          <a:p>
            <a:pPr algn="l">
              <a:lnSpc>
                <a:spcPts val="3921"/>
              </a:lnSpc>
            </a:pPr>
          </a:p>
          <a:p>
            <a:pPr algn="l">
              <a:lnSpc>
                <a:spcPts val="3921"/>
              </a:lnSpc>
            </a:pPr>
            <a:r>
              <a:rPr lang="en-US" sz="3699" b="true">
                <a:solidFill>
                  <a:srgbClr val="FFFFFF"/>
                </a:solidFill>
                <a:latin typeface="Raleway Semi-Bold"/>
                <a:ea typeface="Raleway Semi-Bold"/>
                <a:cs typeface="Raleway Semi-Bold"/>
                <a:sym typeface="Raleway Semi-Bold"/>
              </a:rPr>
              <a:t>-Có thể trả lời sai hoặc chưa chính xác </a:t>
            </a:r>
          </a:p>
          <a:p>
            <a:pPr algn="l">
              <a:lnSpc>
                <a:spcPts val="3921"/>
              </a:lnSpc>
            </a:pPr>
            <a:r>
              <a:rPr lang="en-US" sz="3699" b="true">
                <a:solidFill>
                  <a:srgbClr val="FFFFFF"/>
                </a:solidFill>
                <a:latin typeface="Raleway Semi-Bold"/>
                <a:ea typeface="Raleway Semi-Bold"/>
                <a:cs typeface="Raleway Semi-Bold"/>
                <a:sym typeface="Raleway Semi-Bold"/>
              </a:rPr>
              <a:t>-Không cập nhật tin tức theo thời gian thực (nếu không được kết nối web) </a:t>
            </a:r>
          </a:p>
          <a:p>
            <a:pPr algn="l">
              <a:lnSpc>
                <a:spcPts val="3921"/>
              </a:lnSpc>
              <a:spcBef>
                <a:spcPct val="0"/>
              </a:spcBef>
            </a:pPr>
            <a:r>
              <a:rPr lang="en-US" b="true" sz="3699">
                <a:solidFill>
                  <a:srgbClr val="FFFFFF"/>
                </a:solidFill>
                <a:latin typeface="Raleway Semi-Bold"/>
                <a:ea typeface="Raleway Semi-Bold"/>
                <a:cs typeface="Raleway Semi-Bold"/>
                <a:sym typeface="Raleway Semi-Bold"/>
              </a:rPr>
              <a:t>-Phụ thuộc vào cách đặt câu hỏi của người dùng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F40">
                <a:alpha val="100000"/>
              </a:srgbClr>
            </a:gs>
            <a:gs pos="100000">
              <a:srgbClr val="3D6D81">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7760947" y="3224255"/>
            <a:ext cx="1140045" cy="1140045"/>
          </a:xfrm>
          <a:custGeom>
            <a:avLst/>
            <a:gdLst/>
            <a:ahLst/>
            <a:cxnLst/>
            <a:rect r="r" b="b" t="t" l="l"/>
            <a:pathLst>
              <a:path h="1140045" w="1140045">
                <a:moveTo>
                  <a:pt x="0" y="0"/>
                </a:moveTo>
                <a:lnTo>
                  <a:pt x="1140045" y="0"/>
                </a:lnTo>
                <a:lnTo>
                  <a:pt x="1140045" y="1140046"/>
                </a:lnTo>
                <a:lnTo>
                  <a:pt x="0" y="11400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19073" y="2048814"/>
            <a:ext cx="6342325" cy="6227010"/>
          </a:xfrm>
          <a:custGeom>
            <a:avLst/>
            <a:gdLst/>
            <a:ahLst/>
            <a:cxnLst/>
            <a:rect r="r" b="b" t="t" l="l"/>
            <a:pathLst>
              <a:path h="6227010" w="6342325">
                <a:moveTo>
                  <a:pt x="0" y="0"/>
                </a:moveTo>
                <a:lnTo>
                  <a:pt x="6342325" y="0"/>
                </a:lnTo>
                <a:lnTo>
                  <a:pt x="6342325" y="6227010"/>
                </a:lnTo>
                <a:lnTo>
                  <a:pt x="0" y="6227010"/>
                </a:lnTo>
                <a:lnTo>
                  <a:pt x="0" y="0"/>
                </a:lnTo>
                <a:close/>
              </a:path>
            </a:pathLst>
          </a:custGeom>
          <a:blipFill>
            <a:blip r:embed="rId4">
              <a:alphaModFix amt="68000"/>
              <a:extLst>
                <a:ext uri="{96DAC541-7B7A-43D3-8B79-37D633B846F1}">
                  <asvg:svgBlip xmlns:asvg="http://schemas.microsoft.com/office/drawing/2016/SVG/main" r:embed="rId5"/>
                </a:ext>
              </a:extLst>
            </a:blip>
            <a:stretch>
              <a:fillRect l="0" t="0" r="0" b="0"/>
            </a:stretch>
          </a:blipFill>
        </p:spPr>
      </p:sp>
      <p:grpSp>
        <p:nvGrpSpPr>
          <p:cNvPr name="Group 4" id="4"/>
          <p:cNvGrpSpPr>
            <a:grpSpLocks noChangeAspect="true"/>
          </p:cNvGrpSpPr>
          <p:nvPr/>
        </p:nvGrpSpPr>
        <p:grpSpPr>
          <a:xfrm rot="0">
            <a:off x="1711939" y="2933754"/>
            <a:ext cx="4356595" cy="4356595"/>
            <a:chOff x="0" y="0"/>
            <a:chExt cx="14840029" cy="14840029"/>
          </a:xfrm>
        </p:grpSpPr>
        <p:sp>
          <p:nvSpPr>
            <p:cNvPr name="Freeform 5" id="5"/>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0BBDE"/>
            </a:solidFill>
          </p:spPr>
        </p:sp>
        <p:sp>
          <p:nvSpPr>
            <p:cNvPr name="Freeform 6" id="6"/>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7" id="7"/>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6"/>
              <a:stretch>
                <a:fillRect l="223" t="0" r="223" b="0"/>
              </a:stretch>
            </a:blipFill>
          </p:spPr>
        </p:sp>
      </p:grpSp>
      <p:sp>
        <p:nvSpPr>
          <p:cNvPr name="TextBox 8" id="8"/>
          <p:cNvSpPr txBox="true"/>
          <p:nvPr/>
        </p:nvSpPr>
        <p:spPr>
          <a:xfrm rot="0">
            <a:off x="10281083" y="1772932"/>
            <a:ext cx="8624744" cy="1733042"/>
          </a:xfrm>
          <a:prstGeom prst="rect">
            <a:avLst/>
          </a:prstGeom>
        </p:spPr>
        <p:txBody>
          <a:bodyPr anchor="t" rtlCol="false" tIns="0" lIns="0" bIns="0" rIns="0">
            <a:spAutoFit/>
          </a:bodyPr>
          <a:lstStyle/>
          <a:p>
            <a:pPr algn="l">
              <a:lnSpc>
                <a:spcPts val="6783"/>
              </a:lnSpc>
            </a:pPr>
            <a:r>
              <a:rPr lang="en-US" sz="6399" b="true">
                <a:solidFill>
                  <a:srgbClr val="FFFFFF"/>
                </a:solidFill>
                <a:latin typeface="TT Lakes Neue Bold"/>
                <a:ea typeface="TT Lakes Neue Bold"/>
                <a:cs typeface="TT Lakes Neue Bold"/>
                <a:sym typeface="TT Lakes Neue Bold"/>
              </a:rPr>
              <a:t>1.KHÁI NIỆM</a:t>
            </a:r>
          </a:p>
          <a:p>
            <a:pPr algn="l">
              <a:lnSpc>
                <a:spcPts val="6783"/>
              </a:lnSpc>
              <a:spcBef>
                <a:spcPct val="0"/>
              </a:spcBef>
            </a:pPr>
          </a:p>
        </p:txBody>
      </p:sp>
      <p:sp>
        <p:nvSpPr>
          <p:cNvPr name="TextBox 9" id="9"/>
          <p:cNvSpPr txBox="true"/>
          <p:nvPr/>
        </p:nvSpPr>
        <p:spPr>
          <a:xfrm rot="0">
            <a:off x="6444051" y="138723"/>
            <a:ext cx="6798762" cy="1167826"/>
          </a:xfrm>
          <a:prstGeom prst="rect">
            <a:avLst/>
          </a:prstGeom>
        </p:spPr>
        <p:txBody>
          <a:bodyPr anchor="t" rtlCol="false" tIns="0" lIns="0" bIns="0" rIns="0">
            <a:spAutoFit/>
          </a:bodyPr>
          <a:lstStyle/>
          <a:p>
            <a:pPr algn="l">
              <a:lnSpc>
                <a:spcPts val="8936"/>
              </a:lnSpc>
              <a:spcBef>
                <a:spcPct val="0"/>
              </a:spcBef>
            </a:pPr>
            <a:r>
              <a:rPr lang="en-US" b="true" sz="8430">
                <a:solidFill>
                  <a:srgbClr val="84E3F8"/>
                </a:solidFill>
                <a:latin typeface="TT Lakes Neue Bold"/>
                <a:ea typeface="TT Lakes Neue Bold"/>
                <a:cs typeface="TT Lakes Neue Bold"/>
                <a:sym typeface="TT Lakes Neue Bold"/>
              </a:rPr>
              <a:t>GAMMA</a:t>
            </a:r>
          </a:p>
        </p:txBody>
      </p:sp>
      <p:sp>
        <p:nvSpPr>
          <p:cNvPr name="TextBox 10" id="10"/>
          <p:cNvSpPr txBox="true"/>
          <p:nvPr/>
        </p:nvSpPr>
        <p:spPr>
          <a:xfrm rot="0">
            <a:off x="9600541" y="3010027"/>
            <a:ext cx="7284546" cy="4305046"/>
          </a:xfrm>
          <a:prstGeom prst="rect">
            <a:avLst/>
          </a:prstGeom>
        </p:spPr>
        <p:txBody>
          <a:bodyPr anchor="t" rtlCol="false" tIns="0" lIns="0" bIns="0" rIns="0">
            <a:spAutoFit/>
          </a:bodyPr>
          <a:lstStyle/>
          <a:p>
            <a:pPr algn="l">
              <a:lnSpc>
                <a:spcPts val="3392"/>
              </a:lnSpc>
            </a:pPr>
          </a:p>
          <a:p>
            <a:pPr algn="l">
              <a:lnSpc>
                <a:spcPts val="3392"/>
              </a:lnSpc>
              <a:spcBef>
                <a:spcPct val="0"/>
              </a:spcBef>
            </a:pPr>
            <a:r>
              <a:rPr lang="en-US" b="true" sz="3200">
                <a:solidFill>
                  <a:srgbClr val="FFFFFF"/>
                </a:solidFill>
                <a:latin typeface="Raleway Bold"/>
                <a:ea typeface="Raleway Bold"/>
                <a:cs typeface="Raleway Bold"/>
                <a:sym typeface="Raleway Bold"/>
              </a:rPr>
              <a:t>Gamma là một nền tảng trí tuệ nhân tạo (AI) giúp người dùng tạo các bài thuyết trình, tài liệu, trang web hoặc nội dung trực quan đẹp mắt nhanh chóng mà không cần kỹ năng thiết kế chuyên sâu. Bạn chỉ cần nhập chủ đề, ý tưởng hoặc dán nội dung — Gamma sẽ tự động tạo bố cục, hình ảnh, văn bản và thiết kế đẹp ngay lập tức.</a:t>
            </a:r>
          </a:p>
        </p:txBody>
      </p:sp>
      <p:sp>
        <p:nvSpPr>
          <p:cNvPr name="Freeform 11" id="11"/>
          <p:cNvSpPr/>
          <p:nvPr/>
        </p:nvSpPr>
        <p:spPr>
          <a:xfrm flipH="false" flipV="false" rot="0">
            <a:off x="15990108" y="7290349"/>
            <a:ext cx="1789958" cy="1757413"/>
          </a:xfrm>
          <a:custGeom>
            <a:avLst/>
            <a:gdLst/>
            <a:ahLst/>
            <a:cxnLst/>
            <a:rect r="r" b="b" t="t" l="l"/>
            <a:pathLst>
              <a:path h="1757413" w="1789958">
                <a:moveTo>
                  <a:pt x="0" y="0"/>
                </a:moveTo>
                <a:lnTo>
                  <a:pt x="1789957" y="0"/>
                </a:lnTo>
                <a:lnTo>
                  <a:pt x="1789957" y="1757413"/>
                </a:lnTo>
                <a:lnTo>
                  <a:pt x="0" y="1757413"/>
                </a:lnTo>
                <a:lnTo>
                  <a:pt x="0" y="0"/>
                </a:lnTo>
                <a:close/>
              </a:path>
            </a:pathLst>
          </a:custGeom>
          <a:blipFill>
            <a:blip r:embed="rId4">
              <a:alphaModFix amt="27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F40">
                <a:alpha val="100000"/>
              </a:srgbClr>
            </a:gs>
            <a:gs pos="100000">
              <a:srgbClr val="3D6D81">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5302233" y="2191707"/>
            <a:ext cx="963080" cy="963080"/>
          </a:xfrm>
          <a:custGeom>
            <a:avLst/>
            <a:gdLst/>
            <a:ahLst/>
            <a:cxnLst/>
            <a:rect r="r" b="b" t="t" l="l"/>
            <a:pathLst>
              <a:path h="963080" w="963080">
                <a:moveTo>
                  <a:pt x="0" y="0"/>
                </a:moveTo>
                <a:lnTo>
                  <a:pt x="963080" y="0"/>
                </a:lnTo>
                <a:lnTo>
                  <a:pt x="963080" y="963081"/>
                </a:lnTo>
                <a:lnTo>
                  <a:pt x="0" y="9630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2493778"/>
            <a:ext cx="5302233" cy="5205828"/>
          </a:xfrm>
          <a:custGeom>
            <a:avLst/>
            <a:gdLst/>
            <a:ahLst/>
            <a:cxnLst/>
            <a:rect r="r" b="b" t="t" l="l"/>
            <a:pathLst>
              <a:path h="5205828" w="5302233">
                <a:moveTo>
                  <a:pt x="0" y="0"/>
                </a:moveTo>
                <a:lnTo>
                  <a:pt x="5302233" y="0"/>
                </a:lnTo>
                <a:lnTo>
                  <a:pt x="5302233" y="5205829"/>
                </a:lnTo>
                <a:lnTo>
                  <a:pt x="0" y="5205829"/>
                </a:lnTo>
                <a:lnTo>
                  <a:pt x="0" y="0"/>
                </a:lnTo>
                <a:close/>
              </a:path>
            </a:pathLst>
          </a:custGeom>
          <a:blipFill>
            <a:blip r:embed="rId4">
              <a:alphaModFix amt="68000"/>
              <a:extLst>
                <a:ext uri="{96DAC541-7B7A-43D3-8B79-37D633B846F1}">
                  <asvg:svgBlip xmlns:asvg="http://schemas.microsoft.com/office/drawing/2016/SVG/main" r:embed="rId5"/>
                </a:ext>
              </a:extLst>
            </a:blip>
            <a:stretch>
              <a:fillRect l="0" t="0" r="0" b="0"/>
            </a:stretch>
          </a:blipFill>
        </p:spPr>
      </p:sp>
      <p:grpSp>
        <p:nvGrpSpPr>
          <p:cNvPr name="Group 4" id="4"/>
          <p:cNvGrpSpPr>
            <a:grpSpLocks noChangeAspect="true"/>
          </p:cNvGrpSpPr>
          <p:nvPr/>
        </p:nvGrpSpPr>
        <p:grpSpPr>
          <a:xfrm rot="0">
            <a:off x="472819" y="2918395"/>
            <a:ext cx="4356595" cy="4356595"/>
            <a:chOff x="0" y="0"/>
            <a:chExt cx="14840029" cy="14840029"/>
          </a:xfrm>
        </p:grpSpPr>
        <p:sp>
          <p:nvSpPr>
            <p:cNvPr name="Freeform 5" id="5"/>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0BBDE"/>
            </a:solidFill>
          </p:spPr>
        </p:sp>
        <p:sp>
          <p:nvSpPr>
            <p:cNvPr name="Freeform 6" id="6"/>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7" id="7"/>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6"/>
              <a:stretch>
                <a:fillRect l="223" t="0" r="223" b="0"/>
              </a:stretch>
            </a:blipFill>
          </p:spPr>
        </p:sp>
      </p:grpSp>
      <p:sp>
        <p:nvSpPr>
          <p:cNvPr name="TextBox 8" id="8"/>
          <p:cNvSpPr txBox="true"/>
          <p:nvPr/>
        </p:nvSpPr>
        <p:spPr>
          <a:xfrm rot="0">
            <a:off x="7476771" y="559082"/>
            <a:ext cx="10303294" cy="1681861"/>
          </a:xfrm>
          <a:prstGeom prst="rect">
            <a:avLst/>
          </a:prstGeom>
        </p:spPr>
        <p:txBody>
          <a:bodyPr anchor="t" rtlCol="false" tIns="0" lIns="0" bIns="0" rIns="0">
            <a:spAutoFit/>
          </a:bodyPr>
          <a:lstStyle/>
          <a:p>
            <a:pPr algn="l">
              <a:lnSpc>
                <a:spcPts val="6572"/>
              </a:lnSpc>
              <a:spcBef>
                <a:spcPct val="0"/>
              </a:spcBef>
            </a:pPr>
            <a:r>
              <a:rPr lang="en-US" b="true" sz="6200">
                <a:solidFill>
                  <a:srgbClr val="FFFFFF"/>
                </a:solidFill>
                <a:latin typeface="TT Lakes Neue Bold"/>
                <a:ea typeface="TT Lakes Neue Bold"/>
                <a:cs typeface="TT Lakes Neue Bold"/>
                <a:sym typeface="TT Lakes Neue Bold"/>
              </a:rPr>
              <a:t>2.CÁCH THỨC HOẠT ĐỘNG</a:t>
            </a:r>
          </a:p>
        </p:txBody>
      </p:sp>
      <p:sp>
        <p:nvSpPr>
          <p:cNvPr name="TextBox 9" id="9"/>
          <p:cNvSpPr txBox="true"/>
          <p:nvPr/>
        </p:nvSpPr>
        <p:spPr>
          <a:xfrm rot="0">
            <a:off x="968565" y="830387"/>
            <a:ext cx="6798762" cy="1167826"/>
          </a:xfrm>
          <a:prstGeom prst="rect">
            <a:avLst/>
          </a:prstGeom>
        </p:spPr>
        <p:txBody>
          <a:bodyPr anchor="t" rtlCol="false" tIns="0" lIns="0" bIns="0" rIns="0">
            <a:spAutoFit/>
          </a:bodyPr>
          <a:lstStyle/>
          <a:p>
            <a:pPr algn="l">
              <a:lnSpc>
                <a:spcPts val="8936"/>
              </a:lnSpc>
              <a:spcBef>
                <a:spcPct val="0"/>
              </a:spcBef>
            </a:pPr>
            <a:r>
              <a:rPr lang="en-US" b="true" sz="8430">
                <a:solidFill>
                  <a:srgbClr val="84E3F8"/>
                </a:solidFill>
                <a:latin typeface="TT Lakes Neue Bold"/>
                <a:ea typeface="TT Lakes Neue Bold"/>
                <a:cs typeface="TT Lakes Neue Bold"/>
                <a:sym typeface="TT Lakes Neue Bold"/>
              </a:rPr>
              <a:t>GAMMA</a:t>
            </a:r>
          </a:p>
        </p:txBody>
      </p:sp>
      <p:sp>
        <p:nvSpPr>
          <p:cNvPr name="TextBox 10" id="10"/>
          <p:cNvSpPr txBox="true"/>
          <p:nvPr/>
        </p:nvSpPr>
        <p:spPr>
          <a:xfrm rot="0">
            <a:off x="6413995" y="2017263"/>
            <a:ext cx="11874005" cy="7813803"/>
          </a:xfrm>
          <a:prstGeom prst="rect">
            <a:avLst/>
          </a:prstGeom>
        </p:spPr>
        <p:txBody>
          <a:bodyPr anchor="t" rtlCol="false" tIns="0" lIns="0" bIns="0" rIns="0">
            <a:spAutoFit/>
          </a:bodyPr>
          <a:lstStyle/>
          <a:p>
            <a:pPr algn="l">
              <a:lnSpc>
                <a:spcPts val="3603"/>
              </a:lnSpc>
            </a:pPr>
          </a:p>
          <a:p>
            <a:pPr algn="l">
              <a:lnSpc>
                <a:spcPts val="3603"/>
              </a:lnSpc>
            </a:pPr>
            <a:r>
              <a:rPr lang="en-US" sz="3399" b="true">
                <a:solidFill>
                  <a:srgbClr val="FFFFFF"/>
                </a:solidFill>
                <a:latin typeface="Raleway Bold"/>
                <a:ea typeface="Raleway Bold"/>
                <a:cs typeface="Raleway Bold"/>
                <a:sym typeface="Raleway Bold"/>
              </a:rPr>
              <a:t>-Trong công nghệ: </a:t>
            </a:r>
          </a:p>
          <a:p>
            <a:pPr algn="l">
              <a:lnSpc>
                <a:spcPts val="3603"/>
              </a:lnSpc>
            </a:pPr>
            <a:r>
              <a:rPr lang="en-US" sz="3399" b="true">
                <a:solidFill>
                  <a:srgbClr val="FFFFFF"/>
                </a:solidFill>
                <a:latin typeface="Raleway Bold"/>
                <a:ea typeface="Raleway Bold"/>
                <a:cs typeface="Raleway Bold"/>
                <a:sym typeface="Raleway Bold"/>
              </a:rPr>
              <a:t>+Gamma trong màn hình/camera: Chỉ mức độ tương phản màu sắc, giúp hình ảnh trông tự nhiên hơn.</a:t>
            </a:r>
          </a:p>
          <a:p>
            <a:pPr algn="l">
              <a:lnSpc>
                <a:spcPts val="3603"/>
              </a:lnSpc>
            </a:pPr>
            <a:r>
              <a:rPr lang="en-US" sz="3399" b="true">
                <a:solidFill>
                  <a:srgbClr val="FFFFFF"/>
                </a:solidFill>
                <a:latin typeface="Raleway Bold"/>
                <a:ea typeface="Raleway Bold"/>
                <a:cs typeface="Raleway Bold"/>
                <a:sym typeface="Raleway Bold"/>
              </a:rPr>
              <a:t>+Gamma correction: Điều chỉnh độ sáng/tối trong hình ảnh và video </a:t>
            </a:r>
          </a:p>
          <a:p>
            <a:pPr algn="l">
              <a:lnSpc>
                <a:spcPts val="3603"/>
              </a:lnSpc>
            </a:pPr>
            <a:r>
              <a:rPr lang="en-US" sz="3399" b="true">
                <a:solidFill>
                  <a:srgbClr val="FFFFFF"/>
                </a:solidFill>
                <a:latin typeface="Raleway Bold"/>
                <a:ea typeface="Raleway Bold"/>
                <a:cs typeface="Raleway Bold"/>
                <a:sym typeface="Raleway Bold"/>
              </a:rPr>
              <a:t>-Trong khoa học:</a:t>
            </a:r>
          </a:p>
          <a:p>
            <a:pPr algn="l">
              <a:lnSpc>
                <a:spcPts val="3603"/>
              </a:lnSpc>
            </a:pPr>
            <a:r>
              <a:rPr lang="en-US" sz="3399" b="true">
                <a:solidFill>
                  <a:srgbClr val="FFFFFF"/>
                </a:solidFill>
                <a:latin typeface="Raleway Bold"/>
                <a:ea typeface="Raleway Bold"/>
                <a:cs typeface="Raleway Bold"/>
                <a:sym typeface="Raleway Bold"/>
              </a:rPr>
              <a:t>+Gamma trong vật lý: Bức xạ gamma - loại bức xạ điện từ có năng lượng cao, dùng trong y học (xạ trị) và nghiên cứu </a:t>
            </a:r>
          </a:p>
          <a:p>
            <a:pPr algn="l">
              <a:lnSpc>
                <a:spcPts val="3603"/>
              </a:lnSpc>
            </a:pPr>
            <a:r>
              <a:rPr lang="en-US" sz="3399" b="true">
                <a:solidFill>
                  <a:srgbClr val="FFFFFF"/>
                </a:solidFill>
                <a:latin typeface="Raleway Bold"/>
                <a:ea typeface="Raleway Bold"/>
                <a:cs typeface="Raleway Bold"/>
                <a:sym typeface="Raleway Bold"/>
              </a:rPr>
              <a:t>+Gamma_ trong thần kinh học: Sóng não gamma liên quan đến hoạt động trí não cao cấp</a:t>
            </a:r>
          </a:p>
          <a:p>
            <a:pPr algn="l">
              <a:lnSpc>
                <a:spcPts val="3603"/>
              </a:lnSpc>
            </a:pPr>
            <a:r>
              <a:rPr lang="en-US" sz="3399" b="true">
                <a:solidFill>
                  <a:srgbClr val="FFFFFF"/>
                </a:solidFill>
                <a:latin typeface="Raleway Bold"/>
                <a:ea typeface="Raleway Bold"/>
                <a:cs typeface="Raleway Bold"/>
                <a:sym typeface="Raleway Bold"/>
              </a:rPr>
              <a:t> -Trong đời sống:</a:t>
            </a:r>
          </a:p>
          <a:p>
            <a:pPr algn="l">
              <a:lnSpc>
                <a:spcPts val="3603"/>
              </a:lnSpc>
            </a:pPr>
            <a:r>
              <a:rPr lang="en-US" sz="3399" b="true">
                <a:solidFill>
                  <a:srgbClr val="FFFFFF"/>
                </a:solidFill>
                <a:latin typeface="Raleway Bold"/>
                <a:ea typeface="Raleway Bold"/>
                <a:cs typeface="Raleway Bold"/>
                <a:sym typeface="Raleway Bold"/>
              </a:rPr>
              <a:t> +Gamma như một "điểm nhấn": Trong thiết kế đồ họa/phim ảnh, điều chỉnh gamma giúp hình ảnh đẹp hơn </a:t>
            </a:r>
          </a:p>
          <a:p>
            <a:pPr algn="l">
              <a:lnSpc>
                <a:spcPts val="3603"/>
              </a:lnSpc>
              <a:spcBef>
                <a:spcPct val="0"/>
              </a:spcBef>
            </a:pPr>
            <a:r>
              <a:rPr lang="en-US" b="true" sz="3399">
                <a:solidFill>
                  <a:srgbClr val="FFFFFF"/>
                </a:solidFill>
                <a:latin typeface="Raleway Bold"/>
                <a:ea typeface="Raleway Bold"/>
                <a:cs typeface="Raleway Bold"/>
                <a:sym typeface="Raleway Bold"/>
              </a:rPr>
              <a:t>+Gamma trong tài chính: Một chỉ số đo lường biến động giá tài sản</a:t>
            </a:r>
          </a:p>
        </p:txBody>
      </p:sp>
      <p:sp>
        <p:nvSpPr>
          <p:cNvPr name="Freeform 11" id="11"/>
          <p:cNvSpPr/>
          <p:nvPr/>
        </p:nvSpPr>
        <p:spPr>
          <a:xfrm flipH="false" flipV="false" rot="0">
            <a:off x="15990108" y="7290349"/>
            <a:ext cx="1789958" cy="1757413"/>
          </a:xfrm>
          <a:custGeom>
            <a:avLst/>
            <a:gdLst/>
            <a:ahLst/>
            <a:cxnLst/>
            <a:rect r="r" b="b" t="t" l="l"/>
            <a:pathLst>
              <a:path h="1757413" w="1789958">
                <a:moveTo>
                  <a:pt x="0" y="0"/>
                </a:moveTo>
                <a:lnTo>
                  <a:pt x="1789957" y="0"/>
                </a:lnTo>
                <a:lnTo>
                  <a:pt x="1789957" y="1757413"/>
                </a:lnTo>
                <a:lnTo>
                  <a:pt x="0" y="1757413"/>
                </a:lnTo>
                <a:lnTo>
                  <a:pt x="0" y="0"/>
                </a:lnTo>
                <a:close/>
              </a:path>
            </a:pathLst>
          </a:custGeom>
          <a:blipFill>
            <a:blip r:embed="rId4">
              <a:alphaModFix amt="27000"/>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5450914" y="7511382"/>
            <a:ext cx="963080" cy="963080"/>
          </a:xfrm>
          <a:custGeom>
            <a:avLst/>
            <a:gdLst/>
            <a:ahLst/>
            <a:cxnLst/>
            <a:rect r="r" b="b" t="t" l="l"/>
            <a:pathLst>
              <a:path h="963080" w="963080">
                <a:moveTo>
                  <a:pt x="0" y="0"/>
                </a:moveTo>
                <a:lnTo>
                  <a:pt x="963081" y="0"/>
                </a:lnTo>
                <a:lnTo>
                  <a:pt x="963081" y="963081"/>
                </a:lnTo>
                <a:lnTo>
                  <a:pt x="0" y="9630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5450914" y="4661960"/>
            <a:ext cx="963080" cy="963080"/>
          </a:xfrm>
          <a:custGeom>
            <a:avLst/>
            <a:gdLst/>
            <a:ahLst/>
            <a:cxnLst/>
            <a:rect r="r" b="b" t="t" l="l"/>
            <a:pathLst>
              <a:path h="963080" w="963080">
                <a:moveTo>
                  <a:pt x="0" y="0"/>
                </a:moveTo>
                <a:lnTo>
                  <a:pt x="963081" y="0"/>
                </a:lnTo>
                <a:lnTo>
                  <a:pt x="963081" y="963080"/>
                </a:lnTo>
                <a:lnTo>
                  <a:pt x="0" y="9630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F40">
                <a:alpha val="100000"/>
              </a:srgbClr>
            </a:gs>
            <a:gs pos="100000">
              <a:srgbClr val="3D6D81">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5302233" y="2918395"/>
            <a:ext cx="963080" cy="963080"/>
          </a:xfrm>
          <a:custGeom>
            <a:avLst/>
            <a:gdLst/>
            <a:ahLst/>
            <a:cxnLst/>
            <a:rect r="r" b="b" t="t" l="l"/>
            <a:pathLst>
              <a:path h="963080" w="963080">
                <a:moveTo>
                  <a:pt x="0" y="0"/>
                </a:moveTo>
                <a:lnTo>
                  <a:pt x="963080" y="0"/>
                </a:lnTo>
                <a:lnTo>
                  <a:pt x="963080" y="963081"/>
                </a:lnTo>
                <a:lnTo>
                  <a:pt x="0" y="9630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2493778"/>
            <a:ext cx="5302233" cy="5205828"/>
          </a:xfrm>
          <a:custGeom>
            <a:avLst/>
            <a:gdLst/>
            <a:ahLst/>
            <a:cxnLst/>
            <a:rect r="r" b="b" t="t" l="l"/>
            <a:pathLst>
              <a:path h="5205828" w="5302233">
                <a:moveTo>
                  <a:pt x="0" y="0"/>
                </a:moveTo>
                <a:lnTo>
                  <a:pt x="5302233" y="0"/>
                </a:lnTo>
                <a:lnTo>
                  <a:pt x="5302233" y="5205829"/>
                </a:lnTo>
                <a:lnTo>
                  <a:pt x="0" y="5205829"/>
                </a:lnTo>
                <a:lnTo>
                  <a:pt x="0" y="0"/>
                </a:lnTo>
                <a:close/>
              </a:path>
            </a:pathLst>
          </a:custGeom>
          <a:blipFill>
            <a:blip r:embed="rId4">
              <a:alphaModFix amt="68000"/>
              <a:extLst>
                <a:ext uri="{96DAC541-7B7A-43D3-8B79-37D633B846F1}">
                  <asvg:svgBlip xmlns:asvg="http://schemas.microsoft.com/office/drawing/2016/SVG/main" r:embed="rId5"/>
                </a:ext>
              </a:extLst>
            </a:blip>
            <a:stretch>
              <a:fillRect l="0" t="0" r="0" b="0"/>
            </a:stretch>
          </a:blipFill>
        </p:spPr>
      </p:sp>
      <p:grpSp>
        <p:nvGrpSpPr>
          <p:cNvPr name="Group 4" id="4"/>
          <p:cNvGrpSpPr>
            <a:grpSpLocks noChangeAspect="true"/>
          </p:cNvGrpSpPr>
          <p:nvPr/>
        </p:nvGrpSpPr>
        <p:grpSpPr>
          <a:xfrm rot="0">
            <a:off x="472819" y="2918395"/>
            <a:ext cx="4356595" cy="4356595"/>
            <a:chOff x="0" y="0"/>
            <a:chExt cx="14840029" cy="14840029"/>
          </a:xfrm>
        </p:grpSpPr>
        <p:sp>
          <p:nvSpPr>
            <p:cNvPr name="Freeform 5" id="5"/>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0BBDE"/>
            </a:solidFill>
          </p:spPr>
        </p:sp>
        <p:sp>
          <p:nvSpPr>
            <p:cNvPr name="Freeform 6" id="6"/>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7" id="7"/>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6"/>
              <a:stretch>
                <a:fillRect l="223" t="0" r="223" b="0"/>
              </a:stretch>
            </a:blipFill>
          </p:spPr>
        </p:sp>
      </p:grpSp>
      <p:sp>
        <p:nvSpPr>
          <p:cNvPr name="TextBox 8" id="8"/>
          <p:cNvSpPr txBox="true"/>
          <p:nvPr/>
        </p:nvSpPr>
        <p:spPr>
          <a:xfrm rot="0">
            <a:off x="9144000" y="801812"/>
            <a:ext cx="10303294" cy="853186"/>
          </a:xfrm>
          <a:prstGeom prst="rect">
            <a:avLst/>
          </a:prstGeom>
        </p:spPr>
        <p:txBody>
          <a:bodyPr anchor="t" rtlCol="false" tIns="0" lIns="0" bIns="0" rIns="0">
            <a:spAutoFit/>
          </a:bodyPr>
          <a:lstStyle/>
          <a:p>
            <a:pPr algn="l">
              <a:lnSpc>
                <a:spcPts val="6572"/>
              </a:lnSpc>
              <a:spcBef>
                <a:spcPct val="0"/>
              </a:spcBef>
            </a:pPr>
            <a:r>
              <a:rPr lang="en-US" b="true" sz="6200">
                <a:solidFill>
                  <a:srgbClr val="FFFFFF"/>
                </a:solidFill>
                <a:latin typeface="TT Lakes Neue Bold"/>
                <a:ea typeface="TT Lakes Neue Bold"/>
                <a:cs typeface="TT Lakes Neue Bold"/>
                <a:sym typeface="TT Lakes Neue Bold"/>
              </a:rPr>
              <a:t>3.ƯU ĐIỂM</a:t>
            </a:r>
          </a:p>
        </p:txBody>
      </p:sp>
      <p:sp>
        <p:nvSpPr>
          <p:cNvPr name="TextBox 9" id="9"/>
          <p:cNvSpPr txBox="true"/>
          <p:nvPr/>
        </p:nvSpPr>
        <p:spPr>
          <a:xfrm rot="0">
            <a:off x="968565" y="830387"/>
            <a:ext cx="6798762" cy="1167826"/>
          </a:xfrm>
          <a:prstGeom prst="rect">
            <a:avLst/>
          </a:prstGeom>
        </p:spPr>
        <p:txBody>
          <a:bodyPr anchor="t" rtlCol="false" tIns="0" lIns="0" bIns="0" rIns="0">
            <a:spAutoFit/>
          </a:bodyPr>
          <a:lstStyle/>
          <a:p>
            <a:pPr algn="l">
              <a:lnSpc>
                <a:spcPts val="8936"/>
              </a:lnSpc>
              <a:spcBef>
                <a:spcPct val="0"/>
              </a:spcBef>
            </a:pPr>
            <a:r>
              <a:rPr lang="en-US" b="true" sz="8430">
                <a:solidFill>
                  <a:srgbClr val="84E3F8"/>
                </a:solidFill>
                <a:latin typeface="TT Lakes Neue Bold"/>
                <a:ea typeface="TT Lakes Neue Bold"/>
                <a:cs typeface="TT Lakes Neue Bold"/>
                <a:sym typeface="TT Lakes Neue Bold"/>
              </a:rPr>
              <a:t>GAMMA</a:t>
            </a:r>
          </a:p>
        </p:txBody>
      </p:sp>
      <p:sp>
        <p:nvSpPr>
          <p:cNvPr name="TextBox 10" id="10"/>
          <p:cNvSpPr txBox="true"/>
          <p:nvPr/>
        </p:nvSpPr>
        <p:spPr>
          <a:xfrm rot="0">
            <a:off x="6566395" y="3267285"/>
            <a:ext cx="11874005" cy="2824480"/>
          </a:xfrm>
          <a:prstGeom prst="rect">
            <a:avLst/>
          </a:prstGeom>
        </p:spPr>
        <p:txBody>
          <a:bodyPr anchor="t" rtlCol="false" tIns="0" lIns="0" bIns="0" rIns="0">
            <a:spAutoFit/>
          </a:bodyPr>
          <a:lstStyle/>
          <a:p>
            <a:pPr algn="l">
              <a:lnSpc>
                <a:spcPts val="3710"/>
              </a:lnSpc>
            </a:pPr>
            <a:r>
              <a:rPr lang="en-US" sz="3500" b="true">
                <a:solidFill>
                  <a:srgbClr val="FFFFFF"/>
                </a:solidFill>
                <a:latin typeface="TT Lakes Neue Bold"/>
                <a:ea typeface="TT Lakes Neue Bold"/>
                <a:cs typeface="TT Lakes Neue Bold"/>
                <a:sym typeface="TT Lakes Neue Bold"/>
              </a:rPr>
              <a:t>-Tạo nội dung rất nhanh so với PowerPoint/Google Slides truyền thống. Techpilot.AI </a:t>
            </a:r>
          </a:p>
          <a:p>
            <a:pPr algn="l">
              <a:lnSpc>
                <a:spcPts val="3710"/>
              </a:lnSpc>
            </a:pPr>
            <a:r>
              <a:rPr lang="en-US" sz="3500" b="true">
                <a:solidFill>
                  <a:srgbClr val="FFFFFF"/>
                </a:solidFill>
                <a:latin typeface="TT Lakes Neue Bold"/>
                <a:ea typeface="TT Lakes Neue Bold"/>
                <a:cs typeface="TT Lakes Neue Bold"/>
                <a:sym typeface="TT Lakes Neue Bold"/>
              </a:rPr>
              <a:t>-</a:t>
            </a:r>
            <a:r>
              <a:rPr lang="en-US" sz="3500" b="true">
                <a:solidFill>
                  <a:srgbClr val="FFFFFF"/>
                </a:solidFill>
                <a:latin typeface="TT Lakes Neue Bold"/>
                <a:ea typeface="TT Lakes Neue Bold"/>
                <a:cs typeface="TT Lakes Neue Bold"/>
                <a:sym typeface="TT Lakes Neue Bold"/>
              </a:rPr>
              <a:t>Không cần kỹ năng thiết kế. Kroma </a:t>
            </a:r>
          </a:p>
          <a:p>
            <a:pPr algn="l">
              <a:lnSpc>
                <a:spcPts val="3710"/>
              </a:lnSpc>
            </a:pPr>
            <a:r>
              <a:rPr lang="en-US" sz="3500" b="true">
                <a:solidFill>
                  <a:srgbClr val="FFFFFF"/>
                </a:solidFill>
                <a:latin typeface="TT Lakes Neue Bold"/>
                <a:ea typeface="TT Lakes Neue Bold"/>
                <a:cs typeface="TT Lakes Neue Bold"/>
                <a:sym typeface="TT Lakes Neue Bold"/>
              </a:rPr>
              <a:t>-</a:t>
            </a:r>
            <a:r>
              <a:rPr lang="en-US" sz="3500" b="true">
                <a:solidFill>
                  <a:srgbClr val="FFFFFF"/>
                </a:solidFill>
                <a:latin typeface="TT Lakes Neue Bold"/>
                <a:ea typeface="TT Lakes Neue Bold"/>
                <a:cs typeface="TT Lakes Neue Bold"/>
                <a:sym typeface="TT Lakes Neue Bold"/>
              </a:rPr>
              <a:t>Bài trông hiện đại và trực quan. Techpilot.AI </a:t>
            </a:r>
          </a:p>
          <a:p>
            <a:pPr algn="l">
              <a:lnSpc>
                <a:spcPts val="3710"/>
              </a:lnSpc>
              <a:spcBef>
                <a:spcPct val="0"/>
              </a:spcBef>
            </a:pPr>
            <a:r>
              <a:rPr lang="en-US" b="true" sz="3500">
                <a:solidFill>
                  <a:srgbClr val="FFFFFF"/>
                </a:solidFill>
                <a:latin typeface="TT Lakes Neue Bold"/>
                <a:ea typeface="TT Lakes Neue Bold"/>
                <a:cs typeface="TT Lakes Neue Bold"/>
                <a:sym typeface="TT Lakes Neue Bold"/>
              </a:rPr>
              <a:t>-</a:t>
            </a:r>
            <a:r>
              <a:rPr lang="en-US" b="true" sz="3500">
                <a:solidFill>
                  <a:srgbClr val="FFFFFF"/>
                </a:solidFill>
                <a:latin typeface="TT Lakes Neue Bold"/>
                <a:ea typeface="TT Lakes Neue Bold"/>
                <a:cs typeface="TT Lakes Neue Bold"/>
                <a:sym typeface="TT Lakes Neue Bold"/>
              </a:rPr>
              <a:t>Tương tác, nhúng video, chart… đầy đủ. aitoolinsight </a:t>
            </a:r>
          </a:p>
        </p:txBody>
      </p:sp>
      <p:sp>
        <p:nvSpPr>
          <p:cNvPr name="Freeform 11" id="11"/>
          <p:cNvSpPr/>
          <p:nvPr/>
        </p:nvSpPr>
        <p:spPr>
          <a:xfrm flipH="false" flipV="false" rot="0">
            <a:off x="15990108" y="7290349"/>
            <a:ext cx="1789958" cy="1757413"/>
          </a:xfrm>
          <a:custGeom>
            <a:avLst/>
            <a:gdLst/>
            <a:ahLst/>
            <a:cxnLst/>
            <a:rect r="r" b="b" t="t" l="l"/>
            <a:pathLst>
              <a:path h="1757413" w="1789958">
                <a:moveTo>
                  <a:pt x="0" y="0"/>
                </a:moveTo>
                <a:lnTo>
                  <a:pt x="1789957" y="0"/>
                </a:lnTo>
                <a:lnTo>
                  <a:pt x="1789957" y="1757413"/>
                </a:lnTo>
                <a:lnTo>
                  <a:pt x="0" y="1757413"/>
                </a:lnTo>
                <a:lnTo>
                  <a:pt x="0" y="0"/>
                </a:lnTo>
                <a:close/>
              </a:path>
            </a:pathLst>
          </a:custGeom>
          <a:blipFill>
            <a:blip r:embed="rId4">
              <a:alphaModFix amt="27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F40">
                <a:alpha val="100000"/>
              </a:srgbClr>
            </a:gs>
            <a:gs pos="100000">
              <a:srgbClr val="3D6D81">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5302233" y="2918395"/>
            <a:ext cx="963080" cy="963080"/>
          </a:xfrm>
          <a:custGeom>
            <a:avLst/>
            <a:gdLst/>
            <a:ahLst/>
            <a:cxnLst/>
            <a:rect r="r" b="b" t="t" l="l"/>
            <a:pathLst>
              <a:path h="963080" w="963080">
                <a:moveTo>
                  <a:pt x="0" y="0"/>
                </a:moveTo>
                <a:lnTo>
                  <a:pt x="963080" y="0"/>
                </a:lnTo>
                <a:lnTo>
                  <a:pt x="963080" y="963081"/>
                </a:lnTo>
                <a:lnTo>
                  <a:pt x="0" y="9630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2493778"/>
            <a:ext cx="5302233" cy="5205828"/>
          </a:xfrm>
          <a:custGeom>
            <a:avLst/>
            <a:gdLst/>
            <a:ahLst/>
            <a:cxnLst/>
            <a:rect r="r" b="b" t="t" l="l"/>
            <a:pathLst>
              <a:path h="5205828" w="5302233">
                <a:moveTo>
                  <a:pt x="0" y="0"/>
                </a:moveTo>
                <a:lnTo>
                  <a:pt x="5302233" y="0"/>
                </a:lnTo>
                <a:lnTo>
                  <a:pt x="5302233" y="5205829"/>
                </a:lnTo>
                <a:lnTo>
                  <a:pt x="0" y="5205829"/>
                </a:lnTo>
                <a:lnTo>
                  <a:pt x="0" y="0"/>
                </a:lnTo>
                <a:close/>
              </a:path>
            </a:pathLst>
          </a:custGeom>
          <a:blipFill>
            <a:blip r:embed="rId4">
              <a:alphaModFix amt="68000"/>
              <a:extLst>
                <a:ext uri="{96DAC541-7B7A-43D3-8B79-37D633B846F1}">
                  <asvg:svgBlip xmlns:asvg="http://schemas.microsoft.com/office/drawing/2016/SVG/main" r:embed="rId5"/>
                </a:ext>
              </a:extLst>
            </a:blip>
            <a:stretch>
              <a:fillRect l="0" t="0" r="0" b="0"/>
            </a:stretch>
          </a:blipFill>
        </p:spPr>
      </p:sp>
      <p:grpSp>
        <p:nvGrpSpPr>
          <p:cNvPr name="Group 4" id="4"/>
          <p:cNvGrpSpPr>
            <a:grpSpLocks noChangeAspect="true"/>
          </p:cNvGrpSpPr>
          <p:nvPr/>
        </p:nvGrpSpPr>
        <p:grpSpPr>
          <a:xfrm rot="0">
            <a:off x="472819" y="2918395"/>
            <a:ext cx="4356595" cy="4356595"/>
            <a:chOff x="0" y="0"/>
            <a:chExt cx="14840029" cy="14840029"/>
          </a:xfrm>
        </p:grpSpPr>
        <p:sp>
          <p:nvSpPr>
            <p:cNvPr name="Freeform 5" id="5"/>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0BBDE"/>
            </a:solidFill>
          </p:spPr>
        </p:sp>
        <p:sp>
          <p:nvSpPr>
            <p:cNvPr name="Freeform 6" id="6"/>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7" id="7"/>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6"/>
              <a:stretch>
                <a:fillRect l="223" t="0" r="223" b="0"/>
              </a:stretch>
            </a:blipFill>
          </p:spPr>
        </p:sp>
      </p:grpSp>
      <p:sp>
        <p:nvSpPr>
          <p:cNvPr name="TextBox 8" id="8"/>
          <p:cNvSpPr txBox="true"/>
          <p:nvPr/>
        </p:nvSpPr>
        <p:spPr>
          <a:xfrm rot="0">
            <a:off x="9144000" y="801812"/>
            <a:ext cx="10303294" cy="853186"/>
          </a:xfrm>
          <a:prstGeom prst="rect">
            <a:avLst/>
          </a:prstGeom>
        </p:spPr>
        <p:txBody>
          <a:bodyPr anchor="t" rtlCol="false" tIns="0" lIns="0" bIns="0" rIns="0">
            <a:spAutoFit/>
          </a:bodyPr>
          <a:lstStyle/>
          <a:p>
            <a:pPr algn="l">
              <a:lnSpc>
                <a:spcPts val="6572"/>
              </a:lnSpc>
              <a:spcBef>
                <a:spcPct val="0"/>
              </a:spcBef>
            </a:pPr>
            <a:r>
              <a:rPr lang="en-US" b="true" sz="6200">
                <a:solidFill>
                  <a:srgbClr val="FFFFFF"/>
                </a:solidFill>
                <a:latin typeface="TT Lakes Neue Bold"/>
                <a:ea typeface="TT Lakes Neue Bold"/>
                <a:cs typeface="TT Lakes Neue Bold"/>
                <a:sym typeface="TT Lakes Neue Bold"/>
              </a:rPr>
              <a:t>4.HẠN CHẾ</a:t>
            </a:r>
          </a:p>
        </p:txBody>
      </p:sp>
      <p:sp>
        <p:nvSpPr>
          <p:cNvPr name="TextBox 9" id="9"/>
          <p:cNvSpPr txBox="true"/>
          <p:nvPr/>
        </p:nvSpPr>
        <p:spPr>
          <a:xfrm rot="0">
            <a:off x="968565" y="830387"/>
            <a:ext cx="6798762" cy="1167826"/>
          </a:xfrm>
          <a:prstGeom prst="rect">
            <a:avLst/>
          </a:prstGeom>
        </p:spPr>
        <p:txBody>
          <a:bodyPr anchor="t" rtlCol="false" tIns="0" lIns="0" bIns="0" rIns="0">
            <a:spAutoFit/>
          </a:bodyPr>
          <a:lstStyle/>
          <a:p>
            <a:pPr algn="l">
              <a:lnSpc>
                <a:spcPts val="8936"/>
              </a:lnSpc>
              <a:spcBef>
                <a:spcPct val="0"/>
              </a:spcBef>
            </a:pPr>
            <a:r>
              <a:rPr lang="en-US" b="true" sz="8430">
                <a:solidFill>
                  <a:srgbClr val="84E3F8"/>
                </a:solidFill>
                <a:latin typeface="TT Lakes Neue Bold"/>
                <a:ea typeface="TT Lakes Neue Bold"/>
                <a:cs typeface="TT Lakes Neue Bold"/>
                <a:sym typeface="TT Lakes Neue Bold"/>
              </a:rPr>
              <a:t>GAMMA</a:t>
            </a:r>
          </a:p>
        </p:txBody>
      </p:sp>
      <p:sp>
        <p:nvSpPr>
          <p:cNvPr name="TextBox 10" id="10"/>
          <p:cNvSpPr txBox="true"/>
          <p:nvPr/>
        </p:nvSpPr>
        <p:spPr>
          <a:xfrm rot="0">
            <a:off x="6566395" y="3267285"/>
            <a:ext cx="11874005" cy="2357755"/>
          </a:xfrm>
          <a:prstGeom prst="rect">
            <a:avLst/>
          </a:prstGeom>
        </p:spPr>
        <p:txBody>
          <a:bodyPr anchor="t" rtlCol="false" tIns="0" lIns="0" bIns="0" rIns="0">
            <a:spAutoFit/>
          </a:bodyPr>
          <a:lstStyle/>
          <a:p>
            <a:pPr algn="l">
              <a:lnSpc>
                <a:spcPts val="3710"/>
              </a:lnSpc>
            </a:pPr>
            <a:r>
              <a:rPr lang="en-US" sz="3500" b="true">
                <a:solidFill>
                  <a:srgbClr val="FFFFFF"/>
                </a:solidFill>
                <a:latin typeface="TT Lakes Neue Bold"/>
                <a:ea typeface="TT Lakes Neue Bold"/>
                <a:cs typeface="TT Lakes Neue Bold"/>
                <a:sym typeface="TT Lakes Neue Bold"/>
              </a:rPr>
              <a:t>-Phiên bản miễn phí có giới hạn credits và có thể gắn logo Gamma trên sản phẩm. UPDF </a:t>
            </a:r>
          </a:p>
          <a:p>
            <a:pPr algn="l">
              <a:lnSpc>
                <a:spcPts val="3710"/>
              </a:lnSpc>
            </a:pPr>
            <a:r>
              <a:rPr lang="en-US" sz="3500">
                <a:solidFill>
                  <a:srgbClr val="FFFFFF"/>
                </a:solidFill>
                <a:latin typeface="TT Lakes Neue"/>
                <a:ea typeface="TT Lakes Neue"/>
                <a:cs typeface="TT Lakes Neue"/>
                <a:sym typeface="TT Lakes Neue"/>
              </a:rPr>
              <a:t>-</a:t>
            </a:r>
            <a:r>
              <a:rPr lang="en-US" sz="3500" b="true">
                <a:solidFill>
                  <a:srgbClr val="FFFFFF"/>
                </a:solidFill>
                <a:latin typeface="TT Lakes Neue Bold"/>
                <a:ea typeface="TT Lakes Neue Bold"/>
                <a:cs typeface="TT Lakes Neue Bold"/>
                <a:sym typeface="TT Lakes Neue Bold"/>
              </a:rPr>
              <a:t>Một số người dùng phản ánh giao diện xuất ra đôi khi cần chỉnh lại thủ công. Reddit </a:t>
            </a:r>
          </a:p>
          <a:p>
            <a:pPr algn="l">
              <a:lnSpc>
                <a:spcPts val="3710"/>
              </a:lnSpc>
              <a:spcBef>
                <a:spcPct val="0"/>
              </a:spcBef>
            </a:pPr>
            <a:r>
              <a:rPr lang="en-US" sz="3500">
                <a:solidFill>
                  <a:srgbClr val="FFFFFF"/>
                </a:solidFill>
                <a:latin typeface="TT Lakes Neue"/>
                <a:ea typeface="TT Lakes Neue"/>
                <a:cs typeface="TT Lakes Neue"/>
                <a:sym typeface="TT Lakes Neue"/>
              </a:rPr>
              <a:t>-</a:t>
            </a:r>
            <a:r>
              <a:rPr lang="en-US" b="true" sz="3500">
                <a:solidFill>
                  <a:srgbClr val="FFFFFF"/>
                </a:solidFill>
                <a:latin typeface="TT Lakes Neue Bold"/>
                <a:ea typeface="TT Lakes Neue Bold"/>
                <a:cs typeface="TT Lakes Neue Bold"/>
                <a:sym typeface="TT Lakes Neue Bold"/>
              </a:rPr>
              <a:t>Cần kết nối mạng (trực tuyến)</a:t>
            </a:r>
          </a:p>
        </p:txBody>
      </p:sp>
      <p:sp>
        <p:nvSpPr>
          <p:cNvPr name="Freeform 11" id="11"/>
          <p:cNvSpPr/>
          <p:nvPr/>
        </p:nvSpPr>
        <p:spPr>
          <a:xfrm flipH="false" flipV="false" rot="0">
            <a:off x="15990108" y="7290349"/>
            <a:ext cx="1789958" cy="1757413"/>
          </a:xfrm>
          <a:custGeom>
            <a:avLst/>
            <a:gdLst/>
            <a:ahLst/>
            <a:cxnLst/>
            <a:rect r="r" b="b" t="t" l="l"/>
            <a:pathLst>
              <a:path h="1757413" w="1789958">
                <a:moveTo>
                  <a:pt x="0" y="0"/>
                </a:moveTo>
                <a:lnTo>
                  <a:pt x="1789957" y="0"/>
                </a:lnTo>
                <a:lnTo>
                  <a:pt x="1789957" y="1757413"/>
                </a:lnTo>
                <a:lnTo>
                  <a:pt x="0" y="1757413"/>
                </a:lnTo>
                <a:lnTo>
                  <a:pt x="0" y="0"/>
                </a:lnTo>
                <a:close/>
              </a:path>
            </a:pathLst>
          </a:custGeom>
          <a:blipFill>
            <a:blip r:embed="rId4">
              <a:alphaModFix amt="27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F40">
                <a:alpha val="100000"/>
              </a:srgbClr>
            </a:gs>
            <a:gs pos="100000">
              <a:srgbClr val="3D6D81">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5302233" y="2918395"/>
            <a:ext cx="963080" cy="963080"/>
          </a:xfrm>
          <a:custGeom>
            <a:avLst/>
            <a:gdLst/>
            <a:ahLst/>
            <a:cxnLst/>
            <a:rect r="r" b="b" t="t" l="l"/>
            <a:pathLst>
              <a:path h="963080" w="963080">
                <a:moveTo>
                  <a:pt x="0" y="0"/>
                </a:moveTo>
                <a:lnTo>
                  <a:pt x="963080" y="0"/>
                </a:lnTo>
                <a:lnTo>
                  <a:pt x="963080" y="963081"/>
                </a:lnTo>
                <a:lnTo>
                  <a:pt x="0" y="9630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588559" y="3881476"/>
            <a:ext cx="3131796" cy="3131796"/>
            <a:chOff x="0" y="0"/>
            <a:chExt cx="14840029" cy="14840029"/>
          </a:xfrm>
        </p:grpSpPr>
        <p:sp>
          <p:nvSpPr>
            <p:cNvPr name="Freeform 4" id="4"/>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0BBDE"/>
            </a:solidFill>
          </p:spPr>
        </p:sp>
        <p:sp>
          <p:nvSpPr>
            <p:cNvPr name="Freeform 5" id="5"/>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6" id="6"/>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223" t="0" r="223" b="0"/>
              </a:stretch>
            </a:blipFill>
          </p:spPr>
        </p:sp>
      </p:grpSp>
      <p:sp>
        <p:nvSpPr>
          <p:cNvPr name="Freeform 7" id="7"/>
          <p:cNvSpPr/>
          <p:nvPr/>
        </p:nvSpPr>
        <p:spPr>
          <a:xfrm flipH="false" flipV="false" rot="0">
            <a:off x="15990108" y="7290349"/>
            <a:ext cx="1789958" cy="1757413"/>
          </a:xfrm>
          <a:custGeom>
            <a:avLst/>
            <a:gdLst/>
            <a:ahLst/>
            <a:cxnLst/>
            <a:rect r="r" b="b" t="t" l="l"/>
            <a:pathLst>
              <a:path h="1757413" w="1789958">
                <a:moveTo>
                  <a:pt x="0" y="0"/>
                </a:moveTo>
                <a:lnTo>
                  <a:pt x="1789957" y="0"/>
                </a:lnTo>
                <a:lnTo>
                  <a:pt x="1789957" y="1757413"/>
                </a:lnTo>
                <a:lnTo>
                  <a:pt x="0" y="1757413"/>
                </a:lnTo>
                <a:lnTo>
                  <a:pt x="0" y="0"/>
                </a:lnTo>
                <a:close/>
              </a:path>
            </a:pathLst>
          </a:custGeom>
          <a:blipFill>
            <a:blip r:embed="rId5">
              <a:alphaModFix amt="27000"/>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82626" y="2139941"/>
            <a:ext cx="6383769" cy="6029115"/>
          </a:xfrm>
          <a:custGeom>
            <a:avLst/>
            <a:gdLst/>
            <a:ahLst/>
            <a:cxnLst/>
            <a:rect r="r" b="b" t="t" l="l"/>
            <a:pathLst>
              <a:path h="6029115" w="6383769">
                <a:moveTo>
                  <a:pt x="0" y="0"/>
                </a:moveTo>
                <a:lnTo>
                  <a:pt x="6383769" y="0"/>
                </a:lnTo>
                <a:lnTo>
                  <a:pt x="6383769" y="6029115"/>
                </a:lnTo>
                <a:lnTo>
                  <a:pt x="0" y="60291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9144000" y="801812"/>
            <a:ext cx="10303294" cy="853186"/>
          </a:xfrm>
          <a:prstGeom prst="rect">
            <a:avLst/>
          </a:prstGeom>
        </p:spPr>
        <p:txBody>
          <a:bodyPr anchor="t" rtlCol="false" tIns="0" lIns="0" bIns="0" rIns="0">
            <a:spAutoFit/>
          </a:bodyPr>
          <a:lstStyle/>
          <a:p>
            <a:pPr algn="l">
              <a:lnSpc>
                <a:spcPts val="6572"/>
              </a:lnSpc>
              <a:spcBef>
                <a:spcPct val="0"/>
              </a:spcBef>
            </a:pPr>
            <a:r>
              <a:rPr lang="en-US" b="true" sz="6200">
                <a:solidFill>
                  <a:srgbClr val="FFFFFF"/>
                </a:solidFill>
                <a:latin typeface="TT Lakes Neue Bold"/>
                <a:ea typeface="TT Lakes Neue Bold"/>
                <a:cs typeface="TT Lakes Neue Bold"/>
                <a:sym typeface="TT Lakes Neue Bold"/>
              </a:rPr>
              <a:t>1.KHÁI NIỆM</a:t>
            </a:r>
          </a:p>
        </p:txBody>
      </p:sp>
      <p:sp>
        <p:nvSpPr>
          <p:cNvPr name="TextBox 10" id="10"/>
          <p:cNvSpPr txBox="true"/>
          <p:nvPr/>
        </p:nvSpPr>
        <p:spPr>
          <a:xfrm rot="0">
            <a:off x="968565" y="830387"/>
            <a:ext cx="6798762" cy="1167826"/>
          </a:xfrm>
          <a:prstGeom prst="rect">
            <a:avLst/>
          </a:prstGeom>
        </p:spPr>
        <p:txBody>
          <a:bodyPr anchor="t" rtlCol="false" tIns="0" lIns="0" bIns="0" rIns="0">
            <a:spAutoFit/>
          </a:bodyPr>
          <a:lstStyle/>
          <a:p>
            <a:pPr algn="l">
              <a:lnSpc>
                <a:spcPts val="8936"/>
              </a:lnSpc>
              <a:spcBef>
                <a:spcPct val="0"/>
              </a:spcBef>
            </a:pPr>
            <a:r>
              <a:rPr lang="en-US" b="true" sz="8430">
                <a:solidFill>
                  <a:srgbClr val="84E3F8"/>
                </a:solidFill>
                <a:latin typeface="TT Lakes Neue Bold"/>
                <a:ea typeface="TT Lakes Neue Bold"/>
                <a:cs typeface="TT Lakes Neue Bold"/>
                <a:sym typeface="TT Lakes Neue Bold"/>
              </a:rPr>
              <a:t>GAMMA</a:t>
            </a:r>
          </a:p>
        </p:txBody>
      </p:sp>
      <p:sp>
        <p:nvSpPr>
          <p:cNvPr name="TextBox 11" id="11"/>
          <p:cNvSpPr txBox="true"/>
          <p:nvPr/>
        </p:nvSpPr>
        <p:spPr>
          <a:xfrm rot="0">
            <a:off x="6566395" y="2788617"/>
            <a:ext cx="11213671" cy="3757930"/>
          </a:xfrm>
          <a:prstGeom prst="rect">
            <a:avLst/>
          </a:prstGeom>
        </p:spPr>
        <p:txBody>
          <a:bodyPr anchor="t" rtlCol="false" tIns="0" lIns="0" bIns="0" rIns="0">
            <a:spAutoFit/>
          </a:bodyPr>
          <a:lstStyle/>
          <a:p>
            <a:pPr algn="l">
              <a:lnSpc>
                <a:spcPts val="3710"/>
              </a:lnSpc>
            </a:pPr>
            <a:r>
              <a:rPr lang="en-US" sz="3500" b="true">
                <a:solidFill>
                  <a:srgbClr val="FFFFFF"/>
                </a:solidFill>
                <a:latin typeface="TT Lakes Neue Bold"/>
                <a:ea typeface="TT Lakes Neue Bold"/>
                <a:cs typeface="TT Lakes Neue Bold"/>
                <a:sym typeface="TT Lakes Neue Bold"/>
              </a:rPr>
              <a:t>-Suno (thường gọi là Suno AI) là một nền tảng trí tuệ nhân tạo tạo nhạcSuno dùng AI, để sáng tác nhạc tự động từ văn bản mô tả (prompt). Người dùng chỉ cần nhập: Chủ đề bài hát Thể loại (pop, rap, ballad…) Tâm trạng (vui, buồn, sôi động…) Lời bài hát (hoặc để AI tự viết) Suno sẽ tạo ra: Nhạc hoàn chỉnh Có giai điệu, hòa âm, giọng hát và lời</a:t>
            </a:r>
          </a:p>
          <a:p>
            <a:pPr algn="l">
              <a:lnSpc>
                <a:spcPts val="3710"/>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F40">
                <a:alpha val="100000"/>
              </a:srgbClr>
            </a:gs>
            <a:gs pos="100000">
              <a:srgbClr val="3D6D81">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6804247" y="2435370"/>
            <a:ext cx="963080" cy="963080"/>
          </a:xfrm>
          <a:custGeom>
            <a:avLst/>
            <a:gdLst/>
            <a:ahLst/>
            <a:cxnLst/>
            <a:rect r="r" b="b" t="t" l="l"/>
            <a:pathLst>
              <a:path h="963080" w="963080">
                <a:moveTo>
                  <a:pt x="0" y="0"/>
                </a:moveTo>
                <a:lnTo>
                  <a:pt x="963080" y="0"/>
                </a:lnTo>
                <a:lnTo>
                  <a:pt x="963080" y="963081"/>
                </a:lnTo>
                <a:lnTo>
                  <a:pt x="0" y="9630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588559" y="3881476"/>
            <a:ext cx="3131796" cy="3131796"/>
            <a:chOff x="0" y="0"/>
            <a:chExt cx="14840029" cy="14840029"/>
          </a:xfrm>
        </p:grpSpPr>
        <p:sp>
          <p:nvSpPr>
            <p:cNvPr name="Freeform 4" id="4"/>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0BBDE"/>
            </a:solidFill>
          </p:spPr>
        </p:sp>
        <p:sp>
          <p:nvSpPr>
            <p:cNvPr name="Freeform 5" id="5"/>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6" id="6"/>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223" t="0" r="223" b="0"/>
              </a:stretch>
            </a:blipFill>
          </p:spPr>
        </p:sp>
      </p:grpSp>
      <p:sp>
        <p:nvSpPr>
          <p:cNvPr name="Freeform 7" id="7"/>
          <p:cNvSpPr/>
          <p:nvPr/>
        </p:nvSpPr>
        <p:spPr>
          <a:xfrm flipH="false" flipV="false" rot="0">
            <a:off x="15990108" y="7290349"/>
            <a:ext cx="1789958" cy="1757413"/>
          </a:xfrm>
          <a:custGeom>
            <a:avLst/>
            <a:gdLst/>
            <a:ahLst/>
            <a:cxnLst/>
            <a:rect r="r" b="b" t="t" l="l"/>
            <a:pathLst>
              <a:path h="1757413" w="1789958">
                <a:moveTo>
                  <a:pt x="0" y="0"/>
                </a:moveTo>
                <a:lnTo>
                  <a:pt x="1789957" y="0"/>
                </a:lnTo>
                <a:lnTo>
                  <a:pt x="1789957" y="1757413"/>
                </a:lnTo>
                <a:lnTo>
                  <a:pt x="0" y="1757413"/>
                </a:lnTo>
                <a:lnTo>
                  <a:pt x="0" y="0"/>
                </a:lnTo>
                <a:close/>
              </a:path>
            </a:pathLst>
          </a:custGeom>
          <a:blipFill>
            <a:blip r:embed="rId5">
              <a:alphaModFix amt="27000"/>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0" y="2128942"/>
            <a:ext cx="6383769" cy="6029115"/>
          </a:xfrm>
          <a:custGeom>
            <a:avLst/>
            <a:gdLst/>
            <a:ahLst/>
            <a:cxnLst/>
            <a:rect r="r" b="b" t="t" l="l"/>
            <a:pathLst>
              <a:path h="6029115" w="6383769">
                <a:moveTo>
                  <a:pt x="0" y="0"/>
                </a:moveTo>
                <a:lnTo>
                  <a:pt x="6383769" y="0"/>
                </a:lnTo>
                <a:lnTo>
                  <a:pt x="6383769" y="6029116"/>
                </a:lnTo>
                <a:lnTo>
                  <a:pt x="0" y="60291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7089727" y="503964"/>
            <a:ext cx="11198273" cy="853186"/>
          </a:xfrm>
          <a:prstGeom prst="rect">
            <a:avLst/>
          </a:prstGeom>
        </p:spPr>
        <p:txBody>
          <a:bodyPr anchor="t" rtlCol="false" tIns="0" lIns="0" bIns="0" rIns="0">
            <a:spAutoFit/>
          </a:bodyPr>
          <a:lstStyle/>
          <a:p>
            <a:pPr algn="l">
              <a:lnSpc>
                <a:spcPts val="6572"/>
              </a:lnSpc>
              <a:spcBef>
                <a:spcPct val="0"/>
              </a:spcBef>
            </a:pPr>
            <a:r>
              <a:rPr lang="en-US" b="true" sz="6200">
                <a:solidFill>
                  <a:srgbClr val="FFFFFF"/>
                </a:solidFill>
                <a:latin typeface="TT Lakes Neue Bold"/>
                <a:ea typeface="TT Lakes Neue Bold"/>
                <a:cs typeface="TT Lakes Neue Bold"/>
                <a:sym typeface="TT Lakes Neue Bold"/>
              </a:rPr>
              <a:t>2.CÁCH THỨC HOẠT ĐỘNG</a:t>
            </a:r>
          </a:p>
        </p:txBody>
      </p:sp>
      <p:sp>
        <p:nvSpPr>
          <p:cNvPr name="TextBox 10" id="10"/>
          <p:cNvSpPr txBox="true"/>
          <p:nvPr/>
        </p:nvSpPr>
        <p:spPr>
          <a:xfrm rot="0">
            <a:off x="968565" y="830387"/>
            <a:ext cx="6798762" cy="1167826"/>
          </a:xfrm>
          <a:prstGeom prst="rect">
            <a:avLst/>
          </a:prstGeom>
        </p:spPr>
        <p:txBody>
          <a:bodyPr anchor="t" rtlCol="false" tIns="0" lIns="0" bIns="0" rIns="0">
            <a:spAutoFit/>
          </a:bodyPr>
          <a:lstStyle/>
          <a:p>
            <a:pPr algn="l">
              <a:lnSpc>
                <a:spcPts val="8936"/>
              </a:lnSpc>
              <a:spcBef>
                <a:spcPct val="0"/>
              </a:spcBef>
            </a:pPr>
            <a:r>
              <a:rPr lang="en-US" b="true" sz="8430">
                <a:solidFill>
                  <a:srgbClr val="84E3F8"/>
                </a:solidFill>
                <a:latin typeface="TT Lakes Neue Bold"/>
                <a:ea typeface="TT Lakes Neue Bold"/>
                <a:cs typeface="TT Lakes Neue Bold"/>
                <a:sym typeface="TT Lakes Neue Bold"/>
              </a:rPr>
              <a:t>GAMMA</a:t>
            </a:r>
          </a:p>
        </p:txBody>
      </p:sp>
      <p:sp>
        <p:nvSpPr>
          <p:cNvPr name="TextBox 11" id="11"/>
          <p:cNvSpPr txBox="true"/>
          <p:nvPr/>
        </p:nvSpPr>
        <p:spPr>
          <a:xfrm rot="0">
            <a:off x="7767327" y="2473470"/>
            <a:ext cx="11213671" cy="1891030"/>
          </a:xfrm>
          <a:prstGeom prst="rect">
            <a:avLst/>
          </a:prstGeom>
        </p:spPr>
        <p:txBody>
          <a:bodyPr anchor="t" rtlCol="false" tIns="0" lIns="0" bIns="0" rIns="0">
            <a:spAutoFit/>
          </a:bodyPr>
          <a:lstStyle/>
          <a:p>
            <a:pPr algn="l">
              <a:lnSpc>
                <a:spcPts val="3710"/>
              </a:lnSpc>
            </a:pPr>
            <a:r>
              <a:rPr lang="en-US" sz="3500" b="true">
                <a:solidFill>
                  <a:srgbClr val="FFFFFF"/>
                </a:solidFill>
                <a:latin typeface="TT Lakes Neue Bold"/>
                <a:ea typeface="TT Lakes Neue Bold"/>
                <a:cs typeface="TT Lakes Neue Bold"/>
                <a:sym typeface="TT Lakes Neue Bold"/>
              </a:rPr>
              <a:t>-Bạn nhập mô tả hoặc lời bài hát </a:t>
            </a:r>
          </a:p>
          <a:p>
            <a:pPr algn="l">
              <a:lnSpc>
                <a:spcPts val="3710"/>
              </a:lnSpc>
            </a:pPr>
            <a:r>
              <a:rPr lang="en-US" sz="3500" b="true">
                <a:solidFill>
                  <a:srgbClr val="FFFFFF"/>
                </a:solidFill>
                <a:latin typeface="TT Lakes Neue Bold"/>
                <a:ea typeface="TT Lakes Neue Bold"/>
                <a:cs typeface="TT Lakes Neue Bold"/>
                <a:sym typeface="TT Lakes Neue Bold"/>
              </a:rPr>
              <a:t>AI phân tích phong cách &amp; cảm xúc </a:t>
            </a:r>
          </a:p>
          <a:p>
            <a:pPr algn="l">
              <a:lnSpc>
                <a:spcPts val="3710"/>
              </a:lnSpc>
            </a:pPr>
            <a:r>
              <a:rPr lang="en-US" sz="3500" b="true">
                <a:solidFill>
                  <a:srgbClr val="FFFFFF"/>
                </a:solidFill>
                <a:latin typeface="TT Lakes Neue Bold"/>
                <a:ea typeface="TT Lakes Neue Bold"/>
                <a:cs typeface="TT Lakes Neue Bold"/>
                <a:sym typeface="TT Lakes Neue Bold"/>
              </a:rPr>
              <a:t>AI tạo nhạc và giọng hát phù hợp </a:t>
            </a:r>
          </a:p>
          <a:p>
            <a:pPr algn="l">
              <a:lnSpc>
                <a:spcPts val="3710"/>
              </a:lnSpc>
              <a:spcBef>
                <a:spcPct val="0"/>
              </a:spcBef>
            </a:pPr>
            <a:r>
              <a:rPr lang="en-US" sz="3500">
                <a:solidFill>
                  <a:srgbClr val="FFFFFF"/>
                </a:solidFill>
                <a:latin typeface="TT Lakes Neue"/>
                <a:ea typeface="TT Lakes Neue"/>
                <a:cs typeface="TT Lakes Neue"/>
                <a:sym typeface="TT Lakes Neue"/>
              </a:rPr>
              <a:t>-</a:t>
            </a:r>
            <a:r>
              <a:rPr lang="en-US" b="true" sz="3500">
                <a:solidFill>
                  <a:srgbClr val="FFFFFF"/>
                </a:solidFill>
                <a:latin typeface="TT Lakes Neue Bold"/>
                <a:ea typeface="TT Lakes Neue Bold"/>
                <a:cs typeface="TT Lakes Neue Bold"/>
                <a:sym typeface="TT Lakes Neue Bold"/>
              </a:rPr>
              <a:t>Bạn nghe, tải về hoặc chỉnh sửa thêm</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F40">
                <a:alpha val="100000"/>
              </a:srgbClr>
            </a:gs>
            <a:gs pos="100000">
              <a:srgbClr val="3D6D81">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6126646" y="2918395"/>
            <a:ext cx="963080" cy="963080"/>
          </a:xfrm>
          <a:custGeom>
            <a:avLst/>
            <a:gdLst/>
            <a:ahLst/>
            <a:cxnLst/>
            <a:rect r="r" b="b" t="t" l="l"/>
            <a:pathLst>
              <a:path h="963080" w="963080">
                <a:moveTo>
                  <a:pt x="0" y="0"/>
                </a:moveTo>
                <a:lnTo>
                  <a:pt x="963081" y="0"/>
                </a:lnTo>
                <a:lnTo>
                  <a:pt x="963081" y="963081"/>
                </a:lnTo>
                <a:lnTo>
                  <a:pt x="0" y="9630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588559" y="3881476"/>
            <a:ext cx="3131796" cy="3131796"/>
            <a:chOff x="0" y="0"/>
            <a:chExt cx="14840029" cy="14840029"/>
          </a:xfrm>
        </p:grpSpPr>
        <p:sp>
          <p:nvSpPr>
            <p:cNvPr name="Freeform 4" id="4"/>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0BBDE"/>
            </a:solidFill>
          </p:spPr>
        </p:sp>
        <p:sp>
          <p:nvSpPr>
            <p:cNvPr name="Freeform 5" id="5"/>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6" id="6"/>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223" t="0" r="223" b="0"/>
              </a:stretch>
            </a:blipFill>
          </p:spPr>
        </p:sp>
      </p:grpSp>
      <p:sp>
        <p:nvSpPr>
          <p:cNvPr name="Freeform 7" id="7"/>
          <p:cNvSpPr/>
          <p:nvPr/>
        </p:nvSpPr>
        <p:spPr>
          <a:xfrm flipH="false" flipV="false" rot="0">
            <a:off x="15990108" y="7290349"/>
            <a:ext cx="1789958" cy="1757413"/>
          </a:xfrm>
          <a:custGeom>
            <a:avLst/>
            <a:gdLst/>
            <a:ahLst/>
            <a:cxnLst/>
            <a:rect r="r" b="b" t="t" l="l"/>
            <a:pathLst>
              <a:path h="1757413" w="1789958">
                <a:moveTo>
                  <a:pt x="0" y="0"/>
                </a:moveTo>
                <a:lnTo>
                  <a:pt x="1789957" y="0"/>
                </a:lnTo>
                <a:lnTo>
                  <a:pt x="1789957" y="1757413"/>
                </a:lnTo>
                <a:lnTo>
                  <a:pt x="0" y="1757413"/>
                </a:lnTo>
                <a:lnTo>
                  <a:pt x="0" y="0"/>
                </a:lnTo>
                <a:close/>
              </a:path>
            </a:pathLst>
          </a:custGeom>
          <a:blipFill>
            <a:blip r:embed="rId5">
              <a:alphaModFix amt="27000"/>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0" y="2128942"/>
            <a:ext cx="6383769" cy="6029115"/>
          </a:xfrm>
          <a:custGeom>
            <a:avLst/>
            <a:gdLst/>
            <a:ahLst/>
            <a:cxnLst/>
            <a:rect r="r" b="b" t="t" l="l"/>
            <a:pathLst>
              <a:path h="6029115" w="6383769">
                <a:moveTo>
                  <a:pt x="0" y="0"/>
                </a:moveTo>
                <a:lnTo>
                  <a:pt x="6383769" y="0"/>
                </a:lnTo>
                <a:lnTo>
                  <a:pt x="6383769" y="6029116"/>
                </a:lnTo>
                <a:lnTo>
                  <a:pt x="0" y="60291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7089727" y="503964"/>
            <a:ext cx="11198273" cy="853186"/>
          </a:xfrm>
          <a:prstGeom prst="rect">
            <a:avLst/>
          </a:prstGeom>
        </p:spPr>
        <p:txBody>
          <a:bodyPr anchor="t" rtlCol="false" tIns="0" lIns="0" bIns="0" rIns="0">
            <a:spAutoFit/>
          </a:bodyPr>
          <a:lstStyle/>
          <a:p>
            <a:pPr algn="l">
              <a:lnSpc>
                <a:spcPts val="6572"/>
              </a:lnSpc>
              <a:spcBef>
                <a:spcPct val="0"/>
              </a:spcBef>
            </a:pPr>
            <a:r>
              <a:rPr lang="en-US" b="true" sz="6200">
                <a:solidFill>
                  <a:srgbClr val="FFFFFF"/>
                </a:solidFill>
                <a:latin typeface="TT Lakes Neue Bold"/>
                <a:ea typeface="TT Lakes Neue Bold"/>
                <a:cs typeface="TT Lakes Neue Bold"/>
                <a:sym typeface="TT Lakes Neue Bold"/>
              </a:rPr>
              <a:t>3.ƯU ĐIỂM</a:t>
            </a:r>
          </a:p>
        </p:txBody>
      </p:sp>
      <p:sp>
        <p:nvSpPr>
          <p:cNvPr name="TextBox 10" id="10"/>
          <p:cNvSpPr txBox="true"/>
          <p:nvPr/>
        </p:nvSpPr>
        <p:spPr>
          <a:xfrm rot="0">
            <a:off x="968565" y="830387"/>
            <a:ext cx="6798762" cy="1167826"/>
          </a:xfrm>
          <a:prstGeom prst="rect">
            <a:avLst/>
          </a:prstGeom>
        </p:spPr>
        <p:txBody>
          <a:bodyPr anchor="t" rtlCol="false" tIns="0" lIns="0" bIns="0" rIns="0">
            <a:spAutoFit/>
          </a:bodyPr>
          <a:lstStyle/>
          <a:p>
            <a:pPr algn="l">
              <a:lnSpc>
                <a:spcPts val="8936"/>
              </a:lnSpc>
              <a:spcBef>
                <a:spcPct val="0"/>
              </a:spcBef>
            </a:pPr>
            <a:r>
              <a:rPr lang="en-US" b="true" sz="8430">
                <a:solidFill>
                  <a:srgbClr val="84E3F8"/>
                </a:solidFill>
                <a:latin typeface="TT Lakes Neue Bold"/>
                <a:ea typeface="TT Lakes Neue Bold"/>
                <a:cs typeface="TT Lakes Neue Bold"/>
                <a:sym typeface="TT Lakes Neue Bold"/>
              </a:rPr>
              <a:t>GAMMA</a:t>
            </a:r>
          </a:p>
        </p:txBody>
      </p:sp>
      <p:sp>
        <p:nvSpPr>
          <p:cNvPr name="TextBox 11" id="11"/>
          <p:cNvSpPr txBox="true"/>
          <p:nvPr/>
        </p:nvSpPr>
        <p:spPr>
          <a:xfrm rot="0">
            <a:off x="7074329" y="3163922"/>
            <a:ext cx="11213671" cy="2357755"/>
          </a:xfrm>
          <a:prstGeom prst="rect">
            <a:avLst/>
          </a:prstGeom>
        </p:spPr>
        <p:txBody>
          <a:bodyPr anchor="t" rtlCol="false" tIns="0" lIns="0" bIns="0" rIns="0">
            <a:spAutoFit/>
          </a:bodyPr>
          <a:lstStyle/>
          <a:p>
            <a:pPr algn="l">
              <a:lnSpc>
                <a:spcPts val="3710"/>
              </a:lnSpc>
            </a:pPr>
            <a:r>
              <a:rPr lang="en-US" sz="3500" b="true">
                <a:solidFill>
                  <a:srgbClr val="FFFFFF"/>
                </a:solidFill>
                <a:latin typeface="TT Lakes Neue Bold"/>
                <a:ea typeface="TT Lakes Neue Bold"/>
                <a:cs typeface="TT Lakes Neue Bold"/>
                <a:sym typeface="TT Lakes Neue Bold"/>
              </a:rPr>
              <a:t>-Tạo nhạc nhanh chóng, chỉ trong vài phút </a:t>
            </a:r>
          </a:p>
          <a:p>
            <a:pPr algn="l">
              <a:lnSpc>
                <a:spcPts val="3710"/>
              </a:lnSpc>
            </a:pPr>
            <a:r>
              <a:rPr lang="en-US" sz="3500">
                <a:solidFill>
                  <a:srgbClr val="FFFFFF"/>
                </a:solidFill>
                <a:latin typeface="TT Lakes Neue"/>
                <a:ea typeface="TT Lakes Neue"/>
                <a:cs typeface="TT Lakes Neue"/>
                <a:sym typeface="TT Lakes Neue"/>
              </a:rPr>
              <a:t>-</a:t>
            </a:r>
            <a:r>
              <a:rPr lang="en-US" sz="3500" b="true">
                <a:solidFill>
                  <a:srgbClr val="FFFFFF"/>
                </a:solidFill>
                <a:latin typeface="TT Lakes Neue Bold"/>
                <a:ea typeface="TT Lakes Neue Bold"/>
                <a:cs typeface="TT Lakes Neue Bold"/>
                <a:sym typeface="TT Lakes Neue Bold"/>
              </a:rPr>
              <a:t>Không cần kiến thức âm nhạc chuyên sâu </a:t>
            </a:r>
          </a:p>
          <a:p>
            <a:pPr algn="l">
              <a:lnSpc>
                <a:spcPts val="3710"/>
              </a:lnSpc>
            </a:pPr>
            <a:r>
              <a:rPr lang="en-US" sz="3500">
                <a:solidFill>
                  <a:srgbClr val="FFFFFF"/>
                </a:solidFill>
                <a:latin typeface="TT Lakes Neue"/>
                <a:ea typeface="TT Lakes Neue"/>
                <a:cs typeface="TT Lakes Neue"/>
                <a:sym typeface="TT Lakes Neue"/>
              </a:rPr>
              <a:t>-</a:t>
            </a:r>
            <a:r>
              <a:rPr lang="en-US" sz="3500" b="true">
                <a:solidFill>
                  <a:srgbClr val="FFFFFF"/>
                </a:solidFill>
                <a:latin typeface="TT Lakes Neue Bold"/>
                <a:ea typeface="TT Lakes Neue Bold"/>
                <a:cs typeface="TT Lakes Neue Bold"/>
                <a:sym typeface="TT Lakes Neue Bold"/>
              </a:rPr>
              <a:t>Hỗ trợ đa ngôn ngữ, bao gồm tiếng Việt </a:t>
            </a:r>
          </a:p>
          <a:p>
            <a:pPr algn="l">
              <a:lnSpc>
                <a:spcPts val="3710"/>
              </a:lnSpc>
            </a:pPr>
            <a:r>
              <a:rPr lang="en-US" sz="3500">
                <a:solidFill>
                  <a:srgbClr val="FFFFFF"/>
                </a:solidFill>
                <a:latin typeface="TT Lakes Neue"/>
                <a:ea typeface="TT Lakes Neue"/>
                <a:cs typeface="TT Lakes Neue"/>
                <a:sym typeface="TT Lakes Neue"/>
              </a:rPr>
              <a:t>-</a:t>
            </a:r>
            <a:r>
              <a:rPr lang="en-US" sz="3500" b="true">
                <a:solidFill>
                  <a:srgbClr val="FFFFFF"/>
                </a:solidFill>
                <a:latin typeface="TT Lakes Neue Bold"/>
                <a:ea typeface="TT Lakes Neue Bold"/>
                <a:cs typeface="TT Lakes Neue Bold"/>
                <a:sym typeface="TT Lakes Neue Bold"/>
              </a:rPr>
              <a:t>Đa thể loại nhạc: Pop, Rock, Hip-hop, EDM,... </a:t>
            </a:r>
          </a:p>
          <a:p>
            <a:pPr algn="l">
              <a:lnSpc>
                <a:spcPts val="3710"/>
              </a:lnSpc>
              <a:spcBef>
                <a:spcPct val="0"/>
              </a:spcBef>
            </a:pPr>
            <a:r>
              <a:rPr lang="en-US" sz="3500">
                <a:solidFill>
                  <a:srgbClr val="FFFFFF"/>
                </a:solidFill>
                <a:latin typeface="TT Lakes Neue"/>
                <a:ea typeface="TT Lakes Neue"/>
                <a:cs typeface="TT Lakes Neue"/>
                <a:sym typeface="TT Lakes Neue"/>
              </a:rPr>
              <a:t>-</a:t>
            </a:r>
            <a:r>
              <a:rPr lang="en-US" b="true" sz="3500">
                <a:solidFill>
                  <a:srgbClr val="FFFFFF"/>
                </a:solidFill>
                <a:latin typeface="TT Lakes Neue Bold"/>
                <a:ea typeface="TT Lakes Neue Bold"/>
                <a:cs typeface="TT Lakes Neue Bold"/>
                <a:sym typeface="TT Lakes Neue Bold"/>
              </a:rPr>
              <a:t>Phù hợp cho sáng tạo nội dung, YouTube, TikTok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F40">
                <a:alpha val="100000"/>
              </a:srgbClr>
            </a:gs>
            <a:gs pos="100000">
              <a:srgbClr val="3D6D81">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5902229" y="2918395"/>
            <a:ext cx="963080" cy="963080"/>
          </a:xfrm>
          <a:custGeom>
            <a:avLst/>
            <a:gdLst/>
            <a:ahLst/>
            <a:cxnLst/>
            <a:rect r="r" b="b" t="t" l="l"/>
            <a:pathLst>
              <a:path h="963080" w="963080">
                <a:moveTo>
                  <a:pt x="0" y="0"/>
                </a:moveTo>
                <a:lnTo>
                  <a:pt x="963080" y="0"/>
                </a:lnTo>
                <a:lnTo>
                  <a:pt x="963080" y="963081"/>
                </a:lnTo>
                <a:lnTo>
                  <a:pt x="0" y="9630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588559" y="3881476"/>
            <a:ext cx="3131796" cy="3131796"/>
            <a:chOff x="0" y="0"/>
            <a:chExt cx="14840029" cy="14840029"/>
          </a:xfrm>
        </p:grpSpPr>
        <p:sp>
          <p:nvSpPr>
            <p:cNvPr name="Freeform 4" id="4"/>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0BBDE"/>
            </a:solidFill>
          </p:spPr>
        </p:sp>
        <p:sp>
          <p:nvSpPr>
            <p:cNvPr name="Freeform 5" id="5"/>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6" id="6"/>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223" t="0" r="223" b="0"/>
              </a:stretch>
            </a:blipFill>
          </p:spPr>
        </p:sp>
      </p:grpSp>
      <p:sp>
        <p:nvSpPr>
          <p:cNvPr name="Freeform 7" id="7"/>
          <p:cNvSpPr/>
          <p:nvPr/>
        </p:nvSpPr>
        <p:spPr>
          <a:xfrm flipH="false" flipV="false" rot="0">
            <a:off x="15990108" y="7290349"/>
            <a:ext cx="1789958" cy="1757413"/>
          </a:xfrm>
          <a:custGeom>
            <a:avLst/>
            <a:gdLst/>
            <a:ahLst/>
            <a:cxnLst/>
            <a:rect r="r" b="b" t="t" l="l"/>
            <a:pathLst>
              <a:path h="1757413" w="1789958">
                <a:moveTo>
                  <a:pt x="0" y="0"/>
                </a:moveTo>
                <a:lnTo>
                  <a:pt x="1789957" y="0"/>
                </a:lnTo>
                <a:lnTo>
                  <a:pt x="1789957" y="1757413"/>
                </a:lnTo>
                <a:lnTo>
                  <a:pt x="0" y="1757413"/>
                </a:lnTo>
                <a:lnTo>
                  <a:pt x="0" y="0"/>
                </a:lnTo>
                <a:close/>
              </a:path>
            </a:pathLst>
          </a:custGeom>
          <a:blipFill>
            <a:blip r:embed="rId5">
              <a:alphaModFix amt="27000"/>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0" y="2128942"/>
            <a:ext cx="6383769" cy="6029115"/>
          </a:xfrm>
          <a:custGeom>
            <a:avLst/>
            <a:gdLst/>
            <a:ahLst/>
            <a:cxnLst/>
            <a:rect r="r" b="b" t="t" l="l"/>
            <a:pathLst>
              <a:path h="6029115" w="6383769">
                <a:moveTo>
                  <a:pt x="0" y="0"/>
                </a:moveTo>
                <a:lnTo>
                  <a:pt x="6383769" y="0"/>
                </a:lnTo>
                <a:lnTo>
                  <a:pt x="6383769" y="6029116"/>
                </a:lnTo>
                <a:lnTo>
                  <a:pt x="0" y="60291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7089727" y="503964"/>
            <a:ext cx="11198273" cy="853186"/>
          </a:xfrm>
          <a:prstGeom prst="rect">
            <a:avLst/>
          </a:prstGeom>
        </p:spPr>
        <p:txBody>
          <a:bodyPr anchor="t" rtlCol="false" tIns="0" lIns="0" bIns="0" rIns="0">
            <a:spAutoFit/>
          </a:bodyPr>
          <a:lstStyle/>
          <a:p>
            <a:pPr algn="l">
              <a:lnSpc>
                <a:spcPts val="6572"/>
              </a:lnSpc>
              <a:spcBef>
                <a:spcPct val="0"/>
              </a:spcBef>
            </a:pPr>
            <a:r>
              <a:rPr lang="en-US" b="true" sz="6200">
                <a:solidFill>
                  <a:srgbClr val="FFFFFF"/>
                </a:solidFill>
                <a:latin typeface="TT Lakes Neue Bold"/>
                <a:ea typeface="TT Lakes Neue Bold"/>
                <a:cs typeface="TT Lakes Neue Bold"/>
                <a:sym typeface="TT Lakes Neue Bold"/>
              </a:rPr>
              <a:t>4. HẠN CHẾ</a:t>
            </a:r>
          </a:p>
        </p:txBody>
      </p:sp>
      <p:sp>
        <p:nvSpPr>
          <p:cNvPr name="TextBox 10" id="10"/>
          <p:cNvSpPr txBox="true"/>
          <p:nvPr/>
        </p:nvSpPr>
        <p:spPr>
          <a:xfrm rot="0">
            <a:off x="968565" y="830387"/>
            <a:ext cx="6798762" cy="1167826"/>
          </a:xfrm>
          <a:prstGeom prst="rect">
            <a:avLst/>
          </a:prstGeom>
        </p:spPr>
        <p:txBody>
          <a:bodyPr anchor="t" rtlCol="false" tIns="0" lIns="0" bIns="0" rIns="0">
            <a:spAutoFit/>
          </a:bodyPr>
          <a:lstStyle/>
          <a:p>
            <a:pPr algn="l">
              <a:lnSpc>
                <a:spcPts val="8936"/>
              </a:lnSpc>
              <a:spcBef>
                <a:spcPct val="0"/>
              </a:spcBef>
            </a:pPr>
            <a:r>
              <a:rPr lang="en-US" b="true" sz="8430">
                <a:solidFill>
                  <a:srgbClr val="84E3F8"/>
                </a:solidFill>
                <a:latin typeface="TT Lakes Neue Bold"/>
                <a:ea typeface="TT Lakes Neue Bold"/>
                <a:cs typeface="TT Lakes Neue Bold"/>
                <a:sym typeface="TT Lakes Neue Bold"/>
              </a:rPr>
              <a:t>GAMMA</a:t>
            </a:r>
          </a:p>
        </p:txBody>
      </p:sp>
      <p:sp>
        <p:nvSpPr>
          <p:cNvPr name="TextBox 11" id="11"/>
          <p:cNvSpPr txBox="true"/>
          <p:nvPr/>
        </p:nvSpPr>
        <p:spPr>
          <a:xfrm rot="0">
            <a:off x="7074329" y="3163922"/>
            <a:ext cx="11213671" cy="1424305"/>
          </a:xfrm>
          <a:prstGeom prst="rect">
            <a:avLst/>
          </a:prstGeom>
        </p:spPr>
        <p:txBody>
          <a:bodyPr anchor="t" rtlCol="false" tIns="0" lIns="0" bIns="0" rIns="0">
            <a:spAutoFit/>
          </a:bodyPr>
          <a:lstStyle/>
          <a:p>
            <a:pPr algn="l">
              <a:lnSpc>
                <a:spcPts val="3710"/>
              </a:lnSpc>
            </a:pPr>
            <a:r>
              <a:rPr lang="en-US" sz="3500" b="true">
                <a:solidFill>
                  <a:srgbClr val="FFFFFF"/>
                </a:solidFill>
                <a:latin typeface="TT Lakes Neue Bold"/>
                <a:ea typeface="TT Lakes Neue Bold"/>
                <a:cs typeface="TT Lakes Neue Bold"/>
                <a:sym typeface="TT Lakes Neue Bold"/>
              </a:rPr>
              <a:t>-Chất lượng nhạc có thể không hoàn hảo </a:t>
            </a:r>
          </a:p>
          <a:p>
            <a:pPr algn="l">
              <a:lnSpc>
                <a:spcPts val="3710"/>
              </a:lnSpc>
            </a:pPr>
            <a:r>
              <a:rPr lang="en-US" sz="3500">
                <a:solidFill>
                  <a:srgbClr val="FFFFFF"/>
                </a:solidFill>
                <a:latin typeface="TT Lakes Neue"/>
                <a:ea typeface="TT Lakes Neue"/>
                <a:cs typeface="TT Lakes Neue"/>
                <a:sym typeface="TT Lakes Neue"/>
              </a:rPr>
              <a:t>-</a:t>
            </a:r>
            <a:r>
              <a:rPr lang="en-US" sz="3500" b="true">
                <a:solidFill>
                  <a:srgbClr val="FFFFFF"/>
                </a:solidFill>
                <a:latin typeface="TT Lakes Neue Bold"/>
                <a:ea typeface="TT Lakes Neue Bold"/>
                <a:cs typeface="TT Lakes Neue Bold"/>
                <a:sym typeface="TT Lakes Neue Bold"/>
              </a:rPr>
              <a:t>Giới hạn bài hát ở gói miễn phí (5 bài/ngày) </a:t>
            </a:r>
          </a:p>
          <a:p>
            <a:pPr algn="l">
              <a:lnSpc>
                <a:spcPts val="3710"/>
              </a:lnSpc>
              <a:spcBef>
                <a:spcPct val="0"/>
              </a:spcBef>
            </a:pPr>
            <a:r>
              <a:rPr lang="en-US" sz="3500">
                <a:solidFill>
                  <a:srgbClr val="FFFFFF"/>
                </a:solidFill>
                <a:latin typeface="TT Lakes Neue"/>
                <a:ea typeface="TT Lakes Neue"/>
                <a:cs typeface="TT Lakes Neue"/>
                <a:sym typeface="TT Lakes Neue"/>
              </a:rPr>
              <a:t>-</a:t>
            </a:r>
            <a:r>
              <a:rPr lang="en-US" b="true" sz="3500">
                <a:solidFill>
                  <a:srgbClr val="FFFFFF"/>
                </a:solidFill>
                <a:latin typeface="TT Lakes Neue Bold"/>
                <a:ea typeface="TT Lakes Neue Bold"/>
                <a:cs typeface="TT Lakes Neue Bold"/>
                <a:sym typeface="TT Lakes Neue Bold"/>
              </a:rPr>
              <a:t>Ít tùy chỉnh nâng cao cho bản nhạc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F40">
                <a:alpha val="100000"/>
              </a:srgbClr>
            </a:gs>
            <a:gs pos="100000">
              <a:srgbClr val="3D6D81">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2438900" y="8224169"/>
            <a:ext cx="742265" cy="742265"/>
          </a:xfrm>
          <a:custGeom>
            <a:avLst/>
            <a:gdLst/>
            <a:ahLst/>
            <a:cxnLst/>
            <a:rect r="r" b="b" t="t" l="l"/>
            <a:pathLst>
              <a:path h="742265" w="742265">
                <a:moveTo>
                  <a:pt x="0" y="0"/>
                </a:moveTo>
                <a:lnTo>
                  <a:pt x="742265" y="0"/>
                </a:lnTo>
                <a:lnTo>
                  <a:pt x="742265" y="742264"/>
                </a:lnTo>
                <a:lnTo>
                  <a:pt x="0" y="7422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56548" y="70976"/>
            <a:ext cx="14137836" cy="3547311"/>
          </a:xfrm>
          <a:custGeom>
            <a:avLst/>
            <a:gdLst/>
            <a:ahLst/>
            <a:cxnLst/>
            <a:rect r="r" b="b" t="t" l="l"/>
            <a:pathLst>
              <a:path h="3547311" w="14137836">
                <a:moveTo>
                  <a:pt x="0" y="0"/>
                </a:moveTo>
                <a:lnTo>
                  <a:pt x="14137835" y="0"/>
                </a:lnTo>
                <a:lnTo>
                  <a:pt x="14137835" y="3547312"/>
                </a:lnTo>
                <a:lnTo>
                  <a:pt x="0" y="35473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599159" y="1358261"/>
            <a:ext cx="15483286" cy="830580"/>
          </a:xfrm>
          <a:prstGeom prst="rect">
            <a:avLst/>
          </a:prstGeom>
        </p:spPr>
        <p:txBody>
          <a:bodyPr anchor="t" rtlCol="false" tIns="0" lIns="0" bIns="0" rIns="0">
            <a:spAutoFit/>
          </a:bodyPr>
          <a:lstStyle/>
          <a:p>
            <a:pPr algn="l">
              <a:lnSpc>
                <a:spcPts val="6360"/>
              </a:lnSpc>
              <a:spcBef>
                <a:spcPct val="0"/>
              </a:spcBef>
            </a:pPr>
            <a:r>
              <a:rPr lang="en-US" b="true" sz="6000">
                <a:solidFill>
                  <a:srgbClr val="FFFFFF"/>
                </a:solidFill>
                <a:latin typeface="TT Lakes Neue Bold"/>
                <a:ea typeface="TT Lakes Neue Bold"/>
                <a:cs typeface="TT Lakes Neue Bold"/>
                <a:sym typeface="TT Lakes Neue Bold"/>
              </a:rPr>
              <a:t>MỘT SỐ LƯU Ý KHI SỬ DỤNG  </a:t>
            </a:r>
          </a:p>
        </p:txBody>
      </p:sp>
      <p:sp>
        <p:nvSpPr>
          <p:cNvPr name="TextBox 5" id="5"/>
          <p:cNvSpPr txBox="true"/>
          <p:nvPr/>
        </p:nvSpPr>
        <p:spPr>
          <a:xfrm rot="0">
            <a:off x="14443585" y="1358261"/>
            <a:ext cx="1561029" cy="830580"/>
          </a:xfrm>
          <a:prstGeom prst="rect">
            <a:avLst/>
          </a:prstGeom>
        </p:spPr>
        <p:txBody>
          <a:bodyPr anchor="t" rtlCol="false" tIns="0" lIns="0" bIns="0" rIns="0">
            <a:spAutoFit/>
          </a:bodyPr>
          <a:lstStyle/>
          <a:p>
            <a:pPr algn="l">
              <a:lnSpc>
                <a:spcPts val="6360"/>
              </a:lnSpc>
              <a:spcBef>
                <a:spcPct val="0"/>
              </a:spcBef>
            </a:pPr>
            <a:r>
              <a:rPr lang="en-US" b="true" sz="6000">
                <a:solidFill>
                  <a:srgbClr val="84E3F8"/>
                </a:solidFill>
                <a:latin typeface="TT Lakes Neue Bold"/>
                <a:ea typeface="TT Lakes Neue Bold"/>
                <a:cs typeface="TT Lakes Neue Bold"/>
                <a:sym typeface="TT Lakes Neue Bold"/>
              </a:rPr>
              <a:t>AI</a:t>
            </a:r>
          </a:p>
        </p:txBody>
      </p:sp>
      <p:grpSp>
        <p:nvGrpSpPr>
          <p:cNvPr name="Group 6" id="6"/>
          <p:cNvGrpSpPr/>
          <p:nvPr/>
        </p:nvGrpSpPr>
        <p:grpSpPr>
          <a:xfrm rot="0">
            <a:off x="-589284" y="3782587"/>
            <a:ext cx="18877284" cy="6504413"/>
            <a:chOff x="0" y="0"/>
            <a:chExt cx="6707628" cy="2311200"/>
          </a:xfrm>
        </p:grpSpPr>
        <p:sp>
          <p:nvSpPr>
            <p:cNvPr name="Freeform 7" id="7"/>
            <p:cNvSpPr/>
            <p:nvPr/>
          </p:nvSpPr>
          <p:spPr>
            <a:xfrm flipH="false" flipV="false" rot="0">
              <a:off x="0" y="0"/>
              <a:ext cx="6707628" cy="2311200"/>
            </a:xfrm>
            <a:custGeom>
              <a:avLst/>
              <a:gdLst/>
              <a:ahLst/>
              <a:cxnLst/>
              <a:rect r="r" b="b" t="t" l="l"/>
              <a:pathLst>
                <a:path h="2311200" w="6707628">
                  <a:moveTo>
                    <a:pt x="0" y="0"/>
                  </a:moveTo>
                  <a:lnTo>
                    <a:pt x="6707628" y="0"/>
                  </a:lnTo>
                  <a:lnTo>
                    <a:pt x="6707628" y="2311200"/>
                  </a:lnTo>
                  <a:lnTo>
                    <a:pt x="0" y="2311200"/>
                  </a:lnTo>
                  <a:close/>
                </a:path>
              </a:pathLst>
            </a:custGeom>
            <a:gradFill rotWithShape="true">
              <a:gsLst>
                <a:gs pos="0">
                  <a:srgbClr val="131F40">
                    <a:alpha val="75000"/>
                  </a:srgbClr>
                </a:gs>
                <a:gs pos="100000">
                  <a:srgbClr val="3D6D81">
                    <a:alpha val="75000"/>
                  </a:srgbClr>
                </a:gs>
              </a:gsLst>
              <a:lin ang="0"/>
            </a:gradFill>
          </p:spPr>
        </p:sp>
        <p:sp>
          <p:nvSpPr>
            <p:cNvPr name="TextBox 8" id="8"/>
            <p:cNvSpPr txBox="true"/>
            <p:nvPr/>
          </p:nvSpPr>
          <p:spPr>
            <a:xfrm>
              <a:off x="0" y="28575"/>
              <a:ext cx="6707628" cy="2282625"/>
            </a:xfrm>
            <a:prstGeom prst="rect">
              <a:avLst/>
            </a:prstGeom>
          </p:spPr>
          <p:txBody>
            <a:bodyPr anchor="ctr" rtlCol="false" tIns="50800" lIns="50800" bIns="50800" rIns="50800"/>
            <a:lstStyle/>
            <a:p>
              <a:pPr algn="ctr">
                <a:lnSpc>
                  <a:spcPts val="2181"/>
                </a:lnSpc>
              </a:pPr>
            </a:p>
          </p:txBody>
        </p:sp>
      </p:grpSp>
      <p:sp>
        <p:nvSpPr>
          <p:cNvPr name="Freeform 9" id="9"/>
          <p:cNvSpPr/>
          <p:nvPr/>
        </p:nvSpPr>
        <p:spPr>
          <a:xfrm flipH="false" flipV="false" rot="0">
            <a:off x="141480" y="4116705"/>
            <a:ext cx="887220" cy="871089"/>
          </a:xfrm>
          <a:custGeom>
            <a:avLst/>
            <a:gdLst/>
            <a:ahLst/>
            <a:cxnLst/>
            <a:rect r="r" b="b" t="t" l="l"/>
            <a:pathLst>
              <a:path h="871089" w="887220">
                <a:moveTo>
                  <a:pt x="0" y="0"/>
                </a:moveTo>
                <a:lnTo>
                  <a:pt x="887220" y="0"/>
                </a:lnTo>
                <a:lnTo>
                  <a:pt x="887220" y="871089"/>
                </a:lnTo>
                <a:lnTo>
                  <a:pt x="0" y="871089"/>
                </a:lnTo>
                <a:lnTo>
                  <a:pt x="0" y="0"/>
                </a:lnTo>
                <a:close/>
              </a:path>
            </a:pathLst>
          </a:custGeom>
          <a:blipFill>
            <a:blip r:embed="rId6">
              <a:alphaModFix amt="72000"/>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443414" y="4474820"/>
            <a:ext cx="283352" cy="339725"/>
          </a:xfrm>
          <a:prstGeom prst="rect">
            <a:avLst/>
          </a:prstGeom>
        </p:spPr>
        <p:txBody>
          <a:bodyPr anchor="t" rtlCol="false" tIns="0" lIns="0" bIns="0" rIns="0">
            <a:spAutoFit/>
          </a:bodyPr>
          <a:lstStyle/>
          <a:p>
            <a:pPr algn="l">
              <a:lnSpc>
                <a:spcPts val="2649"/>
              </a:lnSpc>
              <a:spcBef>
                <a:spcPct val="0"/>
              </a:spcBef>
            </a:pPr>
            <a:r>
              <a:rPr lang="en-US" sz="2499">
                <a:solidFill>
                  <a:srgbClr val="FFFFFF"/>
                </a:solidFill>
                <a:latin typeface="TT Lakes Neue"/>
                <a:ea typeface="TT Lakes Neue"/>
                <a:cs typeface="TT Lakes Neue"/>
                <a:sym typeface="TT Lakes Neue"/>
              </a:rPr>
              <a:t>1.</a:t>
            </a:r>
          </a:p>
        </p:txBody>
      </p:sp>
      <p:sp>
        <p:nvSpPr>
          <p:cNvPr name="TextBox 11" id="11"/>
          <p:cNvSpPr txBox="true"/>
          <p:nvPr/>
        </p:nvSpPr>
        <p:spPr>
          <a:xfrm rot="0">
            <a:off x="1275569" y="4217810"/>
            <a:ext cx="3811192" cy="2015490"/>
          </a:xfrm>
          <a:prstGeom prst="rect">
            <a:avLst/>
          </a:prstGeom>
        </p:spPr>
        <p:txBody>
          <a:bodyPr anchor="t" rtlCol="false" tIns="0" lIns="0" bIns="0" rIns="0">
            <a:spAutoFit/>
          </a:bodyPr>
          <a:lstStyle/>
          <a:p>
            <a:pPr algn="l">
              <a:lnSpc>
                <a:spcPts val="3180"/>
              </a:lnSpc>
              <a:spcBef>
                <a:spcPct val="0"/>
              </a:spcBef>
            </a:pPr>
            <a:r>
              <a:rPr lang="en-US" b="true" sz="3000">
                <a:solidFill>
                  <a:srgbClr val="FFFFFF"/>
                </a:solidFill>
                <a:latin typeface="Raleway Bold"/>
                <a:ea typeface="Raleway Bold"/>
                <a:cs typeface="Raleway Bold"/>
                <a:sym typeface="Raleway Bold"/>
              </a:rPr>
              <a:t>AI chỉ là công cụ hỗ trợ, không thay thế hoàn toàn tư duy và sáng tạo của con người.</a:t>
            </a:r>
          </a:p>
        </p:txBody>
      </p:sp>
      <p:sp>
        <p:nvSpPr>
          <p:cNvPr name="Freeform 12" id="12"/>
          <p:cNvSpPr/>
          <p:nvPr/>
        </p:nvSpPr>
        <p:spPr>
          <a:xfrm flipH="false" flipV="false" rot="0">
            <a:off x="6496481" y="4001176"/>
            <a:ext cx="887220" cy="871089"/>
          </a:xfrm>
          <a:custGeom>
            <a:avLst/>
            <a:gdLst/>
            <a:ahLst/>
            <a:cxnLst/>
            <a:rect r="r" b="b" t="t" l="l"/>
            <a:pathLst>
              <a:path h="871089" w="887220">
                <a:moveTo>
                  <a:pt x="0" y="0"/>
                </a:moveTo>
                <a:lnTo>
                  <a:pt x="887220" y="0"/>
                </a:lnTo>
                <a:lnTo>
                  <a:pt x="887220" y="871089"/>
                </a:lnTo>
                <a:lnTo>
                  <a:pt x="0" y="871089"/>
                </a:lnTo>
                <a:lnTo>
                  <a:pt x="0" y="0"/>
                </a:lnTo>
                <a:close/>
              </a:path>
            </a:pathLst>
          </a:custGeom>
          <a:blipFill>
            <a:blip r:embed="rId6">
              <a:alphaModFix amt="72000"/>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6798415" y="4242929"/>
            <a:ext cx="283352" cy="339725"/>
          </a:xfrm>
          <a:prstGeom prst="rect">
            <a:avLst/>
          </a:prstGeom>
        </p:spPr>
        <p:txBody>
          <a:bodyPr anchor="t" rtlCol="false" tIns="0" lIns="0" bIns="0" rIns="0">
            <a:spAutoFit/>
          </a:bodyPr>
          <a:lstStyle/>
          <a:p>
            <a:pPr algn="l">
              <a:lnSpc>
                <a:spcPts val="2649"/>
              </a:lnSpc>
              <a:spcBef>
                <a:spcPct val="0"/>
              </a:spcBef>
            </a:pPr>
            <a:r>
              <a:rPr lang="en-US" sz="2499">
                <a:solidFill>
                  <a:srgbClr val="FFFFFF"/>
                </a:solidFill>
                <a:latin typeface="TT Lakes Neue"/>
                <a:ea typeface="TT Lakes Neue"/>
                <a:cs typeface="TT Lakes Neue"/>
                <a:sym typeface="TT Lakes Neue"/>
              </a:rPr>
              <a:t>2.</a:t>
            </a:r>
          </a:p>
        </p:txBody>
      </p:sp>
      <p:sp>
        <p:nvSpPr>
          <p:cNvPr name="TextBox 14" id="14"/>
          <p:cNvSpPr txBox="true"/>
          <p:nvPr/>
        </p:nvSpPr>
        <p:spPr>
          <a:xfrm rot="0">
            <a:off x="7564144" y="4154805"/>
            <a:ext cx="3811192" cy="2015490"/>
          </a:xfrm>
          <a:prstGeom prst="rect">
            <a:avLst/>
          </a:prstGeom>
        </p:spPr>
        <p:txBody>
          <a:bodyPr anchor="t" rtlCol="false" tIns="0" lIns="0" bIns="0" rIns="0">
            <a:spAutoFit/>
          </a:bodyPr>
          <a:lstStyle/>
          <a:p>
            <a:pPr algn="l">
              <a:lnSpc>
                <a:spcPts val="3180"/>
              </a:lnSpc>
              <a:spcBef>
                <a:spcPct val="0"/>
              </a:spcBef>
            </a:pPr>
            <a:r>
              <a:rPr lang="en-US" b="true" sz="3000">
                <a:solidFill>
                  <a:srgbClr val="FFFFFF"/>
                </a:solidFill>
                <a:latin typeface="Raleway Bold"/>
                <a:ea typeface="Raleway Bold"/>
                <a:cs typeface="Raleway Bold"/>
                <a:sym typeface="Raleway Bold"/>
              </a:rPr>
              <a:t>Tránh lạm dụng AI, nếu phụ thuộc quá nhiều sẽ làm giảm khả năng tư duy độc lập.</a:t>
            </a:r>
          </a:p>
        </p:txBody>
      </p:sp>
      <p:sp>
        <p:nvSpPr>
          <p:cNvPr name="Freeform 15" id="15"/>
          <p:cNvSpPr/>
          <p:nvPr/>
        </p:nvSpPr>
        <p:spPr>
          <a:xfrm flipH="false" flipV="false" rot="0">
            <a:off x="12470178" y="3897057"/>
            <a:ext cx="887220" cy="871089"/>
          </a:xfrm>
          <a:custGeom>
            <a:avLst/>
            <a:gdLst/>
            <a:ahLst/>
            <a:cxnLst/>
            <a:rect r="r" b="b" t="t" l="l"/>
            <a:pathLst>
              <a:path h="871089" w="887220">
                <a:moveTo>
                  <a:pt x="0" y="0"/>
                </a:moveTo>
                <a:lnTo>
                  <a:pt x="887220" y="0"/>
                </a:lnTo>
                <a:lnTo>
                  <a:pt x="887220" y="871089"/>
                </a:lnTo>
                <a:lnTo>
                  <a:pt x="0" y="871089"/>
                </a:lnTo>
                <a:lnTo>
                  <a:pt x="0" y="0"/>
                </a:lnTo>
                <a:close/>
              </a:path>
            </a:pathLst>
          </a:custGeom>
          <a:blipFill>
            <a:blip r:embed="rId6">
              <a:alphaModFix amt="72000"/>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12772112" y="4181789"/>
            <a:ext cx="283352" cy="339725"/>
          </a:xfrm>
          <a:prstGeom prst="rect">
            <a:avLst/>
          </a:prstGeom>
        </p:spPr>
        <p:txBody>
          <a:bodyPr anchor="t" rtlCol="false" tIns="0" lIns="0" bIns="0" rIns="0">
            <a:spAutoFit/>
          </a:bodyPr>
          <a:lstStyle/>
          <a:p>
            <a:pPr algn="l">
              <a:lnSpc>
                <a:spcPts val="2649"/>
              </a:lnSpc>
              <a:spcBef>
                <a:spcPct val="0"/>
              </a:spcBef>
            </a:pPr>
            <a:r>
              <a:rPr lang="en-US" sz="2499">
                <a:solidFill>
                  <a:srgbClr val="FFFFFF"/>
                </a:solidFill>
                <a:latin typeface="TT Lakes Neue"/>
                <a:ea typeface="TT Lakes Neue"/>
                <a:cs typeface="TT Lakes Neue"/>
                <a:sym typeface="TT Lakes Neue"/>
              </a:rPr>
              <a:t>3.</a:t>
            </a:r>
          </a:p>
        </p:txBody>
      </p:sp>
      <p:sp>
        <p:nvSpPr>
          <p:cNvPr name="TextBox 17" id="17"/>
          <p:cNvSpPr txBox="true"/>
          <p:nvPr/>
        </p:nvSpPr>
        <p:spPr>
          <a:xfrm rot="0">
            <a:off x="13690773" y="4072482"/>
            <a:ext cx="3811192" cy="2015490"/>
          </a:xfrm>
          <a:prstGeom prst="rect">
            <a:avLst/>
          </a:prstGeom>
        </p:spPr>
        <p:txBody>
          <a:bodyPr anchor="t" rtlCol="false" tIns="0" lIns="0" bIns="0" rIns="0">
            <a:spAutoFit/>
          </a:bodyPr>
          <a:lstStyle/>
          <a:p>
            <a:pPr algn="l">
              <a:lnSpc>
                <a:spcPts val="3180"/>
              </a:lnSpc>
              <a:spcBef>
                <a:spcPct val="0"/>
              </a:spcBef>
            </a:pPr>
            <a:r>
              <a:rPr lang="en-US" b="true" sz="3000">
                <a:solidFill>
                  <a:srgbClr val="FFFFFF"/>
                </a:solidFill>
                <a:latin typeface="Raleway Bold"/>
                <a:ea typeface="Raleway Bold"/>
                <a:cs typeface="Raleway Bold"/>
                <a:sym typeface="Raleway Bold"/>
              </a:rPr>
              <a:t>Không nhập thông tin cá nhân, dữ liệu nhạy cảm để bảo đảm an toàn và quyền riêng tư</a:t>
            </a:r>
          </a:p>
        </p:txBody>
      </p:sp>
      <p:sp>
        <p:nvSpPr>
          <p:cNvPr name="Freeform 18" id="18"/>
          <p:cNvSpPr/>
          <p:nvPr/>
        </p:nvSpPr>
        <p:spPr>
          <a:xfrm flipH="false" flipV="false" rot="0">
            <a:off x="141480" y="7034794"/>
            <a:ext cx="887220" cy="871089"/>
          </a:xfrm>
          <a:custGeom>
            <a:avLst/>
            <a:gdLst/>
            <a:ahLst/>
            <a:cxnLst/>
            <a:rect r="r" b="b" t="t" l="l"/>
            <a:pathLst>
              <a:path h="871089" w="887220">
                <a:moveTo>
                  <a:pt x="0" y="0"/>
                </a:moveTo>
                <a:lnTo>
                  <a:pt x="887220" y="0"/>
                </a:lnTo>
                <a:lnTo>
                  <a:pt x="887220" y="871089"/>
                </a:lnTo>
                <a:lnTo>
                  <a:pt x="0" y="871089"/>
                </a:lnTo>
                <a:lnTo>
                  <a:pt x="0" y="0"/>
                </a:lnTo>
                <a:close/>
              </a:path>
            </a:pathLst>
          </a:custGeom>
          <a:blipFill>
            <a:blip r:embed="rId6">
              <a:alphaModFix amt="72000"/>
              <a:extLst>
                <a:ext uri="{96DAC541-7B7A-43D3-8B79-37D633B846F1}">
                  <asvg:svgBlip xmlns:asvg="http://schemas.microsoft.com/office/drawing/2016/SVG/main" r:embed="rId7"/>
                </a:ext>
              </a:extLst>
            </a:blip>
            <a:stretch>
              <a:fillRect l="0" t="0" r="0" b="0"/>
            </a:stretch>
          </a:blipFill>
        </p:spPr>
      </p:sp>
      <p:sp>
        <p:nvSpPr>
          <p:cNvPr name="TextBox 19" id="19"/>
          <p:cNvSpPr txBox="true"/>
          <p:nvPr/>
        </p:nvSpPr>
        <p:spPr>
          <a:xfrm rot="0">
            <a:off x="443414" y="7319526"/>
            <a:ext cx="283352" cy="339725"/>
          </a:xfrm>
          <a:prstGeom prst="rect">
            <a:avLst/>
          </a:prstGeom>
        </p:spPr>
        <p:txBody>
          <a:bodyPr anchor="t" rtlCol="false" tIns="0" lIns="0" bIns="0" rIns="0">
            <a:spAutoFit/>
          </a:bodyPr>
          <a:lstStyle/>
          <a:p>
            <a:pPr algn="l">
              <a:lnSpc>
                <a:spcPts val="2649"/>
              </a:lnSpc>
              <a:spcBef>
                <a:spcPct val="0"/>
              </a:spcBef>
            </a:pPr>
            <a:r>
              <a:rPr lang="en-US" sz="2499">
                <a:solidFill>
                  <a:srgbClr val="FFFFFF"/>
                </a:solidFill>
                <a:latin typeface="TT Lakes Neue"/>
                <a:ea typeface="TT Lakes Neue"/>
                <a:cs typeface="TT Lakes Neue"/>
                <a:sym typeface="TT Lakes Neue"/>
              </a:rPr>
              <a:t>4.</a:t>
            </a:r>
          </a:p>
        </p:txBody>
      </p:sp>
      <p:sp>
        <p:nvSpPr>
          <p:cNvPr name="TextBox 20" id="20"/>
          <p:cNvSpPr txBox="true"/>
          <p:nvPr/>
        </p:nvSpPr>
        <p:spPr>
          <a:xfrm rot="0">
            <a:off x="1275569" y="7319526"/>
            <a:ext cx="3811192" cy="2015490"/>
          </a:xfrm>
          <a:prstGeom prst="rect">
            <a:avLst/>
          </a:prstGeom>
        </p:spPr>
        <p:txBody>
          <a:bodyPr anchor="t" rtlCol="false" tIns="0" lIns="0" bIns="0" rIns="0">
            <a:spAutoFit/>
          </a:bodyPr>
          <a:lstStyle/>
          <a:p>
            <a:pPr algn="l">
              <a:lnSpc>
                <a:spcPts val="3180"/>
              </a:lnSpc>
              <a:spcBef>
                <a:spcPct val="0"/>
              </a:spcBef>
            </a:pPr>
            <a:r>
              <a:rPr lang="en-US" b="true" sz="3000">
                <a:solidFill>
                  <a:srgbClr val="FFFFFF"/>
                </a:solidFill>
                <a:latin typeface="Raleway Bold"/>
                <a:ea typeface="Raleway Bold"/>
                <a:cs typeface="Raleway Bold"/>
                <a:sym typeface="Raleway Bold"/>
              </a:rPr>
              <a:t>Không sao chép 100% nội dung AI tạo ra, cần chỉnh sửa cho phù hợp với mục đích học tập</a:t>
            </a:r>
          </a:p>
        </p:txBody>
      </p:sp>
      <p:sp>
        <p:nvSpPr>
          <p:cNvPr name="Freeform 21" id="21"/>
          <p:cNvSpPr/>
          <p:nvPr/>
        </p:nvSpPr>
        <p:spPr>
          <a:xfrm flipH="false" flipV="false" rot="0">
            <a:off x="6638157" y="6891565"/>
            <a:ext cx="887220" cy="871089"/>
          </a:xfrm>
          <a:custGeom>
            <a:avLst/>
            <a:gdLst/>
            <a:ahLst/>
            <a:cxnLst/>
            <a:rect r="r" b="b" t="t" l="l"/>
            <a:pathLst>
              <a:path h="871089" w="887220">
                <a:moveTo>
                  <a:pt x="0" y="0"/>
                </a:moveTo>
                <a:lnTo>
                  <a:pt x="887220" y="0"/>
                </a:lnTo>
                <a:lnTo>
                  <a:pt x="887220" y="871089"/>
                </a:lnTo>
                <a:lnTo>
                  <a:pt x="0" y="871089"/>
                </a:lnTo>
                <a:lnTo>
                  <a:pt x="0" y="0"/>
                </a:lnTo>
                <a:close/>
              </a:path>
            </a:pathLst>
          </a:custGeom>
          <a:blipFill>
            <a:blip r:embed="rId6">
              <a:alphaModFix amt="72000"/>
              <a:extLst>
                <a:ext uri="{96DAC541-7B7A-43D3-8B79-37D633B846F1}">
                  <asvg:svgBlip xmlns:asvg="http://schemas.microsoft.com/office/drawing/2016/SVG/main" r:embed="rId7"/>
                </a:ext>
              </a:extLst>
            </a:blip>
            <a:stretch>
              <a:fillRect l="0" t="0" r="0" b="0"/>
            </a:stretch>
          </a:blipFill>
        </p:spPr>
      </p:sp>
      <p:sp>
        <p:nvSpPr>
          <p:cNvPr name="TextBox 22" id="22"/>
          <p:cNvSpPr txBox="true"/>
          <p:nvPr/>
        </p:nvSpPr>
        <p:spPr>
          <a:xfrm rot="0">
            <a:off x="6940091" y="7130613"/>
            <a:ext cx="283352" cy="339725"/>
          </a:xfrm>
          <a:prstGeom prst="rect">
            <a:avLst/>
          </a:prstGeom>
        </p:spPr>
        <p:txBody>
          <a:bodyPr anchor="t" rtlCol="false" tIns="0" lIns="0" bIns="0" rIns="0">
            <a:spAutoFit/>
          </a:bodyPr>
          <a:lstStyle/>
          <a:p>
            <a:pPr algn="l">
              <a:lnSpc>
                <a:spcPts val="2649"/>
              </a:lnSpc>
              <a:spcBef>
                <a:spcPct val="0"/>
              </a:spcBef>
            </a:pPr>
            <a:r>
              <a:rPr lang="en-US" sz="2499">
                <a:solidFill>
                  <a:srgbClr val="FFFFFF"/>
                </a:solidFill>
                <a:latin typeface="TT Lakes Neue"/>
                <a:ea typeface="TT Lakes Neue"/>
                <a:cs typeface="TT Lakes Neue"/>
                <a:sym typeface="TT Lakes Neue"/>
              </a:rPr>
              <a:t>5.</a:t>
            </a:r>
          </a:p>
        </p:txBody>
      </p:sp>
      <p:sp>
        <p:nvSpPr>
          <p:cNvPr name="TextBox 23" id="23"/>
          <p:cNvSpPr txBox="true"/>
          <p:nvPr/>
        </p:nvSpPr>
        <p:spPr>
          <a:xfrm rot="0">
            <a:off x="7773027" y="7242810"/>
            <a:ext cx="3811192" cy="2015490"/>
          </a:xfrm>
          <a:prstGeom prst="rect">
            <a:avLst/>
          </a:prstGeom>
        </p:spPr>
        <p:txBody>
          <a:bodyPr anchor="t" rtlCol="false" tIns="0" lIns="0" bIns="0" rIns="0">
            <a:spAutoFit/>
          </a:bodyPr>
          <a:lstStyle/>
          <a:p>
            <a:pPr algn="l">
              <a:lnSpc>
                <a:spcPts val="3180"/>
              </a:lnSpc>
              <a:spcBef>
                <a:spcPct val="0"/>
              </a:spcBef>
            </a:pPr>
            <a:r>
              <a:rPr lang="en-US" b="true" sz="3000">
                <a:solidFill>
                  <a:srgbClr val="FFFFFF"/>
                </a:solidFill>
                <a:latin typeface="Raleway Bold"/>
                <a:ea typeface="Raleway Bold"/>
                <a:cs typeface="Raleway Bold"/>
                <a:sym typeface="Raleway Bold"/>
              </a:rPr>
              <a:t>Sử dụng AI đúng mục đích học tập, không dùng để gian lận trong kiểm tra, thi cử</a:t>
            </a:r>
          </a:p>
        </p:txBody>
      </p:sp>
      <p:sp>
        <p:nvSpPr>
          <p:cNvPr name="Freeform 24" id="24"/>
          <p:cNvSpPr/>
          <p:nvPr/>
        </p:nvSpPr>
        <p:spPr>
          <a:xfrm flipH="false" flipV="false" rot="0">
            <a:off x="12470178" y="6891565"/>
            <a:ext cx="887220" cy="871089"/>
          </a:xfrm>
          <a:custGeom>
            <a:avLst/>
            <a:gdLst/>
            <a:ahLst/>
            <a:cxnLst/>
            <a:rect r="r" b="b" t="t" l="l"/>
            <a:pathLst>
              <a:path h="871089" w="887220">
                <a:moveTo>
                  <a:pt x="0" y="0"/>
                </a:moveTo>
                <a:lnTo>
                  <a:pt x="887220" y="0"/>
                </a:lnTo>
                <a:lnTo>
                  <a:pt x="887220" y="871089"/>
                </a:lnTo>
                <a:lnTo>
                  <a:pt x="0" y="871089"/>
                </a:lnTo>
                <a:lnTo>
                  <a:pt x="0" y="0"/>
                </a:lnTo>
                <a:close/>
              </a:path>
            </a:pathLst>
          </a:custGeom>
          <a:blipFill>
            <a:blip r:embed="rId6">
              <a:alphaModFix amt="72000"/>
              <a:extLst>
                <a:ext uri="{96DAC541-7B7A-43D3-8B79-37D633B846F1}">
                  <asvg:svgBlip xmlns:asvg="http://schemas.microsoft.com/office/drawing/2016/SVG/main" r:embed="rId7"/>
                </a:ext>
              </a:extLst>
            </a:blip>
            <a:stretch>
              <a:fillRect l="0" t="0" r="0" b="0"/>
            </a:stretch>
          </a:blipFill>
        </p:spPr>
      </p:sp>
      <p:sp>
        <p:nvSpPr>
          <p:cNvPr name="TextBox 25" id="25"/>
          <p:cNvSpPr txBox="true"/>
          <p:nvPr/>
        </p:nvSpPr>
        <p:spPr>
          <a:xfrm rot="0">
            <a:off x="12772112" y="7130613"/>
            <a:ext cx="283352" cy="339725"/>
          </a:xfrm>
          <a:prstGeom prst="rect">
            <a:avLst/>
          </a:prstGeom>
        </p:spPr>
        <p:txBody>
          <a:bodyPr anchor="t" rtlCol="false" tIns="0" lIns="0" bIns="0" rIns="0">
            <a:spAutoFit/>
          </a:bodyPr>
          <a:lstStyle/>
          <a:p>
            <a:pPr algn="l">
              <a:lnSpc>
                <a:spcPts val="2649"/>
              </a:lnSpc>
              <a:spcBef>
                <a:spcPct val="0"/>
              </a:spcBef>
            </a:pPr>
            <a:r>
              <a:rPr lang="en-US" sz="2499">
                <a:solidFill>
                  <a:srgbClr val="FFFFFF"/>
                </a:solidFill>
                <a:latin typeface="TT Lakes Neue"/>
                <a:ea typeface="TT Lakes Neue"/>
                <a:cs typeface="TT Lakes Neue"/>
                <a:sym typeface="TT Lakes Neue"/>
              </a:rPr>
              <a:t>6.</a:t>
            </a:r>
          </a:p>
        </p:txBody>
      </p:sp>
      <p:sp>
        <p:nvSpPr>
          <p:cNvPr name="TextBox 26" id="26"/>
          <p:cNvSpPr txBox="true"/>
          <p:nvPr/>
        </p:nvSpPr>
        <p:spPr>
          <a:xfrm rot="0">
            <a:off x="13690773" y="7235474"/>
            <a:ext cx="3811192" cy="2015490"/>
          </a:xfrm>
          <a:prstGeom prst="rect">
            <a:avLst/>
          </a:prstGeom>
        </p:spPr>
        <p:txBody>
          <a:bodyPr anchor="t" rtlCol="false" tIns="0" lIns="0" bIns="0" rIns="0">
            <a:spAutoFit/>
          </a:bodyPr>
          <a:lstStyle/>
          <a:p>
            <a:pPr algn="l">
              <a:lnSpc>
                <a:spcPts val="3180"/>
              </a:lnSpc>
              <a:spcBef>
                <a:spcPct val="0"/>
              </a:spcBef>
            </a:pPr>
            <a:r>
              <a:rPr lang="en-US" b="true" sz="3000">
                <a:solidFill>
                  <a:srgbClr val="FFFFFF"/>
                </a:solidFill>
                <a:latin typeface="Raleway Bold"/>
                <a:ea typeface="Raleway Bold"/>
                <a:cs typeface="Raleway Bold"/>
                <a:sym typeface="Raleway Bold"/>
              </a:rPr>
              <a:t>Kết hợp AI với kiến thức của bản thân để nâng cao hiệu quả học tập và sáng tạo.</a:t>
            </a:r>
          </a:p>
        </p:txBody>
      </p:sp>
      <p:sp>
        <p:nvSpPr>
          <p:cNvPr name="TextBox 27" id="27"/>
          <p:cNvSpPr txBox="true"/>
          <p:nvPr/>
        </p:nvSpPr>
        <p:spPr>
          <a:xfrm rot="0">
            <a:off x="8352740" y="451481"/>
            <a:ext cx="15483286" cy="830580"/>
          </a:xfrm>
          <a:prstGeom prst="rect">
            <a:avLst/>
          </a:prstGeom>
        </p:spPr>
        <p:txBody>
          <a:bodyPr anchor="t" rtlCol="false" tIns="0" lIns="0" bIns="0" rIns="0">
            <a:spAutoFit/>
          </a:bodyPr>
          <a:lstStyle/>
          <a:p>
            <a:pPr algn="l">
              <a:lnSpc>
                <a:spcPts val="6360"/>
              </a:lnSpc>
              <a:spcBef>
                <a:spcPct val="0"/>
              </a:spcBef>
            </a:pPr>
            <a:r>
              <a:rPr lang="en-US" b="true" sz="6000">
                <a:solidFill>
                  <a:srgbClr val="FFFFFF"/>
                </a:solidFill>
                <a:latin typeface="TT Lakes Neue Bold"/>
                <a:ea typeface="TT Lakes Neue Bold"/>
                <a:cs typeface="TT Lakes Neue Bold"/>
                <a:sym typeface="TT Lakes Neue Bold"/>
              </a:rPr>
              <a:t>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F40">
                <a:alpha val="100000"/>
              </a:srgbClr>
            </a:gs>
            <a:gs pos="100000">
              <a:srgbClr val="3D6D81">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4984803" y="-1314334"/>
            <a:ext cx="8318394" cy="13299759"/>
          </a:xfrm>
          <a:custGeom>
            <a:avLst/>
            <a:gdLst/>
            <a:ahLst/>
            <a:cxnLst/>
            <a:rect r="r" b="b" t="t" l="l"/>
            <a:pathLst>
              <a:path h="13299759" w="8318394">
                <a:moveTo>
                  <a:pt x="0" y="0"/>
                </a:moveTo>
                <a:lnTo>
                  <a:pt x="8318394" y="0"/>
                </a:lnTo>
                <a:lnTo>
                  <a:pt x="8318394" y="13299759"/>
                </a:lnTo>
                <a:lnTo>
                  <a:pt x="0" y="132997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595089" y="4598153"/>
            <a:ext cx="5097823" cy="1636709"/>
          </a:xfrm>
          <a:prstGeom prst="rect">
            <a:avLst/>
          </a:prstGeom>
        </p:spPr>
        <p:txBody>
          <a:bodyPr anchor="t" rtlCol="false" tIns="0" lIns="0" bIns="0" rIns="0">
            <a:spAutoFit/>
          </a:bodyPr>
          <a:lstStyle/>
          <a:p>
            <a:pPr algn="ctr">
              <a:lnSpc>
                <a:spcPts val="12523"/>
              </a:lnSpc>
              <a:spcBef>
                <a:spcPct val="0"/>
              </a:spcBef>
            </a:pPr>
            <a:r>
              <a:rPr lang="en-US" b="true" sz="11814">
                <a:solidFill>
                  <a:srgbClr val="FFFFFF"/>
                </a:solidFill>
                <a:latin typeface="TT Lakes Neue Bold"/>
                <a:ea typeface="TT Lakes Neue Bold"/>
                <a:cs typeface="TT Lakes Neue Bold"/>
                <a:sym typeface="TT Lakes Neue Bold"/>
              </a:rPr>
              <a:t>YOU!</a:t>
            </a:r>
          </a:p>
        </p:txBody>
      </p:sp>
      <p:sp>
        <p:nvSpPr>
          <p:cNvPr name="TextBox 4" id="4"/>
          <p:cNvSpPr txBox="true"/>
          <p:nvPr/>
        </p:nvSpPr>
        <p:spPr>
          <a:xfrm rot="0">
            <a:off x="6245623" y="3359600"/>
            <a:ext cx="5796755" cy="1636709"/>
          </a:xfrm>
          <a:prstGeom prst="rect">
            <a:avLst/>
          </a:prstGeom>
        </p:spPr>
        <p:txBody>
          <a:bodyPr anchor="t" rtlCol="false" tIns="0" lIns="0" bIns="0" rIns="0">
            <a:spAutoFit/>
          </a:bodyPr>
          <a:lstStyle/>
          <a:p>
            <a:pPr algn="ctr">
              <a:lnSpc>
                <a:spcPts val="12523"/>
              </a:lnSpc>
              <a:spcBef>
                <a:spcPct val="0"/>
              </a:spcBef>
            </a:pPr>
            <a:r>
              <a:rPr lang="en-US" b="true" sz="11814">
                <a:solidFill>
                  <a:srgbClr val="84E3F8"/>
                </a:solidFill>
                <a:latin typeface="TT Lakes Neue Bold"/>
                <a:ea typeface="TT Lakes Neue Bold"/>
                <a:cs typeface="TT Lakes Neue Bold"/>
                <a:sym typeface="TT Lakes Neue Bold"/>
              </a:rPr>
              <a:t>THANK</a:t>
            </a:r>
          </a:p>
        </p:txBody>
      </p:sp>
      <p:sp>
        <p:nvSpPr>
          <p:cNvPr name="Freeform 5" id="5"/>
          <p:cNvSpPr/>
          <p:nvPr/>
        </p:nvSpPr>
        <p:spPr>
          <a:xfrm flipH="false" flipV="false" rot="0">
            <a:off x="2494121" y="857710"/>
            <a:ext cx="1789958" cy="1757413"/>
          </a:xfrm>
          <a:custGeom>
            <a:avLst/>
            <a:gdLst/>
            <a:ahLst/>
            <a:cxnLst/>
            <a:rect r="r" b="b" t="t" l="l"/>
            <a:pathLst>
              <a:path h="1757413" w="1789958">
                <a:moveTo>
                  <a:pt x="0" y="0"/>
                </a:moveTo>
                <a:lnTo>
                  <a:pt x="1789958" y="0"/>
                </a:lnTo>
                <a:lnTo>
                  <a:pt x="1789958" y="1757413"/>
                </a:lnTo>
                <a:lnTo>
                  <a:pt x="0" y="1757413"/>
                </a:lnTo>
                <a:lnTo>
                  <a:pt x="0" y="0"/>
                </a:lnTo>
                <a:close/>
              </a:path>
            </a:pathLst>
          </a:custGeom>
          <a:blipFill>
            <a:blip r:embed="rId4">
              <a:alphaModFix amt="27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DAG8YVwAnTw</dc:identifier>
  <dcterms:modified xsi:type="dcterms:W3CDTF">2011-08-01T06:04:30Z</dcterms:modified>
  <cp:revision>1</cp:revision>
  <dc:title>Blue Modern AI Technology Presentation</dc:title>
</cp:coreProperties>
</file>