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9"/>
  </p:notesMasterIdLst>
  <p:handoutMasterIdLst>
    <p:handoutMasterId r:id="rId10"/>
  </p:handoutMasterIdLst>
  <p:sldIdLst>
    <p:sldId id="1866" r:id="rId5"/>
    <p:sldId id="1867" r:id="rId6"/>
    <p:sldId id="1868" r:id="rId7"/>
    <p:sldId id="1870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nes theme" id="{EE9670AD-028C-4190-AAA8-2AF0F3B1E372}">
          <p14:sldIdLst>
            <p14:sldId id="1866"/>
            <p14:sldId id="1867"/>
            <p14:sldId id="1868"/>
            <p14:sldId id="18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6DC"/>
    <a:srgbClr val="ECE0D4"/>
    <a:srgbClr val="D1B497"/>
    <a:srgbClr val="E3D1BF"/>
    <a:srgbClr val="AA673C"/>
    <a:srgbClr val="6A6967"/>
    <a:srgbClr val="C19C84"/>
    <a:srgbClr val="F8EBE0"/>
    <a:srgbClr val="FF2625"/>
    <a:srgbClr val="007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59" d="100"/>
          <a:sy n="59" d="100"/>
        </p:scale>
        <p:origin x="400" y="52"/>
      </p:cViewPr>
      <p:guideLst>
        <p:guide orient="horz" pos="2160"/>
        <p:guide pos="480"/>
        <p:guide pos="7200"/>
        <p:guide pos="4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184"/>
    </p:cViewPr>
  </p:sorterViewPr>
  <p:notesViewPr>
    <p:cSldViewPr snapToGrid="0">
      <p:cViewPr varScale="1">
        <p:scale>
          <a:sx n="48" d="100"/>
          <a:sy n="48" d="100"/>
        </p:scale>
        <p:origin x="1828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CC79A4-0B25-469F-9B41-E1B92476C6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F87740-790C-4B8E-8BDF-37374E5C19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EE06D-E2C5-4DF1-B3C1-8E9169AAB10D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8AAF8-731F-4C2E-B690-3086B25AF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C11FA-B74B-44E5-9E55-A45B9911BE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E2F40-54C0-4227-BA47-31BF544EF9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7446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227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7007FCA-3EC9-46F6-BE85-2DE9F97B48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3" name="Title 381">
            <a:extLst>
              <a:ext uri="{FF2B5EF4-FFF2-40B4-BE49-F238E27FC236}">
                <a16:creationId xmlns:a16="http://schemas.microsoft.com/office/drawing/2014/main" id="{219026B8-F099-4229-B446-9FE2B966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1656" y="2304288"/>
            <a:ext cx="7022592" cy="2258568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800" b="1">
                <a:solidFill>
                  <a:schemeClr val="accent4">
                    <a:lumMod val="7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09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hot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5334000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4">
                    <a:lumMod val="50000"/>
                  </a:schemeClr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accent4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B1932CF-F265-4AEE-8704-F42C01AFB4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715963"/>
            <a:ext cx="4572000" cy="5113336"/>
          </a:xfrm>
        </p:spPr>
        <p:txBody>
          <a:bodyPr/>
          <a:lstStyle>
            <a:lvl1pPr algn="ctr">
              <a:buNone/>
              <a:defRPr sz="160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498076-A8F2-48B0-807A-C402BDA6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074048"/>
            <a:ext cx="6407956" cy="178395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CF9E2C1-844F-4C0E-A423-111C77AEE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5334000" cy="11890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b="1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8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5334000" cy="3276600"/>
          </a:xfrm>
        </p:spPr>
        <p:txBody>
          <a:bodyPr/>
          <a:lstStyle>
            <a:lvl1pPr marL="0" indent="0">
              <a:buNone/>
              <a:defRPr sz="1800" b="1"/>
            </a:lvl1pPr>
            <a:lvl2pPr marL="283464" indent="-283464">
              <a:spcBef>
                <a:spcPts val="1000"/>
              </a:spcBef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444081"/>
            <a:ext cx="4572000" cy="2362200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Graphic 1" hidden="1">
            <a:extLst>
              <a:ext uri="{FF2B5EF4-FFF2-40B4-BE49-F238E27FC236}">
                <a16:creationId xmlns:a16="http://schemas.microsoft.com/office/drawing/2014/main" id="{295740BA-9B4E-4B38-827D-32544CDF75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892800"/>
            <a:ext cx="12192000" cy="965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9C593AE-D9D2-42FE-A240-F97D187261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327681"/>
            <a:ext cx="5496910" cy="1530320"/>
          </a:xfrm>
          <a:prstGeom prst="rect">
            <a:avLst/>
          </a:prstGeom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9AA0A799-2244-4DB2-ACAB-F6DA87A7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5334000" cy="11890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b="1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834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6477000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97D967-7D0C-43B1-AF0D-22448F050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5106" y="0"/>
            <a:ext cx="3136894" cy="685800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9B292CAA-5A7B-44A6-B47D-2FE9F593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15961"/>
            <a:ext cx="6476999" cy="11890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b="1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225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905000"/>
            <a:ext cx="6477000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997D967-7D0C-43B1-AF0D-22448F050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5106" y="0"/>
            <a:ext cx="3136894" cy="685800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9B292CAA-5A7B-44A6-B47D-2FE9F593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715961"/>
            <a:ext cx="6476999" cy="11890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b="1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192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7700" y="1905000"/>
            <a:ext cx="7219043" cy="3276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283464" indent="-283464">
              <a:spcBef>
                <a:spcPts val="1000"/>
              </a:spcBef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05C4425-09AC-4097-B868-D49C9D64C8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03"/>
            <a:ext cx="3720664" cy="6857194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C6104E15-F449-422E-973A-1899DDF4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7699" y="715961"/>
            <a:ext cx="7219043" cy="11890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b="1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6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tti Content 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470216E-CA87-491C-BBBE-DDFD70D76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94" t="34041" r="11052" b="45480"/>
          <a:stretch/>
        </p:blipFill>
        <p:spPr>
          <a:xfrm>
            <a:off x="-3048" y="35012"/>
            <a:ext cx="12198096" cy="678797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 with border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19018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tti Conten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470216E-CA87-491C-BBBE-DDFD70D76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94" t="34041" r="11052" b="45480"/>
          <a:stretch/>
        </p:blipFill>
        <p:spPr>
          <a:xfrm>
            <a:off x="-3048" y="35012"/>
            <a:ext cx="12198096" cy="678797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 with border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1648873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Pattern Blac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Insert content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781D833-01F3-4F75-8F62-D60039CA37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791200"/>
            <a:ext cx="12192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945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Pattern Whit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C00585D-E155-409A-899A-29BDF4E57F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6577"/>
            <a:ext cx="10668000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44D9B-AA15-4DB5-AE58-0FA514F6FE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790699"/>
            <a:ext cx="10668000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9AB818C-9403-4CA7-8FC5-347DDE455E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5791200"/>
            <a:ext cx="121920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56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3E65ED86-A26C-479A-8393-0BFDCBCD43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1783952"/>
            <a:ext cx="10668000" cy="11116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858EEFF-117E-4B86-B6B2-CD8F71AA8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6577"/>
            <a:ext cx="10668000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Graphic 2" hidden="1">
            <a:extLst>
              <a:ext uri="{FF2B5EF4-FFF2-40B4-BE49-F238E27FC236}">
                <a16:creationId xmlns:a16="http://schemas.microsoft.com/office/drawing/2014/main" id="{D0B12BD8-7E23-4DB3-9F3C-68F6FF145E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2650" y="0"/>
            <a:ext cx="2419350" cy="261937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5143907-CDEB-455C-878E-7AE28AF7D2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5418919" y="0"/>
            <a:ext cx="6407956" cy="17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727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1B9BC-7BE7-4893-90FD-CC95830FD8F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5270E-046A-4C23-BC98-E307A7DD6B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3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64696-E1F3-49EF-AEC8-730A16D9A23F}" type="datetimeFigureOut">
              <a:rPr lang="en-US" altLang="en-US" smtClean="0"/>
              <a:pPr/>
              <a:t>12/29/2025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2A1B0-4691-41D9-84E0-69D594EAA3FE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918990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7" r:id="rId5"/>
    <p:sldLayoutId id="2147483710" r:id="rId6"/>
    <p:sldLayoutId id="2147483716" r:id="rId7"/>
    <p:sldLayoutId id="2147483718" r:id="rId8"/>
    <p:sldLayoutId id="2147483712" r:id="rId9"/>
    <p:sldLayoutId id="2147483713" r:id="rId10"/>
    <p:sldLayoutId id="2147483714" r:id="rId11"/>
    <p:sldLayoutId id="214748371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68E5CF-FC82-40DA-8E6D-0BFF887B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TÓM TẮT TÌM HIỂU MỘT SỐ CÔNG CỤ AI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3935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C5EA60-12FC-4FB7-9CED-CDC28177F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CHAT GPT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1999" y="1495536"/>
            <a:ext cx="6477000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en-US" sz="2400" dirty="0" err="1"/>
              <a:t>Khái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niệm</a:t>
            </a:r>
            <a:r>
              <a:rPr lang="en-US" altLang="en-US" sz="2400" dirty="0"/>
              <a:t> ?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en-US" sz="2400" dirty="0"/>
              <a:t>Chat GPT </a:t>
            </a:r>
            <a:r>
              <a:rPr lang="en-US" altLang="en-US" sz="2400" dirty="0" err="1"/>
              <a:t>dùng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làm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gì</a:t>
            </a:r>
            <a:r>
              <a:rPr lang="en-US" altLang="en-US" sz="2400" dirty="0"/>
              <a:t> ?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altLang="en-US" sz="2400" dirty="0"/>
              <a:t>Lợi </a:t>
            </a:r>
            <a:r>
              <a:rPr lang="en-US" altLang="en-US" sz="2400" dirty="0" err="1"/>
              <a:t>ích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hạn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chế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của</a:t>
            </a:r>
            <a:r>
              <a:rPr lang="en-US" altLang="en-US" sz="2400" dirty="0"/>
              <a:t> Chat GPT ?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/>
              <a:t>Ưu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điểm</a:t>
            </a:r>
            <a:r>
              <a:rPr lang="en-US" altLang="en-US" sz="2400" dirty="0"/>
              <a:t> 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err="1"/>
              <a:t>Nhược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điểm</a:t>
            </a:r>
            <a:r>
              <a:rPr lang="en-US" altLang="en-US" sz="2400" dirty="0"/>
              <a:t> :</a:t>
            </a:r>
          </a:p>
          <a:p>
            <a:pPr>
              <a:lnSpc>
                <a:spcPct val="100000"/>
              </a:lnSpc>
            </a:pPr>
            <a:r>
              <a:rPr lang="en-US" altLang="en-US" sz="2400" dirty="0"/>
              <a:t>4. </a:t>
            </a:r>
            <a:r>
              <a:rPr lang="en-US" altLang="en-US" sz="2400" dirty="0" err="1"/>
              <a:t>Kết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luận</a:t>
            </a:r>
            <a:r>
              <a:rPr lang="en-US" altLang="en-US" sz="2400" dirty="0"/>
              <a:t> ?</a:t>
            </a:r>
          </a:p>
          <a:p>
            <a:pPr>
              <a:lnSpc>
                <a:spcPct val="150000"/>
              </a:lnSpc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740664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74392" y="710953"/>
            <a:ext cx="9141397" cy="615553"/>
          </a:xfrm>
        </p:spPr>
        <p:txBody>
          <a:bodyPr/>
          <a:lstStyle/>
          <a:p>
            <a:pPr algn="ctr"/>
            <a:r>
              <a:rPr lang="en-US" dirty="0"/>
              <a:t>II. GAMMA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CBA01B-ECA4-4938-872A-B38BEB13AC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2514" y="1468020"/>
            <a:ext cx="6760029" cy="2712094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sz="2400" b="1" dirty="0"/>
              <a:t>1. GAMMA </a:t>
            </a:r>
            <a:r>
              <a:rPr lang="en-US" sz="2400" b="1" dirty="0" err="1"/>
              <a:t>là</a:t>
            </a:r>
            <a:r>
              <a:rPr lang="en-US" sz="2400" b="1" dirty="0"/>
              <a:t> </a:t>
            </a:r>
            <a:r>
              <a:rPr lang="en-US" sz="2400" b="1" dirty="0" err="1"/>
              <a:t>gì</a:t>
            </a:r>
            <a:r>
              <a:rPr lang="en-US" sz="2400" b="1" dirty="0"/>
              <a:t> ?</a:t>
            </a:r>
          </a:p>
          <a:p>
            <a:pPr algn="l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</a:rPr>
              <a:t>2. </a:t>
            </a:r>
            <a:r>
              <a:rPr lang="en-US" sz="2400" b="1" dirty="0" err="1">
                <a:solidFill>
                  <a:schemeClr val="tx1"/>
                </a:solidFill>
              </a:rPr>
              <a:t>Ưu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/>
              <a:t>điểm</a:t>
            </a:r>
            <a:r>
              <a:rPr lang="en-US" sz="2400" b="1" dirty="0"/>
              <a:t>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nhược</a:t>
            </a:r>
            <a:r>
              <a:rPr lang="en-US" sz="2400" b="1" dirty="0"/>
              <a:t> </a:t>
            </a:r>
            <a:r>
              <a:rPr lang="en-US" sz="2400" b="1" dirty="0" err="1"/>
              <a:t>điểm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GAMMA ?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Ưu</a:t>
            </a:r>
            <a:r>
              <a:rPr lang="en-US" sz="2400" b="1" dirty="0"/>
              <a:t> </a:t>
            </a:r>
            <a:r>
              <a:rPr lang="en-US" sz="2400" b="1" dirty="0" err="1"/>
              <a:t>điểm</a:t>
            </a:r>
            <a:r>
              <a:rPr lang="en-US" sz="2400" b="1" dirty="0"/>
              <a:t> 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Nhược</a:t>
            </a:r>
            <a:r>
              <a:rPr lang="en-US" sz="2400" b="1" dirty="0"/>
              <a:t> </a:t>
            </a:r>
            <a:r>
              <a:rPr lang="en-US" sz="2400" b="1" dirty="0" err="1"/>
              <a:t>điểm</a:t>
            </a:r>
            <a:r>
              <a:rPr lang="en-US" sz="2400" b="1" dirty="0"/>
              <a:t> :</a:t>
            </a:r>
          </a:p>
          <a:p>
            <a:pPr algn="l">
              <a:lnSpc>
                <a:spcPct val="150000"/>
              </a:lnSpc>
            </a:pPr>
            <a:r>
              <a:rPr lang="en-US" sz="2400" b="1" dirty="0"/>
              <a:t>3. GAMMA </a:t>
            </a:r>
            <a:r>
              <a:rPr lang="en-US" sz="2400" b="1" dirty="0" err="1"/>
              <a:t>hoạt</a:t>
            </a:r>
            <a:r>
              <a:rPr lang="en-US" sz="2400" b="1" dirty="0"/>
              <a:t> </a:t>
            </a:r>
            <a:r>
              <a:rPr lang="en-US" sz="2400" b="1" dirty="0" err="1"/>
              <a:t>động</a:t>
            </a:r>
            <a:r>
              <a:rPr lang="en-US" sz="2400" b="1" dirty="0"/>
              <a:t> </a:t>
            </a:r>
            <a:r>
              <a:rPr lang="en-US" sz="2400" b="1" dirty="0" err="1"/>
              <a:t>như</a:t>
            </a:r>
            <a:r>
              <a:rPr lang="en-US" sz="2400" b="1" dirty="0"/>
              <a:t> </a:t>
            </a:r>
            <a:r>
              <a:rPr lang="en-US" sz="2400" b="1" dirty="0" err="1"/>
              <a:t>thế</a:t>
            </a:r>
            <a:r>
              <a:rPr lang="en-US" sz="2400" b="1" dirty="0"/>
              <a:t> </a:t>
            </a:r>
            <a:r>
              <a:rPr lang="en-US" sz="2400" b="1" dirty="0" err="1"/>
              <a:t>nào</a:t>
            </a:r>
            <a:r>
              <a:rPr lang="en-US" sz="2400" b="1" dirty="0"/>
              <a:t> ?</a:t>
            </a:r>
          </a:p>
          <a:p>
            <a:pPr algn="l">
              <a:lnSpc>
                <a:spcPct val="150000"/>
              </a:lnSpc>
            </a:pPr>
            <a:r>
              <a:rPr lang="en-US" sz="2400" b="1" dirty="0"/>
              <a:t>4. Các </a:t>
            </a:r>
            <a:r>
              <a:rPr lang="en-US" sz="2400" b="1" dirty="0" err="1"/>
              <a:t>tính</a:t>
            </a:r>
            <a:r>
              <a:rPr lang="en-US" sz="2400" b="1" dirty="0"/>
              <a:t> </a:t>
            </a:r>
            <a:r>
              <a:rPr lang="en-US" sz="2400" b="1" dirty="0" err="1"/>
              <a:t>năng</a:t>
            </a:r>
            <a:r>
              <a:rPr lang="en-US" sz="2400" b="1" dirty="0"/>
              <a:t> </a:t>
            </a:r>
            <a:r>
              <a:rPr lang="en-US" sz="2400" b="1" dirty="0" err="1"/>
              <a:t>nổi</a:t>
            </a:r>
            <a:r>
              <a:rPr lang="en-US" sz="2400" b="1" dirty="0"/>
              <a:t> </a:t>
            </a:r>
            <a:r>
              <a:rPr lang="en-US" sz="2400" b="1" dirty="0" err="1"/>
              <a:t>bật</a:t>
            </a:r>
            <a:r>
              <a:rPr lang="en-US" sz="2400" b="1" dirty="0"/>
              <a:t> </a:t>
            </a:r>
            <a:r>
              <a:rPr lang="en-US" sz="2400" b="1" dirty="0" err="1"/>
              <a:t>của</a:t>
            </a:r>
            <a:r>
              <a:rPr lang="en-US" sz="2400" b="1" dirty="0"/>
              <a:t> GAMMA ?</a:t>
            </a:r>
          </a:p>
          <a:p>
            <a:pPr algn="l">
              <a:lnSpc>
                <a:spcPct val="150000"/>
              </a:lnSpc>
            </a:pPr>
            <a:r>
              <a:rPr lang="en-US" sz="2400" b="1" dirty="0"/>
              <a:t>5. </a:t>
            </a:r>
            <a:r>
              <a:rPr lang="en-US" sz="2400" b="1" dirty="0" err="1"/>
              <a:t>Kết</a:t>
            </a:r>
            <a:r>
              <a:rPr lang="en-US" sz="2400" b="1" dirty="0"/>
              <a:t> </a:t>
            </a:r>
            <a:r>
              <a:rPr lang="en-US" sz="2400" b="1" dirty="0" err="1"/>
              <a:t>luận</a:t>
            </a:r>
            <a:r>
              <a:rPr lang="en-US" sz="2400" b="1" dirty="0"/>
              <a:t> ?</a:t>
            </a:r>
          </a:p>
          <a:p>
            <a:pPr>
              <a:lnSpc>
                <a:spcPct val="10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457200" indent="-457200" algn="l">
              <a:lnSpc>
                <a:spcPct val="150000"/>
              </a:lnSpc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3084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F037412-7BC5-4AAA-8ED5-FC377A84C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SUNO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9585A-5E1F-40FA-8E64-BB4F046116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7699" y="1545771"/>
            <a:ext cx="7219043" cy="3276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 err="1"/>
              <a:t>Khái</a:t>
            </a:r>
            <a:r>
              <a:rPr lang="en-US" sz="2400" dirty="0"/>
              <a:t> </a:t>
            </a:r>
            <a:r>
              <a:rPr lang="en-US" sz="2400" dirty="0" err="1"/>
              <a:t>niệm</a:t>
            </a:r>
            <a:r>
              <a:rPr lang="en-US" sz="2400" dirty="0"/>
              <a:t> ?</a:t>
            </a:r>
          </a:p>
          <a:p>
            <a:pPr marL="457200" indent="-457200">
              <a:buAutoNum type="arabicPeriod"/>
            </a:pP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nhược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Suno 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?</a:t>
            </a:r>
          </a:p>
          <a:p>
            <a:pPr marL="457200" indent="-457200">
              <a:buAutoNum type="arabicPeriod"/>
            </a:pP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luận</a:t>
            </a:r>
            <a:r>
              <a:rPr lang="en-US" sz="2400" dirty="0"/>
              <a:t> ?</a:t>
            </a:r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019101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1_Office Theme">
  <a:themeElements>
    <a:clrScheme name="Islander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E56925"/>
      </a:accent1>
      <a:accent2>
        <a:srgbClr val="F19936"/>
      </a:accent2>
      <a:accent3>
        <a:srgbClr val="5DA3CC"/>
      </a:accent3>
      <a:accent4>
        <a:srgbClr val="B3DAD6"/>
      </a:accent4>
      <a:accent5>
        <a:srgbClr val="76B144"/>
      </a:accent5>
      <a:accent6>
        <a:srgbClr val="438F63"/>
      </a:accent6>
      <a:hlink>
        <a:srgbClr val="E2DD60"/>
      </a:hlink>
      <a:folHlink>
        <a:srgbClr val="E78576"/>
      </a:folHlink>
    </a:clrScheme>
    <a:fontScheme name="Custom 1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ian Pacific heritage_TM10131490_Win32_LH_v4" id="{B2A0ACF3-34FF-4C5A-A737-2558AC4C9FEA}" vid="{FBDB92CC-0A39-410B-A16B-8C101333048E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141EBB-3386-4164-A294-111C6309E3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18D074-6F3D-488C-8220-03C2DEFDE85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F9CE79C-5104-4273-B83B-D03AD839A8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Asian Pacific American Heritage Month presentation</Template>
  <TotalTime>92</TotalTime>
  <Words>122</Words>
  <Application>Microsoft Office PowerPoint</Application>
  <PresentationFormat>Widescreen</PresentationFormat>
  <Paragraphs>29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1_Office Theme</vt:lpstr>
      <vt:lpstr>TÓM TẮT TÌM HIỂU MỘT SỐ CÔNG CỤ AI </vt:lpstr>
      <vt:lpstr>I. CHAT GPT</vt:lpstr>
      <vt:lpstr>II. GAMMA</vt:lpstr>
      <vt:lpstr>III. SUNO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Trangg Quynhh</dc:creator>
  <cp:keywords/>
  <dc:description/>
  <cp:lastModifiedBy>Trangg Quynhh</cp:lastModifiedBy>
  <cp:revision>1</cp:revision>
  <dcterms:created xsi:type="dcterms:W3CDTF">2025-12-29T08:41:56Z</dcterms:created>
  <dcterms:modified xsi:type="dcterms:W3CDTF">2025-12-29T10:14:03Z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