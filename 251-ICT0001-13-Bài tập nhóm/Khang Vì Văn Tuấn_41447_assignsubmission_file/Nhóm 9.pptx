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8" r:id="rId1"/>
  </p:sldMasterIdLst>
  <p:sldIdLst>
    <p:sldId id="264" r:id="rId2"/>
    <p:sldId id="256" r:id="rId3"/>
    <p:sldId id="257" r:id="rId4"/>
    <p:sldId id="258" r:id="rId5"/>
    <p:sldId id="259" r:id="rId6"/>
    <p:sldId id="260" r:id="rId7"/>
    <p:sldId id="261" r:id="rId8"/>
    <p:sldId id="263" r:id="rId9"/>
    <p:sldId id="262" r:id="rId10"/>
  </p:sldIdLst>
  <p:sldSz cx="18288000" cy="10287000"/>
  <p:notesSz cx="6858000" cy="9144000"/>
  <p:embeddedFontLst>
    <p:embeddedFont>
      <p:font typeface="Prata" panose="020B0604020202020204" charset="0"/>
      <p:regular r:id="rId11"/>
    </p:embeddedFont>
    <p:embeddedFont>
      <p:font typeface="Calibri Light" panose="020F0302020204030204" pitchFamily="34" charset="0"/>
      <p:regular r:id="rId12"/>
      <p:italic r:id="rId13"/>
    </p:embeddedFont>
    <p:embeddedFont>
      <p:font typeface="Arial Black" panose="020B0A04020102020204" pitchFamily="34" charset="0"/>
      <p:bold r:id="rId14"/>
    </p:embeddedFont>
    <p:embeddedFont>
      <p:font typeface="Montserrat Extra-Light" panose="020B0604020202020204" charset="0"/>
      <p:regular r:id="rId15"/>
    </p:embeddedFont>
    <p:embeddedFont>
      <p:font typeface="Calibri" panose="020F0502020204030204" pitchFamily="34" charset="0"/>
      <p:regular r:id="rId16"/>
      <p:bold r:id="rId17"/>
      <p:italic r:id="rId18"/>
      <p:boldItalic r:id="rId19"/>
    </p:embeddedFont>
    <p:embeddedFont>
      <p:font typeface="Montserrat Medium"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smtClean="0"/>
              <a:t>Click to edit Master title style</a:t>
            </a:r>
            <a:endParaRPr lang="en-US"/>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10971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511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smtClean="0"/>
              <a:t>Click to edit Master title style</a:t>
            </a:r>
            <a:endParaRPr lang="en-US"/>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0447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57300" y="2738438"/>
            <a:ext cx="7772400" cy="65270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9258300" y="2738438"/>
            <a:ext cx="7772400" cy="65270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28391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28340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77149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86473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smtClean="0"/>
              <a:t>Click to edit Master title style</a:t>
            </a:r>
            <a:endParaRPr lang="en-US"/>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87320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smtClean="0"/>
              <a:t>Click to edit Master title style</a:t>
            </a:r>
            <a:endParaRPr lang="en-US"/>
          </a:p>
        </p:txBody>
      </p:sp>
      <p:sp>
        <p:nvSpPr>
          <p:cNvPr id="3" name="Picture Placeholder 2"/>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US"/>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36658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41589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74123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1D8BD707-D9CF-40AE-B4C6-C98DA3205C09}" type="datetimeFigureOut">
              <a:rPr lang="en-US" smtClean="0"/>
              <a:pPr/>
              <a:t>12/18/2025</a:t>
            </a:fld>
            <a:endParaRPr 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20926461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3270E"/>
        </a:solidFill>
        <a:effectLst/>
      </p:bgPr>
    </p:bg>
    <p:spTree>
      <p:nvGrpSpPr>
        <p:cNvPr id="1" name=""/>
        <p:cNvGrpSpPr/>
        <p:nvPr/>
      </p:nvGrpSpPr>
      <p:grpSpPr>
        <a:xfrm>
          <a:off x="0" y="0"/>
          <a:ext cx="0" cy="0"/>
          <a:chOff x="0" y="0"/>
          <a:chExt cx="0" cy="0"/>
        </a:xfrm>
      </p:grpSpPr>
      <p:sp>
        <p:nvSpPr>
          <p:cNvPr id="2" name="AutoShape 2"/>
          <p:cNvSpPr/>
          <p:nvPr/>
        </p:nvSpPr>
        <p:spPr>
          <a:xfrm>
            <a:off x="291873" y="190500"/>
            <a:ext cx="17873089" cy="9872089"/>
          </a:xfrm>
          <a:prstGeom prst="rect">
            <a:avLst/>
          </a:prstGeom>
          <a:solidFill>
            <a:srgbClr val="FDFEEC"/>
          </a:solidFill>
        </p:spPr>
      </p:sp>
      <p:grpSp>
        <p:nvGrpSpPr>
          <p:cNvPr id="3" name="Group 3"/>
          <p:cNvGrpSpPr/>
          <p:nvPr/>
        </p:nvGrpSpPr>
        <p:grpSpPr>
          <a:xfrm>
            <a:off x="-576303" y="8915522"/>
            <a:ext cx="9804721" cy="795175"/>
            <a:chOff x="0" y="0"/>
            <a:chExt cx="13072962" cy="1060234"/>
          </a:xfrm>
        </p:grpSpPr>
        <p:sp>
          <p:nvSpPr>
            <p:cNvPr id="4" name="AutoShape 4"/>
            <p:cNvSpPr/>
            <p:nvPr/>
          </p:nvSpPr>
          <p:spPr>
            <a:xfrm>
              <a:off x="0" y="0"/>
              <a:ext cx="13072962" cy="1060234"/>
            </a:xfrm>
            <a:prstGeom prst="rect">
              <a:avLst/>
            </a:prstGeom>
            <a:solidFill>
              <a:srgbClr val="925520"/>
            </a:solidFill>
          </p:spPr>
        </p:sp>
        <p:sp>
          <p:nvSpPr>
            <p:cNvPr id="5" name="TextBox 5"/>
            <p:cNvSpPr txBox="1"/>
            <p:nvPr/>
          </p:nvSpPr>
          <p:spPr>
            <a:xfrm>
              <a:off x="1334765" y="339618"/>
              <a:ext cx="11095006" cy="359072"/>
            </a:xfrm>
            <a:prstGeom prst="rect">
              <a:avLst/>
            </a:prstGeom>
          </p:spPr>
          <p:txBody>
            <a:bodyPr lIns="0" tIns="0" rIns="0" bIns="0" rtlCol="0" anchor="t">
              <a:spAutoFit/>
            </a:bodyPr>
            <a:lstStyle/>
            <a:p>
              <a:pPr algn="l">
                <a:lnSpc>
                  <a:spcPts val="2100"/>
                </a:lnSpc>
              </a:pPr>
              <a:r>
                <a:rPr lang="vi-VN" sz="1500" b="1" spc="300" dirty="0" smtClean="0">
                  <a:solidFill>
                    <a:srgbClr val="FDFEEC"/>
                  </a:solidFill>
                  <a:latin typeface="Montserrat Medium"/>
                  <a:ea typeface="Montserrat Medium"/>
                  <a:cs typeface="Montserrat Medium"/>
                  <a:sym typeface="Montserrat Medium"/>
                </a:rPr>
                <a:t>NHÓM 9</a:t>
              </a:r>
              <a:endParaRPr lang="en-US" sz="1500" b="1" spc="300" dirty="0">
                <a:solidFill>
                  <a:srgbClr val="FDFEEC"/>
                </a:solidFill>
                <a:latin typeface="Montserrat Medium"/>
                <a:ea typeface="Montserrat Medium"/>
                <a:cs typeface="Montserrat Medium"/>
                <a:sym typeface="Montserrat Medium"/>
              </a:endParaRPr>
            </a:p>
          </p:txBody>
        </p:sp>
      </p:grpSp>
      <p:grpSp>
        <p:nvGrpSpPr>
          <p:cNvPr id="6" name="Group 6"/>
          <p:cNvGrpSpPr/>
          <p:nvPr/>
        </p:nvGrpSpPr>
        <p:grpSpPr>
          <a:xfrm>
            <a:off x="1071909" y="1071909"/>
            <a:ext cx="9156907" cy="1230166"/>
            <a:chOff x="0" y="0"/>
            <a:chExt cx="12209209" cy="1640221"/>
          </a:xfrm>
        </p:grpSpPr>
        <p:sp>
          <p:nvSpPr>
            <p:cNvPr id="7" name="TextBox 7"/>
            <p:cNvSpPr txBox="1"/>
            <p:nvPr/>
          </p:nvSpPr>
          <p:spPr>
            <a:xfrm>
              <a:off x="0" y="0"/>
              <a:ext cx="12209209" cy="812800"/>
            </a:xfrm>
            <a:prstGeom prst="rect">
              <a:avLst/>
            </a:prstGeom>
          </p:spPr>
          <p:txBody>
            <a:bodyPr lIns="0" tIns="0" rIns="0" bIns="0" rtlCol="0" anchor="t">
              <a:spAutoFit/>
            </a:bodyPr>
            <a:lstStyle/>
            <a:p>
              <a:pPr algn="l">
                <a:lnSpc>
                  <a:spcPts val="4800"/>
                </a:lnSpc>
              </a:pPr>
              <a:r>
                <a:rPr lang="en-US" sz="4000" b="1" spc="400" dirty="0">
                  <a:solidFill>
                    <a:srgbClr val="925520"/>
                  </a:solidFill>
                  <a:latin typeface="Montserrat Medium"/>
                  <a:ea typeface="Montserrat Medium"/>
                  <a:cs typeface="Montserrat Medium"/>
                  <a:sym typeface="Montserrat Medium"/>
                </a:rPr>
                <a:t>GIỚI THIỆU THÀNH VIÊN</a:t>
              </a:r>
            </a:p>
          </p:txBody>
        </p:sp>
        <p:sp>
          <p:nvSpPr>
            <p:cNvPr id="8" name="TextBox 8"/>
            <p:cNvSpPr txBox="1"/>
            <p:nvPr/>
          </p:nvSpPr>
          <p:spPr>
            <a:xfrm>
              <a:off x="0" y="1021096"/>
              <a:ext cx="11095006" cy="619125"/>
            </a:xfrm>
            <a:prstGeom prst="rect">
              <a:avLst/>
            </a:prstGeom>
          </p:spPr>
          <p:txBody>
            <a:bodyPr lIns="0" tIns="0" rIns="0" bIns="0" rtlCol="0" anchor="t">
              <a:spAutoFit/>
            </a:bodyPr>
            <a:lstStyle/>
            <a:p>
              <a:pPr algn="l">
                <a:lnSpc>
                  <a:spcPts val="3600"/>
                </a:lnSpc>
              </a:pPr>
              <a:r>
                <a:rPr lang="en-US" sz="3000" i="1">
                  <a:solidFill>
                    <a:srgbClr val="43270E"/>
                  </a:solidFill>
                  <a:latin typeface="Prata"/>
                  <a:ea typeface="Prata"/>
                  <a:cs typeface="Prata"/>
                  <a:sym typeface="Prata"/>
                </a:rPr>
                <a:t>Thông tin Về Nhóm Chúng tôi</a:t>
              </a:r>
            </a:p>
          </p:txBody>
        </p:sp>
      </p:grpSp>
      <p:grpSp>
        <p:nvGrpSpPr>
          <p:cNvPr id="9" name="Group 9"/>
          <p:cNvGrpSpPr/>
          <p:nvPr/>
        </p:nvGrpSpPr>
        <p:grpSpPr>
          <a:xfrm>
            <a:off x="1303844" y="6587510"/>
            <a:ext cx="4229440" cy="951243"/>
            <a:chOff x="0" y="-28575"/>
            <a:chExt cx="5639253" cy="1268323"/>
          </a:xfrm>
        </p:grpSpPr>
        <p:sp>
          <p:nvSpPr>
            <p:cNvPr id="10" name="TextBox 10"/>
            <p:cNvSpPr txBox="1"/>
            <p:nvPr/>
          </p:nvSpPr>
          <p:spPr>
            <a:xfrm>
              <a:off x="0" y="-28575"/>
              <a:ext cx="5639253" cy="666849"/>
            </a:xfrm>
            <a:prstGeom prst="rect">
              <a:avLst/>
            </a:prstGeom>
          </p:spPr>
          <p:txBody>
            <a:bodyPr lIns="0" tIns="0" rIns="0" bIns="0" rtlCol="0" anchor="t">
              <a:spAutoFit/>
            </a:bodyPr>
            <a:lstStyle/>
            <a:p>
              <a:pPr algn="ctr">
                <a:lnSpc>
                  <a:spcPts val="3900"/>
                </a:lnSpc>
              </a:pPr>
              <a:r>
                <a:rPr lang="vi-VN" sz="3000" b="1" dirty="0" smtClean="0">
                  <a:solidFill>
                    <a:srgbClr val="925520"/>
                  </a:solidFill>
                  <a:latin typeface="Montserrat Medium"/>
                  <a:ea typeface="Montserrat Medium"/>
                  <a:cs typeface="Montserrat Medium"/>
                  <a:sym typeface="Montserrat Medium"/>
                </a:rPr>
                <a:t>Vì Văn Tuấn Khang</a:t>
              </a:r>
              <a:endParaRPr lang="en-US" sz="3000" b="1" dirty="0">
                <a:solidFill>
                  <a:srgbClr val="925520"/>
                </a:solidFill>
                <a:latin typeface="Montserrat Medium"/>
                <a:ea typeface="Montserrat Medium"/>
                <a:cs typeface="Montserrat Medium"/>
                <a:sym typeface="Montserrat Medium"/>
              </a:endParaRPr>
            </a:p>
          </p:txBody>
        </p:sp>
        <p:sp>
          <p:nvSpPr>
            <p:cNvPr id="11" name="TextBox 11"/>
            <p:cNvSpPr txBox="1"/>
            <p:nvPr/>
          </p:nvSpPr>
          <p:spPr>
            <a:xfrm>
              <a:off x="0" y="802021"/>
              <a:ext cx="5639253" cy="437727"/>
            </a:xfrm>
            <a:prstGeom prst="rect">
              <a:avLst/>
            </a:prstGeom>
          </p:spPr>
          <p:txBody>
            <a:bodyPr lIns="0" tIns="0" rIns="0" bIns="0" rtlCol="0" anchor="t">
              <a:spAutoFit/>
            </a:bodyPr>
            <a:lstStyle/>
            <a:p>
              <a:pPr algn="ctr">
                <a:lnSpc>
                  <a:spcPts val="2800"/>
                </a:lnSpc>
              </a:pPr>
              <a:r>
                <a:rPr lang="en-US" sz="2000">
                  <a:solidFill>
                    <a:srgbClr val="43270E"/>
                  </a:solidFill>
                  <a:latin typeface="Montserrat Extra-Light"/>
                  <a:ea typeface="Montserrat Extra-Light"/>
                  <a:cs typeface="Montserrat Extra-Light"/>
                  <a:sym typeface="Montserrat Extra-Light"/>
                </a:rPr>
                <a:t>Trưởng dự án</a:t>
              </a:r>
            </a:p>
          </p:txBody>
        </p:sp>
      </p:grpSp>
      <p:grpSp>
        <p:nvGrpSpPr>
          <p:cNvPr id="12" name="Group 12"/>
          <p:cNvGrpSpPr/>
          <p:nvPr/>
        </p:nvGrpSpPr>
        <p:grpSpPr>
          <a:xfrm>
            <a:off x="4998977" y="6605245"/>
            <a:ext cx="4229440" cy="982020"/>
            <a:chOff x="0" y="-28575"/>
            <a:chExt cx="5639253" cy="1309360"/>
          </a:xfrm>
        </p:grpSpPr>
        <p:sp>
          <p:nvSpPr>
            <p:cNvPr id="13" name="TextBox 13"/>
            <p:cNvSpPr txBox="1"/>
            <p:nvPr/>
          </p:nvSpPr>
          <p:spPr>
            <a:xfrm>
              <a:off x="0" y="-28575"/>
              <a:ext cx="5639253" cy="666849"/>
            </a:xfrm>
            <a:prstGeom prst="rect">
              <a:avLst/>
            </a:prstGeom>
          </p:spPr>
          <p:txBody>
            <a:bodyPr lIns="0" tIns="0" rIns="0" bIns="0" rtlCol="0" anchor="t">
              <a:spAutoFit/>
            </a:bodyPr>
            <a:lstStyle/>
            <a:p>
              <a:pPr algn="ctr">
                <a:lnSpc>
                  <a:spcPts val="3900"/>
                </a:lnSpc>
              </a:pPr>
              <a:r>
                <a:rPr lang="vi-VN" sz="3000" b="1" dirty="0" smtClean="0">
                  <a:solidFill>
                    <a:srgbClr val="925520"/>
                  </a:solidFill>
                  <a:latin typeface="Montserrat Medium"/>
                  <a:ea typeface="Montserrat Medium"/>
                  <a:cs typeface="Montserrat Medium"/>
                  <a:sym typeface="Montserrat Medium"/>
                </a:rPr>
                <a:t>Tòng Văn Cường</a:t>
              </a:r>
              <a:endParaRPr lang="en-US" sz="3000" b="1" dirty="0">
                <a:solidFill>
                  <a:srgbClr val="925520"/>
                </a:solidFill>
                <a:latin typeface="Montserrat Medium"/>
                <a:ea typeface="Montserrat Medium"/>
                <a:cs typeface="Montserrat Medium"/>
                <a:sym typeface="Montserrat Medium"/>
              </a:endParaRPr>
            </a:p>
          </p:txBody>
        </p:sp>
        <p:sp>
          <p:nvSpPr>
            <p:cNvPr id="14" name="TextBox 14"/>
            <p:cNvSpPr txBox="1"/>
            <p:nvPr/>
          </p:nvSpPr>
          <p:spPr>
            <a:xfrm>
              <a:off x="0" y="802021"/>
              <a:ext cx="5639253" cy="478764"/>
            </a:xfrm>
            <a:prstGeom prst="rect">
              <a:avLst/>
            </a:prstGeom>
          </p:spPr>
          <p:txBody>
            <a:bodyPr lIns="0" tIns="0" rIns="0" bIns="0" rtlCol="0" anchor="t">
              <a:spAutoFit/>
            </a:bodyPr>
            <a:lstStyle/>
            <a:p>
              <a:pPr algn="ctr">
                <a:lnSpc>
                  <a:spcPts val="2800"/>
                </a:lnSpc>
              </a:pPr>
              <a:r>
                <a:rPr lang="en-US" sz="2000" dirty="0">
                  <a:solidFill>
                    <a:srgbClr val="43270E"/>
                  </a:solidFill>
                  <a:latin typeface="Montserrat Extra-Light"/>
                  <a:ea typeface="Montserrat Extra-Light"/>
                  <a:cs typeface="Montserrat Extra-Light"/>
                  <a:sym typeface="Montserrat Extra-Light"/>
                </a:rPr>
                <a:t>Thành viên </a:t>
              </a:r>
              <a:r>
                <a:rPr lang="vi-VN" sz="2000" dirty="0">
                  <a:solidFill>
                    <a:srgbClr val="43270E"/>
                  </a:solidFill>
                  <a:latin typeface="Montserrat Extra-Light"/>
                  <a:ea typeface="Montserrat Extra-Light"/>
                  <a:cs typeface="Montserrat Extra-Light"/>
                  <a:sym typeface="Montserrat Extra-Light"/>
                </a:rPr>
                <a:t>nhóm</a:t>
              </a:r>
              <a:endParaRPr lang="en-US" sz="2000" dirty="0">
                <a:solidFill>
                  <a:srgbClr val="43270E"/>
                </a:solidFill>
                <a:latin typeface="Montserrat Extra-Light"/>
                <a:ea typeface="Montserrat Extra-Light"/>
                <a:cs typeface="Montserrat Extra-Light"/>
                <a:sym typeface="Montserrat Extra-Light"/>
              </a:endParaRPr>
            </a:p>
          </p:txBody>
        </p:sp>
      </p:grpSp>
      <p:grpSp>
        <p:nvGrpSpPr>
          <p:cNvPr id="15" name="Group 15"/>
          <p:cNvGrpSpPr/>
          <p:nvPr/>
        </p:nvGrpSpPr>
        <p:grpSpPr>
          <a:xfrm>
            <a:off x="8125668" y="6659847"/>
            <a:ext cx="4229440" cy="982020"/>
            <a:chOff x="0" y="-28575"/>
            <a:chExt cx="5639253" cy="1309359"/>
          </a:xfrm>
        </p:grpSpPr>
        <p:sp>
          <p:nvSpPr>
            <p:cNvPr id="16" name="TextBox 16"/>
            <p:cNvSpPr txBox="1"/>
            <p:nvPr/>
          </p:nvSpPr>
          <p:spPr>
            <a:xfrm>
              <a:off x="0" y="-28575"/>
              <a:ext cx="5639253" cy="666849"/>
            </a:xfrm>
            <a:prstGeom prst="rect">
              <a:avLst/>
            </a:prstGeom>
          </p:spPr>
          <p:txBody>
            <a:bodyPr lIns="0" tIns="0" rIns="0" bIns="0" rtlCol="0" anchor="t">
              <a:spAutoFit/>
            </a:bodyPr>
            <a:lstStyle/>
            <a:p>
              <a:pPr algn="ctr">
                <a:lnSpc>
                  <a:spcPts val="3900"/>
                </a:lnSpc>
              </a:pPr>
              <a:r>
                <a:rPr lang="vi-VN" sz="3000" b="1" dirty="0" smtClean="0">
                  <a:solidFill>
                    <a:srgbClr val="925520"/>
                  </a:solidFill>
                  <a:latin typeface="Montserrat Medium"/>
                  <a:ea typeface="Montserrat Medium"/>
                  <a:cs typeface="Montserrat Medium"/>
                  <a:sym typeface="Montserrat Medium"/>
                </a:rPr>
                <a:t>Lò Đức Nam</a:t>
              </a:r>
              <a:endParaRPr lang="en-US" sz="3000" b="1" dirty="0">
                <a:solidFill>
                  <a:srgbClr val="925520"/>
                </a:solidFill>
                <a:latin typeface="Montserrat Medium"/>
                <a:ea typeface="Montserrat Medium"/>
                <a:cs typeface="Montserrat Medium"/>
                <a:sym typeface="Montserrat Medium"/>
              </a:endParaRPr>
            </a:p>
          </p:txBody>
        </p:sp>
        <p:sp>
          <p:nvSpPr>
            <p:cNvPr id="17" name="TextBox 17"/>
            <p:cNvSpPr txBox="1"/>
            <p:nvPr/>
          </p:nvSpPr>
          <p:spPr>
            <a:xfrm>
              <a:off x="0" y="802020"/>
              <a:ext cx="5639253" cy="478764"/>
            </a:xfrm>
            <a:prstGeom prst="rect">
              <a:avLst/>
            </a:prstGeom>
          </p:spPr>
          <p:txBody>
            <a:bodyPr lIns="0" tIns="0" rIns="0" bIns="0" rtlCol="0" anchor="t">
              <a:spAutoFit/>
            </a:bodyPr>
            <a:lstStyle/>
            <a:p>
              <a:pPr algn="ctr">
                <a:lnSpc>
                  <a:spcPts val="2800"/>
                </a:lnSpc>
              </a:pPr>
              <a:r>
                <a:rPr lang="en-US" sz="2000" dirty="0">
                  <a:solidFill>
                    <a:srgbClr val="43270E"/>
                  </a:solidFill>
                  <a:latin typeface="Montserrat Extra-Light"/>
                  <a:ea typeface="Montserrat Extra-Light"/>
                  <a:cs typeface="Montserrat Extra-Light"/>
                  <a:sym typeface="Montserrat Extra-Light"/>
                </a:rPr>
                <a:t>Thành viên </a:t>
              </a:r>
              <a:r>
                <a:rPr lang="vi-VN" sz="2000" dirty="0">
                  <a:solidFill>
                    <a:srgbClr val="43270E"/>
                  </a:solidFill>
                  <a:latin typeface="Montserrat Extra-Light"/>
                  <a:ea typeface="Montserrat Extra-Light"/>
                  <a:cs typeface="Montserrat Extra-Light"/>
                  <a:sym typeface="Montserrat Extra-Light"/>
                </a:rPr>
                <a:t>nhóm</a:t>
              </a:r>
              <a:endParaRPr lang="en-US" sz="2000" dirty="0">
                <a:solidFill>
                  <a:srgbClr val="43270E"/>
                </a:solidFill>
                <a:latin typeface="Montserrat Extra-Light"/>
                <a:ea typeface="Montserrat Extra-Light"/>
                <a:cs typeface="Montserrat Extra-Light"/>
                <a:sym typeface="Montserrat Extra-Light"/>
              </a:endParaRPr>
            </a:p>
          </p:txBody>
        </p:sp>
      </p:grpSp>
      <p:sp>
        <p:nvSpPr>
          <p:cNvPr id="21" name="TextBox 20"/>
          <p:cNvSpPr txBox="1"/>
          <p:nvPr/>
        </p:nvSpPr>
        <p:spPr>
          <a:xfrm>
            <a:off x="11374385" y="6562845"/>
            <a:ext cx="3509399" cy="1951816"/>
          </a:xfrm>
          <a:prstGeom prst="rect">
            <a:avLst/>
          </a:prstGeom>
          <a:noFill/>
        </p:spPr>
        <p:txBody>
          <a:bodyPr wrap="square" rtlCol="0">
            <a:spAutoFit/>
          </a:bodyPr>
          <a:lstStyle/>
          <a:p>
            <a:pPr lvl="0" algn="ctr">
              <a:lnSpc>
                <a:spcPts val="3900"/>
              </a:lnSpc>
            </a:pPr>
            <a:r>
              <a:rPr lang="vi-VN" sz="3000" b="1" dirty="0" smtClean="0">
                <a:solidFill>
                  <a:srgbClr val="925520"/>
                </a:solidFill>
                <a:latin typeface="Montserrat Medium"/>
                <a:ea typeface="Montserrat Medium"/>
                <a:cs typeface="Montserrat Medium"/>
                <a:sym typeface="Montserrat Medium"/>
              </a:rPr>
              <a:t>Tếnh Minh Hội</a:t>
            </a:r>
          </a:p>
          <a:p>
            <a:pPr lvl="0" algn="ctr">
              <a:lnSpc>
                <a:spcPts val="3900"/>
              </a:lnSpc>
            </a:pPr>
            <a:endParaRPr lang="vi-VN" sz="3000" b="1" dirty="0" smtClean="0">
              <a:solidFill>
                <a:srgbClr val="925520"/>
              </a:solidFill>
              <a:latin typeface="Montserrat Medium"/>
              <a:ea typeface="Montserrat Medium"/>
              <a:cs typeface="Montserrat Medium"/>
              <a:sym typeface="Montserrat Medium"/>
            </a:endParaRPr>
          </a:p>
          <a:p>
            <a:pPr lvl="0" algn="ctr">
              <a:lnSpc>
                <a:spcPts val="2800"/>
              </a:lnSpc>
            </a:pPr>
            <a:r>
              <a:rPr lang="en-US" sz="2000" dirty="0">
                <a:solidFill>
                  <a:srgbClr val="43270E"/>
                </a:solidFill>
                <a:latin typeface="Montserrat Extra-Light"/>
                <a:ea typeface="Montserrat Extra-Light"/>
                <a:cs typeface="Montserrat Extra-Light"/>
                <a:sym typeface="Montserrat Extra-Light"/>
              </a:rPr>
              <a:t>Thành viên </a:t>
            </a:r>
            <a:r>
              <a:rPr lang="vi-VN" sz="2000" dirty="0">
                <a:solidFill>
                  <a:srgbClr val="43270E"/>
                </a:solidFill>
                <a:latin typeface="Montserrat Extra-Light"/>
                <a:ea typeface="Montserrat Extra-Light"/>
                <a:cs typeface="Montserrat Extra-Light"/>
                <a:sym typeface="Montserrat Extra-Light"/>
              </a:rPr>
              <a:t>nhóm</a:t>
            </a:r>
            <a:endParaRPr lang="en-US" sz="2000" dirty="0">
              <a:solidFill>
                <a:srgbClr val="43270E"/>
              </a:solidFill>
              <a:latin typeface="Montserrat Extra-Light"/>
              <a:ea typeface="Montserrat Extra-Light"/>
              <a:cs typeface="Montserrat Extra-Light"/>
              <a:sym typeface="Montserrat Extra-Light"/>
            </a:endParaRPr>
          </a:p>
          <a:p>
            <a:pPr lvl="0" algn="ctr">
              <a:lnSpc>
                <a:spcPts val="3900"/>
              </a:lnSpc>
            </a:pPr>
            <a:endParaRPr lang="en-US" sz="3000" b="1" dirty="0">
              <a:solidFill>
                <a:srgbClr val="925520"/>
              </a:solidFill>
              <a:latin typeface="Montserrat Medium"/>
              <a:ea typeface="Montserrat Medium"/>
              <a:cs typeface="Montserrat Medium"/>
              <a:sym typeface="Montserrat Medium"/>
            </a:endParaRPr>
          </a:p>
        </p:txBody>
      </p:sp>
      <p:sp>
        <p:nvSpPr>
          <p:cNvPr id="22" name="TextBox 21"/>
          <p:cNvSpPr txBox="1"/>
          <p:nvPr/>
        </p:nvSpPr>
        <p:spPr>
          <a:xfrm>
            <a:off x="14883784" y="6605245"/>
            <a:ext cx="2794616" cy="1451679"/>
          </a:xfrm>
          <a:prstGeom prst="rect">
            <a:avLst/>
          </a:prstGeom>
          <a:noFill/>
        </p:spPr>
        <p:txBody>
          <a:bodyPr wrap="square" rtlCol="0">
            <a:spAutoFit/>
          </a:bodyPr>
          <a:lstStyle/>
          <a:p>
            <a:pPr lvl="0" algn="ctr">
              <a:lnSpc>
                <a:spcPts val="3900"/>
              </a:lnSpc>
            </a:pPr>
            <a:r>
              <a:rPr lang="vi-VN" sz="3000" b="1" dirty="0" smtClean="0">
                <a:solidFill>
                  <a:srgbClr val="925520"/>
                </a:solidFill>
                <a:latin typeface="Montserrat Medium"/>
                <a:ea typeface="Montserrat Medium"/>
                <a:cs typeface="Montserrat Medium"/>
                <a:sym typeface="Montserrat Medium"/>
              </a:rPr>
              <a:t>Đỗ Văn Long</a:t>
            </a:r>
          </a:p>
          <a:p>
            <a:pPr lvl="0" algn="ctr">
              <a:lnSpc>
                <a:spcPts val="3900"/>
              </a:lnSpc>
            </a:pPr>
            <a:endParaRPr lang="vi-VN" sz="3000" b="1" dirty="0">
              <a:solidFill>
                <a:srgbClr val="925520"/>
              </a:solidFill>
              <a:latin typeface="Montserrat Medium"/>
              <a:ea typeface="Montserrat Medium"/>
              <a:cs typeface="Montserrat Medium"/>
              <a:sym typeface="Montserrat Medium"/>
            </a:endParaRPr>
          </a:p>
          <a:p>
            <a:pPr lvl="0" algn="ctr">
              <a:lnSpc>
                <a:spcPts val="2800"/>
              </a:lnSpc>
            </a:pPr>
            <a:r>
              <a:rPr lang="en-US" sz="2000" dirty="0">
                <a:solidFill>
                  <a:srgbClr val="43270E"/>
                </a:solidFill>
                <a:latin typeface="Montserrat Extra-Light"/>
                <a:ea typeface="Montserrat Extra-Light"/>
                <a:cs typeface="Montserrat Extra-Light"/>
                <a:sym typeface="Montserrat Extra-Light"/>
              </a:rPr>
              <a:t>Thành viên </a:t>
            </a:r>
            <a:r>
              <a:rPr lang="vi-VN" sz="2000" dirty="0">
                <a:solidFill>
                  <a:srgbClr val="43270E"/>
                </a:solidFill>
                <a:latin typeface="Montserrat Extra-Light"/>
                <a:ea typeface="Montserrat Extra-Light"/>
                <a:cs typeface="Montserrat Extra-Light"/>
                <a:sym typeface="Montserrat Extra-Light"/>
              </a:rPr>
              <a:t>nhóm</a:t>
            </a:r>
            <a:endParaRPr lang="en-US" sz="2000" dirty="0">
              <a:solidFill>
                <a:srgbClr val="43270E"/>
              </a:solidFill>
              <a:latin typeface="Montserrat Extra-Light"/>
              <a:ea typeface="Montserrat Extra-Light"/>
              <a:cs typeface="Montserrat Extra-Light"/>
              <a:sym typeface="Montserrat Extra-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1">
                                            <p:txEl>
                                              <p:pRg st="0" end="0"/>
                                            </p:txEl>
                                          </p:spTgt>
                                        </p:tgtEl>
                                        <p:attrNameLst>
                                          <p:attrName>style.visibility</p:attrName>
                                        </p:attrNameLst>
                                      </p:cBhvr>
                                      <p:to>
                                        <p:strVal val="visible"/>
                                      </p:to>
                                    </p:set>
                                    <p:anim calcmode="lin" valueType="num">
                                      <p:cBhvr additive="base">
                                        <p:cTn id="31"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1">
                                            <p:txEl>
                                              <p:pRg st="2" end="2"/>
                                            </p:txEl>
                                          </p:spTgt>
                                        </p:tgtEl>
                                        <p:attrNameLst>
                                          <p:attrName>style.visibility</p:attrName>
                                        </p:attrNameLst>
                                      </p:cBhvr>
                                      <p:to>
                                        <p:strVal val="visible"/>
                                      </p:to>
                                    </p:set>
                                    <p:anim calcmode="lin" valueType="num">
                                      <p:cBhvr additive="base">
                                        <p:cTn id="35" dur="500" fill="hold"/>
                                        <p:tgtEl>
                                          <p:spTgt spid="21">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2">
                                            <p:txEl>
                                              <p:pRg st="0" end="0"/>
                                            </p:txEl>
                                          </p:spTgt>
                                        </p:tgtEl>
                                        <p:attrNameLst>
                                          <p:attrName>style.visibility</p:attrName>
                                        </p:attrNameLst>
                                      </p:cBhvr>
                                      <p:to>
                                        <p:strVal val="visible"/>
                                      </p:to>
                                    </p:set>
                                    <p:anim calcmode="lin" valueType="num">
                                      <p:cBhvr additive="base">
                                        <p:cTn id="41"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2">
                                            <p:txEl>
                                              <p:pRg st="0" end="0"/>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22">
                                            <p:txEl>
                                              <p:pRg st="2" end="2"/>
                                            </p:txEl>
                                          </p:spTgt>
                                        </p:tgtEl>
                                        <p:attrNameLst>
                                          <p:attrName>style.visibility</p:attrName>
                                        </p:attrNameLst>
                                      </p:cBhvr>
                                      <p:to>
                                        <p:strVal val="visible"/>
                                      </p:to>
                                    </p:set>
                                    <p:anim calcmode="lin" valueType="num">
                                      <p:cBhvr additive="base">
                                        <p:cTn id="45" dur="500" fill="hold"/>
                                        <p:tgtEl>
                                          <p:spTgt spid="22">
                                            <p:txEl>
                                              <p:pRg st="2" end="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5520"/>
        </a:solidFill>
        <a:effectLst/>
      </p:bgPr>
    </p:bg>
    <p:spTree>
      <p:nvGrpSpPr>
        <p:cNvPr id="1" name=""/>
        <p:cNvGrpSpPr/>
        <p:nvPr/>
      </p:nvGrpSpPr>
      <p:grpSpPr>
        <a:xfrm>
          <a:off x="0" y="0"/>
          <a:ext cx="0" cy="0"/>
          <a:chOff x="0" y="0"/>
          <a:chExt cx="0" cy="0"/>
        </a:xfrm>
      </p:grpSpPr>
      <p:grpSp>
        <p:nvGrpSpPr>
          <p:cNvPr id="2" name="Group 2"/>
          <p:cNvGrpSpPr/>
          <p:nvPr/>
        </p:nvGrpSpPr>
        <p:grpSpPr>
          <a:xfrm>
            <a:off x="7162800" y="647701"/>
            <a:ext cx="10239390" cy="615553"/>
            <a:chOff x="0" y="-9525"/>
            <a:chExt cx="13438675" cy="5308763"/>
          </a:xfrm>
        </p:grpSpPr>
        <p:sp>
          <p:nvSpPr>
            <p:cNvPr id="3" name="TextBox 3"/>
            <p:cNvSpPr txBox="1"/>
            <p:nvPr/>
          </p:nvSpPr>
          <p:spPr>
            <a:xfrm>
              <a:off x="2343669" y="-9525"/>
              <a:ext cx="11095006" cy="5308763"/>
            </a:xfrm>
            <a:prstGeom prst="rect">
              <a:avLst/>
            </a:prstGeom>
          </p:spPr>
          <p:txBody>
            <a:bodyPr lIns="0" tIns="0" rIns="0" bIns="0" rtlCol="0" anchor="t">
              <a:spAutoFit/>
            </a:bodyPr>
            <a:lstStyle/>
            <a:p>
              <a:pPr algn="r">
                <a:lnSpc>
                  <a:spcPts val="4800"/>
                </a:lnSpc>
              </a:pPr>
              <a:r>
                <a:rPr lang="vi-VN" sz="4000" i="1" dirty="0" smtClean="0">
                  <a:solidFill>
                    <a:schemeClr val="bg1"/>
                  </a:solidFill>
                  <a:latin typeface="Prata"/>
                  <a:ea typeface="Prata"/>
                  <a:cs typeface="Prata"/>
                  <a:sym typeface="Prata"/>
                </a:rPr>
                <a:t>Nhóm 9</a:t>
              </a:r>
              <a:endParaRPr lang="en-US" sz="4000" i="1" dirty="0">
                <a:solidFill>
                  <a:schemeClr val="bg1"/>
                </a:solidFill>
                <a:latin typeface="Prata"/>
                <a:ea typeface="Prata"/>
                <a:cs typeface="Prata"/>
                <a:sym typeface="Prata"/>
              </a:endParaRPr>
            </a:p>
          </p:txBody>
        </p:sp>
        <p:sp>
          <p:nvSpPr>
            <p:cNvPr id="4" name="TextBox 4"/>
            <p:cNvSpPr txBox="1"/>
            <p:nvPr/>
          </p:nvSpPr>
          <p:spPr>
            <a:xfrm>
              <a:off x="0" y="1571678"/>
              <a:ext cx="13438675" cy="3676219"/>
            </a:xfrm>
            <a:prstGeom prst="rect">
              <a:avLst/>
            </a:prstGeom>
          </p:spPr>
          <p:txBody>
            <a:bodyPr lIns="0" tIns="0" rIns="0" bIns="0" rtlCol="0" anchor="t">
              <a:spAutoFit/>
            </a:bodyPr>
            <a:lstStyle/>
            <a:p>
              <a:pPr algn="r">
                <a:lnSpc>
                  <a:spcPts val="21510"/>
                </a:lnSpc>
              </a:pPr>
              <a:endParaRPr lang="en-US" sz="17925" dirty="0">
                <a:solidFill>
                  <a:srgbClr val="FDFEEC"/>
                </a:solidFill>
                <a:latin typeface="Prata"/>
                <a:ea typeface="Prata"/>
                <a:cs typeface="Prata"/>
                <a:sym typeface="Prata"/>
              </a:endParaRPr>
            </a:p>
          </p:txBody>
        </p:sp>
      </p:grpSp>
      <p:grpSp>
        <p:nvGrpSpPr>
          <p:cNvPr id="5" name="Group 5"/>
          <p:cNvGrpSpPr/>
          <p:nvPr/>
        </p:nvGrpSpPr>
        <p:grpSpPr>
          <a:xfrm>
            <a:off x="8223929" y="8540924"/>
            <a:ext cx="10640374" cy="881622"/>
            <a:chOff x="0" y="0"/>
            <a:chExt cx="14187165" cy="1175496"/>
          </a:xfrm>
        </p:grpSpPr>
        <p:sp>
          <p:nvSpPr>
            <p:cNvPr id="6" name="AutoShape 6"/>
            <p:cNvSpPr/>
            <p:nvPr/>
          </p:nvSpPr>
          <p:spPr>
            <a:xfrm>
              <a:off x="0" y="0"/>
              <a:ext cx="14187165" cy="1175496"/>
            </a:xfrm>
            <a:prstGeom prst="rect">
              <a:avLst/>
            </a:prstGeom>
            <a:solidFill>
              <a:srgbClr val="43270E"/>
            </a:solidFill>
          </p:spPr>
        </p:sp>
        <p:sp>
          <p:nvSpPr>
            <p:cNvPr id="7" name="TextBox 7"/>
            <p:cNvSpPr txBox="1"/>
            <p:nvPr/>
          </p:nvSpPr>
          <p:spPr>
            <a:xfrm>
              <a:off x="1142675" y="353223"/>
              <a:ext cx="11095006" cy="443540"/>
            </a:xfrm>
            <a:prstGeom prst="rect">
              <a:avLst/>
            </a:prstGeom>
          </p:spPr>
          <p:txBody>
            <a:bodyPr lIns="0" tIns="0" rIns="0" bIns="0" rtlCol="0" anchor="t">
              <a:spAutoFit/>
            </a:bodyPr>
            <a:lstStyle/>
            <a:p>
              <a:pPr algn="r">
                <a:lnSpc>
                  <a:spcPts val="2800"/>
                </a:lnSpc>
              </a:pPr>
              <a:r>
                <a:rPr lang="vi-VN" sz="2000" spc="400" dirty="0" smtClean="0">
                  <a:solidFill>
                    <a:srgbClr val="FDFEEC"/>
                  </a:solidFill>
                  <a:latin typeface="Montserrat Extra-Light"/>
                  <a:ea typeface="Montserrat Extra-Light"/>
                  <a:cs typeface="Montserrat Extra-Light"/>
                  <a:sym typeface="Montserrat Extra-Light"/>
                </a:rPr>
                <a:t>DO CÁC BẠN NHÓM 9 THUYẾT TRÌNH</a:t>
              </a:r>
              <a:endParaRPr lang="en-US" sz="2000" spc="400" dirty="0">
                <a:solidFill>
                  <a:srgbClr val="FDFEEC"/>
                </a:solidFill>
                <a:latin typeface="Montserrat Extra-Light"/>
                <a:ea typeface="Montserrat Extra-Light"/>
                <a:cs typeface="Montserrat Extra-Light"/>
                <a:sym typeface="Montserrat Extra-Light"/>
              </a:endParaRPr>
            </a:p>
          </p:txBody>
        </p:sp>
      </p:gr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416"/>
            <a:ext cx="6172200" cy="10343416"/>
          </a:xfrm>
          <a:prstGeom prst="rect">
            <a:avLst/>
          </a:prstGeom>
        </p:spPr>
      </p:pic>
      <p:sp>
        <p:nvSpPr>
          <p:cNvPr id="10" name="TextBox 9"/>
          <p:cNvSpPr txBox="1"/>
          <p:nvPr/>
        </p:nvSpPr>
        <p:spPr>
          <a:xfrm>
            <a:off x="8001000" y="2933700"/>
            <a:ext cx="11506200" cy="3046988"/>
          </a:xfrm>
          <a:prstGeom prst="rect">
            <a:avLst/>
          </a:prstGeom>
          <a:noFill/>
        </p:spPr>
        <p:txBody>
          <a:bodyPr wrap="square" rtlCol="0">
            <a:spAutoFit/>
          </a:bodyPr>
          <a:lstStyle/>
          <a:p>
            <a:r>
              <a:rPr lang="vi-VN" sz="9600" b="1" i="1" dirty="0" smtClean="0">
                <a:solidFill>
                  <a:schemeClr val="bg1"/>
                </a:solidFill>
              </a:rPr>
              <a:t>TÌM HIỂU 1  </a:t>
            </a:r>
          </a:p>
          <a:p>
            <a:r>
              <a:rPr lang="vi-VN" sz="9600" b="1" i="1" dirty="0" smtClean="0">
                <a:solidFill>
                  <a:schemeClr val="bg1"/>
                </a:solidFill>
              </a:rPr>
              <a:t>SỐ CÔNG CỤ AI</a:t>
            </a:r>
            <a:endParaRPr lang="en-US" sz="9600" b="1" i="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3270E"/>
        </a:solidFill>
        <a:effectLst/>
      </p:bgPr>
    </p:bg>
    <p:spTree>
      <p:nvGrpSpPr>
        <p:cNvPr id="1" name=""/>
        <p:cNvGrpSpPr/>
        <p:nvPr/>
      </p:nvGrpSpPr>
      <p:grpSpPr>
        <a:xfrm>
          <a:off x="0" y="0"/>
          <a:ext cx="0" cy="0"/>
          <a:chOff x="0" y="0"/>
          <a:chExt cx="0" cy="0"/>
        </a:xfrm>
      </p:grpSpPr>
      <p:sp>
        <p:nvSpPr>
          <p:cNvPr id="3" name="TextBox 3"/>
          <p:cNvSpPr txBox="1"/>
          <p:nvPr/>
        </p:nvSpPr>
        <p:spPr>
          <a:xfrm>
            <a:off x="7315200" y="631371"/>
            <a:ext cx="10519221" cy="1077218"/>
          </a:xfrm>
          <a:prstGeom prst="rect">
            <a:avLst/>
          </a:prstGeom>
        </p:spPr>
        <p:txBody>
          <a:bodyPr wrap="square" lIns="0" tIns="0" rIns="0" bIns="0" rtlCol="0" anchor="t">
            <a:spAutoFit/>
          </a:bodyPr>
          <a:lstStyle/>
          <a:p>
            <a:pPr algn="l">
              <a:lnSpc>
                <a:spcPts val="8400"/>
              </a:lnSpc>
            </a:pPr>
            <a:r>
              <a:rPr lang="vi-VN" sz="7000" dirty="0" smtClean="0">
                <a:solidFill>
                  <a:srgbClr val="FDFEEC"/>
                </a:solidFill>
                <a:latin typeface="Prata"/>
                <a:ea typeface="Prata"/>
                <a:cs typeface="Prata"/>
                <a:sym typeface="Prata"/>
              </a:rPr>
              <a:t>CÁC CÔNG CỤ CHÍNH</a:t>
            </a:r>
            <a:endParaRPr lang="en-US" sz="7000" dirty="0">
              <a:solidFill>
                <a:srgbClr val="FDFEEC"/>
              </a:solidFill>
              <a:latin typeface="Prata"/>
              <a:ea typeface="Prata"/>
              <a:cs typeface="Prata"/>
              <a:sym typeface="Prata"/>
            </a:endParaRPr>
          </a:p>
        </p:txBody>
      </p:sp>
      <p:grpSp>
        <p:nvGrpSpPr>
          <p:cNvPr id="6" name="Group 6"/>
          <p:cNvGrpSpPr/>
          <p:nvPr/>
        </p:nvGrpSpPr>
        <p:grpSpPr>
          <a:xfrm>
            <a:off x="9059581" y="8915522"/>
            <a:ext cx="9804721" cy="795175"/>
            <a:chOff x="0" y="0"/>
            <a:chExt cx="13072962" cy="1060234"/>
          </a:xfrm>
        </p:grpSpPr>
        <p:sp>
          <p:nvSpPr>
            <p:cNvPr id="7" name="AutoShape 7"/>
            <p:cNvSpPr/>
            <p:nvPr/>
          </p:nvSpPr>
          <p:spPr>
            <a:xfrm>
              <a:off x="0" y="0"/>
              <a:ext cx="13072962" cy="1060234"/>
            </a:xfrm>
            <a:prstGeom prst="rect">
              <a:avLst/>
            </a:prstGeom>
            <a:solidFill>
              <a:srgbClr val="925520"/>
            </a:solidFill>
          </p:spPr>
        </p:sp>
        <p:sp>
          <p:nvSpPr>
            <p:cNvPr id="8" name="TextBox 8"/>
            <p:cNvSpPr txBox="1"/>
            <p:nvPr/>
          </p:nvSpPr>
          <p:spPr>
            <a:xfrm>
              <a:off x="604781" y="339618"/>
              <a:ext cx="11095006" cy="332656"/>
            </a:xfrm>
            <a:prstGeom prst="rect">
              <a:avLst/>
            </a:prstGeom>
          </p:spPr>
          <p:txBody>
            <a:bodyPr lIns="0" tIns="0" rIns="0" bIns="0" rtlCol="0" anchor="t">
              <a:spAutoFit/>
            </a:bodyPr>
            <a:lstStyle/>
            <a:p>
              <a:pPr algn="r">
                <a:lnSpc>
                  <a:spcPts val="2100"/>
                </a:lnSpc>
              </a:pPr>
              <a:r>
                <a:rPr lang="vi-VN" sz="1500" b="1" spc="300" dirty="0" smtClean="0">
                  <a:solidFill>
                    <a:srgbClr val="FDFEEC"/>
                  </a:solidFill>
                  <a:latin typeface="Montserrat Medium"/>
                  <a:ea typeface="Montserrat Medium"/>
                  <a:cs typeface="Montserrat Medium"/>
                  <a:sym typeface="Montserrat Medium"/>
                </a:rPr>
                <a:t>NHÓM 9  </a:t>
              </a:r>
              <a:endParaRPr lang="en-US" sz="1500" b="1" spc="300" dirty="0">
                <a:solidFill>
                  <a:srgbClr val="FDFEEC"/>
                </a:solidFill>
                <a:latin typeface="Montserrat Medium"/>
                <a:ea typeface="Montserrat Medium"/>
                <a:cs typeface="Montserrat Medium"/>
                <a:sym typeface="Montserrat Medium"/>
              </a:endParaRPr>
            </a:p>
          </p:txBody>
        </p:sp>
      </p:gr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657"/>
            <a:ext cx="6400800" cy="10401300"/>
          </a:xfrm>
          <a:prstGeom prst="rect">
            <a:avLst/>
          </a:prstGeom>
        </p:spPr>
      </p:pic>
      <p:sp>
        <p:nvSpPr>
          <p:cNvPr id="12" name="TextBox 11"/>
          <p:cNvSpPr txBox="1"/>
          <p:nvPr/>
        </p:nvSpPr>
        <p:spPr>
          <a:xfrm>
            <a:off x="7772400" y="3009900"/>
            <a:ext cx="9448800" cy="4708981"/>
          </a:xfrm>
          <a:prstGeom prst="rect">
            <a:avLst/>
          </a:prstGeom>
          <a:noFill/>
        </p:spPr>
        <p:txBody>
          <a:bodyPr wrap="square" rtlCol="0">
            <a:spAutoFit/>
          </a:bodyPr>
          <a:lstStyle/>
          <a:p>
            <a:pPr marL="1143000" indent="-1143000">
              <a:buAutoNum type="arabicPeriod"/>
            </a:pPr>
            <a:r>
              <a:rPr lang="vi-VN" sz="6000" dirty="0" smtClean="0">
                <a:solidFill>
                  <a:schemeClr val="bg1"/>
                </a:solidFill>
                <a:latin typeface="Arial Black" panose="020B0A04020102020204" pitchFamily="34" charset="0"/>
              </a:rPr>
              <a:t>CHAT GPT</a:t>
            </a:r>
          </a:p>
          <a:p>
            <a:pPr marL="1143000" indent="-1143000">
              <a:buAutoNum type="arabicPeriod"/>
            </a:pPr>
            <a:endParaRPr lang="vi-VN" sz="6000" dirty="0">
              <a:solidFill>
                <a:schemeClr val="bg1"/>
              </a:solidFill>
              <a:latin typeface="Arial Black" panose="020B0A04020102020204" pitchFamily="34" charset="0"/>
            </a:endParaRPr>
          </a:p>
          <a:p>
            <a:r>
              <a:rPr lang="vi-VN" sz="6000" dirty="0" smtClean="0">
                <a:solidFill>
                  <a:schemeClr val="bg1"/>
                </a:solidFill>
                <a:latin typeface="Arial Black" panose="020B0A04020102020204" pitchFamily="34" charset="0"/>
              </a:rPr>
              <a:t>2. GAMMA</a:t>
            </a:r>
          </a:p>
          <a:p>
            <a:endParaRPr lang="vi-VN" sz="6000" dirty="0">
              <a:solidFill>
                <a:schemeClr val="bg1"/>
              </a:solidFill>
              <a:latin typeface="Arial Black" panose="020B0A04020102020204" pitchFamily="34" charset="0"/>
            </a:endParaRPr>
          </a:p>
          <a:p>
            <a:r>
              <a:rPr lang="vi-VN" sz="6000" dirty="0" smtClean="0">
                <a:solidFill>
                  <a:schemeClr val="bg1"/>
                </a:solidFill>
                <a:latin typeface="Arial Black" panose="020B0A04020102020204" pitchFamily="34" charset="0"/>
              </a:rPr>
              <a:t>3. SUNO</a:t>
            </a:r>
            <a:endParaRPr lang="en-US" sz="6000" dirty="0">
              <a:solidFill>
                <a:schemeClr val="bg1"/>
              </a:solidFill>
              <a:latin typeface="Arial Black" panose="020B0A040201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2">
                                            <p:txEl>
                                              <p:pRg st="0" end="0"/>
                                            </p:txEl>
                                          </p:spTgt>
                                        </p:tgtEl>
                                        <p:attrNameLst>
                                          <p:attrName>style.visibility</p:attrName>
                                        </p:attrNameLst>
                                      </p:cBhvr>
                                      <p:to>
                                        <p:strVal val="visible"/>
                                      </p:to>
                                    </p:set>
                                    <p:animEffect transition="in" filter="fade">
                                      <p:cBhvr>
                                        <p:cTn id="20" dur="1000"/>
                                        <p:tgtEl>
                                          <p:spTgt spid="12">
                                            <p:txEl>
                                              <p:pRg st="0" end="0"/>
                                            </p:txEl>
                                          </p:spTgt>
                                        </p:tgtEl>
                                      </p:cBhvr>
                                    </p:animEffect>
                                    <p:anim calcmode="lin" valueType="num">
                                      <p:cBhvr>
                                        <p:cTn id="21"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animEffect transition="in" filter="fade">
                                      <p:cBhvr>
                                        <p:cTn id="27" dur="1000"/>
                                        <p:tgtEl>
                                          <p:spTgt spid="12">
                                            <p:txEl>
                                              <p:pRg st="2" end="2"/>
                                            </p:txEl>
                                          </p:spTgt>
                                        </p:tgtEl>
                                      </p:cBhvr>
                                    </p:animEffect>
                                    <p:anim calcmode="lin" valueType="num">
                                      <p:cBhvr>
                                        <p:cTn id="28"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2">
                                            <p:txEl>
                                              <p:pRg st="4" end="4"/>
                                            </p:txEl>
                                          </p:spTgt>
                                        </p:tgtEl>
                                        <p:attrNameLst>
                                          <p:attrName>style.visibility</p:attrName>
                                        </p:attrNameLst>
                                      </p:cBhvr>
                                      <p:to>
                                        <p:strVal val="visible"/>
                                      </p:to>
                                    </p:set>
                                    <p:animEffect transition="in" filter="fade">
                                      <p:cBhvr>
                                        <p:cTn id="34" dur="1000"/>
                                        <p:tgtEl>
                                          <p:spTgt spid="12">
                                            <p:txEl>
                                              <p:pRg st="4" end="4"/>
                                            </p:txEl>
                                          </p:spTgt>
                                        </p:tgtEl>
                                      </p:cBhvr>
                                    </p:animEffect>
                                    <p:anim calcmode="lin" valueType="num">
                                      <p:cBhvr>
                                        <p:cTn id="35"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3270E"/>
        </a:solidFill>
        <a:effectLst/>
      </p:bgPr>
    </p:bg>
    <p:spTree>
      <p:nvGrpSpPr>
        <p:cNvPr id="1" name=""/>
        <p:cNvGrpSpPr/>
        <p:nvPr/>
      </p:nvGrpSpPr>
      <p:grpSpPr>
        <a:xfrm>
          <a:off x="0" y="0"/>
          <a:ext cx="0" cy="0"/>
          <a:chOff x="0" y="0"/>
          <a:chExt cx="0" cy="0"/>
        </a:xfrm>
      </p:grpSpPr>
      <p:sp>
        <p:nvSpPr>
          <p:cNvPr id="2" name="AutoShape 2"/>
          <p:cNvSpPr/>
          <p:nvPr/>
        </p:nvSpPr>
        <p:spPr>
          <a:xfrm>
            <a:off x="152400" y="190500"/>
            <a:ext cx="17873089" cy="9872089"/>
          </a:xfrm>
          <a:prstGeom prst="rect">
            <a:avLst/>
          </a:prstGeom>
          <a:solidFill>
            <a:srgbClr val="FDFEEC"/>
          </a:solidFill>
        </p:spPr>
      </p:sp>
      <p:grpSp>
        <p:nvGrpSpPr>
          <p:cNvPr id="3" name="Group 3"/>
          <p:cNvGrpSpPr/>
          <p:nvPr/>
        </p:nvGrpSpPr>
        <p:grpSpPr>
          <a:xfrm>
            <a:off x="-576303" y="8915522"/>
            <a:ext cx="9804721" cy="795175"/>
            <a:chOff x="0" y="0"/>
            <a:chExt cx="13072962" cy="1060234"/>
          </a:xfrm>
        </p:grpSpPr>
        <p:sp>
          <p:nvSpPr>
            <p:cNvPr id="4" name="AutoShape 4"/>
            <p:cNvSpPr/>
            <p:nvPr/>
          </p:nvSpPr>
          <p:spPr>
            <a:xfrm>
              <a:off x="0" y="0"/>
              <a:ext cx="13072962" cy="1060234"/>
            </a:xfrm>
            <a:prstGeom prst="rect">
              <a:avLst/>
            </a:prstGeom>
            <a:solidFill>
              <a:srgbClr val="925520"/>
            </a:solidFill>
          </p:spPr>
        </p:sp>
        <p:sp>
          <p:nvSpPr>
            <p:cNvPr id="5" name="TextBox 5"/>
            <p:cNvSpPr txBox="1"/>
            <p:nvPr/>
          </p:nvSpPr>
          <p:spPr>
            <a:xfrm>
              <a:off x="1334765" y="339618"/>
              <a:ext cx="11095006" cy="332656"/>
            </a:xfrm>
            <a:prstGeom prst="rect">
              <a:avLst/>
            </a:prstGeom>
          </p:spPr>
          <p:txBody>
            <a:bodyPr lIns="0" tIns="0" rIns="0" bIns="0" rtlCol="0" anchor="t">
              <a:spAutoFit/>
            </a:bodyPr>
            <a:lstStyle/>
            <a:p>
              <a:pPr algn="l">
                <a:lnSpc>
                  <a:spcPts val="2100"/>
                </a:lnSpc>
              </a:pPr>
              <a:r>
                <a:rPr lang="vi-VN" sz="1500" b="1" spc="300" dirty="0" smtClean="0">
                  <a:solidFill>
                    <a:srgbClr val="FDFEEC"/>
                  </a:solidFill>
                  <a:latin typeface="Montserrat Medium"/>
                  <a:ea typeface="Montserrat Medium"/>
                  <a:cs typeface="Montserrat Medium"/>
                  <a:sym typeface="Montserrat Medium"/>
                </a:rPr>
                <a:t>NHÓM 9 </a:t>
              </a:r>
              <a:endParaRPr lang="en-US" sz="1500" b="1" spc="300" dirty="0">
                <a:solidFill>
                  <a:srgbClr val="FDFEEC"/>
                </a:solidFill>
                <a:latin typeface="Montserrat Medium"/>
                <a:ea typeface="Montserrat Medium"/>
                <a:cs typeface="Montserrat Medium"/>
                <a:sym typeface="Montserrat Medium"/>
              </a:endParaRPr>
            </a:p>
          </p:txBody>
        </p:sp>
      </p:grpSp>
      <p:sp>
        <p:nvSpPr>
          <p:cNvPr id="6" name="TextBox 6"/>
          <p:cNvSpPr txBox="1"/>
          <p:nvPr/>
        </p:nvSpPr>
        <p:spPr>
          <a:xfrm>
            <a:off x="1071909" y="1071909"/>
            <a:ext cx="6044822" cy="1066800"/>
          </a:xfrm>
          <a:prstGeom prst="rect">
            <a:avLst/>
          </a:prstGeom>
        </p:spPr>
        <p:txBody>
          <a:bodyPr lIns="0" tIns="0" rIns="0" bIns="0" rtlCol="0" anchor="t">
            <a:spAutoFit/>
          </a:bodyPr>
          <a:lstStyle/>
          <a:p>
            <a:pPr algn="l">
              <a:lnSpc>
                <a:spcPts val="8400"/>
              </a:lnSpc>
            </a:pPr>
            <a:r>
              <a:rPr lang="vi-VN" sz="7000" dirty="0" smtClean="0">
                <a:solidFill>
                  <a:srgbClr val="925520"/>
                </a:solidFill>
                <a:latin typeface="Prata"/>
                <a:ea typeface="Prata"/>
                <a:cs typeface="Prata"/>
                <a:sym typeface="Prata"/>
              </a:rPr>
              <a:t>1. CHAT GPT</a:t>
            </a:r>
            <a:endParaRPr lang="en-US" sz="7000" dirty="0">
              <a:solidFill>
                <a:srgbClr val="925520"/>
              </a:solidFill>
              <a:latin typeface="Prata"/>
              <a:ea typeface="Prata"/>
              <a:cs typeface="Prata"/>
              <a:sym typeface="Prata"/>
            </a:endParaRPr>
          </a:p>
        </p:txBody>
      </p:sp>
      <p:sp>
        <p:nvSpPr>
          <p:cNvPr id="11" name="TextBox 10"/>
          <p:cNvSpPr txBox="1"/>
          <p:nvPr/>
        </p:nvSpPr>
        <p:spPr>
          <a:xfrm>
            <a:off x="7561122" y="1208901"/>
            <a:ext cx="4008612" cy="646331"/>
          </a:xfrm>
          <a:prstGeom prst="rect">
            <a:avLst/>
          </a:prstGeom>
          <a:noFill/>
        </p:spPr>
        <p:txBody>
          <a:bodyPr wrap="square" rtlCol="0">
            <a:spAutoFit/>
          </a:bodyPr>
          <a:lstStyle/>
          <a:p>
            <a:r>
              <a:rPr lang="vi-VN" sz="3600" dirty="0" smtClean="0"/>
              <a:t>CHAT GPT LÀ GÌ?</a:t>
            </a:r>
            <a:endParaRPr lang="en-US" sz="3600" dirty="0"/>
          </a:p>
        </p:txBody>
      </p:sp>
      <p:sp>
        <p:nvSpPr>
          <p:cNvPr id="12" name="TextBox 11"/>
          <p:cNvSpPr txBox="1"/>
          <p:nvPr/>
        </p:nvSpPr>
        <p:spPr>
          <a:xfrm>
            <a:off x="7562115" y="2013940"/>
            <a:ext cx="8305800" cy="2308324"/>
          </a:xfrm>
          <a:prstGeom prst="rect">
            <a:avLst/>
          </a:prstGeom>
          <a:noFill/>
        </p:spPr>
        <p:txBody>
          <a:bodyPr wrap="square" rtlCol="0">
            <a:spAutoFit/>
          </a:bodyPr>
          <a:lstStyle/>
          <a:p>
            <a:r>
              <a:rPr lang="vi-VN" sz="2400" b="1" dirty="0"/>
              <a:t>ChatGPT</a:t>
            </a:r>
            <a:r>
              <a:rPr lang="vi-VN" sz="2400" dirty="0"/>
              <a:t> là một </a:t>
            </a:r>
            <a:r>
              <a:rPr lang="vi-VN" sz="2400" b="1" dirty="0"/>
              <a:t>trí tuệ nhân tạo (Artificial Intelligence – AI)</a:t>
            </a:r>
            <a:r>
              <a:rPr lang="vi-VN" sz="2400" dirty="0"/>
              <a:t> do </a:t>
            </a:r>
            <a:r>
              <a:rPr lang="vi-VN" sz="2400" b="1" dirty="0"/>
              <a:t>OpenAI</a:t>
            </a:r>
            <a:r>
              <a:rPr lang="vi-VN" sz="2400" dirty="0"/>
              <a:t> phát triển, được xây dựng dựa trên mô hình ngôn ngữ lớn. ChatGPT có khả năng </a:t>
            </a:r>
            <a:r>
              <a:rPr lang="vi-VN" sz="2400" b="1" dirty="0"/>
              <a:t>hiểu, phân tích và tạo ra văn bản bằng ngôn ngữ tự nhiên</a:t>
            </a:r>
            <a:r>
              <a:rPr lang="vi-VN" sz="2400" dirty="0"/>
              <a:t>, cho phép nó </a:t>
            </a:r>
            <a:r>
              <a:rPr lang="vi-VN" sz="2400" b="1" dirty="0"/>
              <a:t>trò chuyện, trả lời câu hỏi và hỗ trợ con người trong nhiều lĩnh vực</a:t>
            </a:r>
            <a:r>
              <a:rPr lang="vi-VN" sz="2400" dirty="0"/>
              <a:t> như học tập, công việc và </a:t>
            </a:r>
            <a:r>
              <a:rPr lang="vi-VN" sz="2400" dirty="0" smtClean="0"/>
              <a:t>đơi sống.</a:t>
            </a:r>
            <a:endParaRPr lang="en-US" sz="2400" dirty="0"/>
          </a:p>
        </p:txBody>
      </p:sp>
      <p:sp>
        <p:nvSpPr>
          <p:cNvPr id="9" name="TextBox 8"/>
          <p:cNvSpPr txBox="1"/>
          <p:nvPr/>
        </p:nvSpPr>
        <p:spPr>
          <a:xfrm>
            <a:off x="11537077" y="1208900"/>
            <a:ext cx="8305800" cy="646331"/>
          </a:xfrm>
          <a:prstGeom prst="rect">
            <a:avLst/>
          </a:prstGeom>
          <a:noFill/>
        </p:spPr>
        <p:txBody>
          <a:bodyPr wrap="square" rtlCol="0">
            <a:spAutoFit/>
          </a:bodyPr>
          <a:lstStyle/>
          <a:p>
            <a:r>
              <a:rPr lang="vi-VN" sz="3600" dirty="0" smtClean="0">
                <a:solidFill>
                  <a:schemeClr val="accent2">
                    <a:lumMod val="75000"/>
                  </a:schemeClr>
                </a:solidFill>
              </a:rPr>
              <a:t>CHAT GPT LÀM ĐƯỢC GÌ?</a:t>
            </a:r>
            <a:endParaRPr lang="en-US" sz="3600" dirty="0">
              <a:solidFill>
                <a:schemeClr val="accent2">
                  <a:lumMod val="75000"/>
                </a:schemeClr>
              </a:solidFill>
            </a:endParaRPr>
          </a:p>
        </p:txBody>
      </p:sp>
      <p:sp>
        <p:nvSpPr>
          <p:cNvPr id="15" name="TextBox 14"/>
          <p:cNvSpPr txBox="1"/>
          <p:nvPr/>
        </p:nvSpPr>
        <p:spPr>
          <a:xfrm>
            <a:off x="7696200" y="4991100"/>
            <a:ext cx="8686800" cy="3276600"/>
          </a:xfrm>
          <a:prstGeom prst="rect">
            <a:avLst/>
          </a:prstGeom>
          <a:noFill/>
        </p:spPr>
        <p:txBody>
          <a:bodyPr wrap="square" rtlCol="0">
            <a:spAutoFit/>
          </a:bodyPr>
          <a:lstStyle/>
          <a:p>
            <a:endParaRPr lang="en-US" dirty="0"/>
          </a:p>
        </p:txBody>
      </p:sp>
      <p:sp>
        <p:nvSpPr>
          <p:cNvPr id="16" name="TextBox 15"/>
          <p:cNvSpPr txBox="1"/>
          <p:nvPr/>
        </p:nvSpPr>
        <p:spPr>
          <a:xfrm>
            <a:off x="7561122" y="4657615"/>
            <a:ext cx="9753600" cy="4431983"/>
          </a:xfrm>
          <a:prstGeom prst="rect">
            <a:avLst/>
          </a:prstGeom>
          <a:noFill/>
        </p:spPr>
        <p:txBody>
          <a:bodyPr wrap="square" rtlCol="0">
            <a:spAutoFit/>
          </a:bodyPr>
          <a:lstStyle/>
          <a:p>
            <a:r>
              <a:rPr lang="vi-VN" sz="2400" b="1" dirty="0" smtClean="0">
                <a:solidFill>
                  <a:schemeClr val="accent2">
                    <a:lumMod val="75000"/>
                  </a:schemeClr>
                </a:solidFill>
              </a:rPr>
              <a:t>CHAT GPT có khả </a:t>
            </a:r>
            <a:r>
              <a:rPr lang="vi-VN" sz="2400" b="1" dirty="0">
                <a:solidFill>
                  <a:schemeClr val="accent2">
                    <a:lumMod val="75000"/>
                  </a:schemeClr>
                </a:solidFill>
              </a:rPr>
              <a:t>năng hỗ trợ con người trong nhiều lĩnh vực của học tập, công việc và đời sống. Công cụ này có thể giải thích kiến thức, giải bài tập các môn học, tóm tắt nội dung, ôn tập trước kỳ thi; viết và chỉnh sửa văn bản như bài văn, bài thuyết trình, báo cáo; dịch thuật và hỗ trợ học ngoại ngữ; giải các bài toán logic và khoa học cơ bản; tư vấn học tập, định hướng cá nhân cũng như hỗ trợ sử dụng công nghệ và phần mềm. Nhờ khả năng xử lý ngôn ngữ tự nhiên, công cụ này giúp con người học tập hiệu quả hơn, tiết kiệm thời gian và nâng cao hiểu biết, tuy nhiên chỉ đóng vai trò hỗ trợ và không thể thay thế hoàn toàn con người.</a:t>
            </a:r>
            <a:endParaRPr lang="vi-VN" sz="2400" dirty="0">
              <a:solidFill>
                <a:schemeClr val="accent2">
                  <a:lumMod val="75000"/>
                </a:schemeClr>
              </a:solidFill>
            </a:endParaRPr>
          </a:p>
          <a:p>
            <a:endParaRPr lang="en-US" dirty="0">
              <a:solidFill>
                <a:schemeClr val="accent2">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 calcmode="lin" valueType="num">
                                      <p:cBhvr additive="base">
                                        <p:cTn id="25"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xEl>
                                              <p:pRg st="0" end="0"/>
                                            </p:txEl>
                                          </p:spTgt>
                                        </p:tgtEl>
                                        <p:attrNameLst>
                                          <p:attrName>style.visibility</p:attrName>
                                        </p:attrNameLst>
                                      </p:cBhvr>
                                      <p:to>
                                        <p:strVal val="visible"/>
                                      </p:to>
                                    </p:set>
                                    <p:anim calcmode="lin" valueType="num">
                                      <p:cBhvr additive="base">
                                        <p:cTn id="31"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5719"/>
            <a:ext cx="18288000" cy="10241281"/>
          </a:xfrm>
          <a:prstGeom prst="rect">
            <a:avLst/>
          </a:prstGeom>
        </p:spPr>
      </p:pic>
      <p:grpSp>
        <p:nvGrpSpPr>
          <p:cNvPr id="3" name="Group 3"/>
          <p:cNvGrpSpPr/>
          <p:nvPr/>
        </p:nvGrpSpPr>
        <p:grpSpPr>
          <a:xfrm>
            <a:off x="0" y="786568"/>
            <a:ext cx="18684916" cy="9005132"/>
            <a:chOff x="-2090056" y="-2686126"/>
            <a:chExt cx="24913222" cy="11803312"/>
          </a:xfrm>
        </p:grpSpPr>
        <p:sp>
          <p:nvSpPr>
            <p:cNvPr id="4" name="TextBox 4"/>
            <p:cNvSpPr txBox="1"/>
            <p:nvPr/>
          </p:nvSpPr>
          <p:spPr>
            <a:xfrm>
              <a:off x="-1219200" y="-2686126"/>
              <a:ext cx="21640802" cy="11203065"/>
            </a:xfrm>
            <a:prstGeom prst="rect">
              <a:avLst/>
            </a:prstGeom>
          </p:spPr>
          <p:txBody>
            <a:bodyPr wrap="square" lIns="0" tIns="0" rIns="0" bIns="0" rtlCol="0" anchor="t">
              <a:spAutoFit/>
            </a:bodyPr>
            <a:lstStyle/>
            <a:p>
              <a:pPr algn="r">
                <a:lnSpc>
                  <a:spcPts val="5970"/>
                </a:lnSpc>
              </a:pPr>
              <a:endParaRPr dirty="0"/>
            </a:p>
            <a:p>
              <a:pPr algn="r">
                <a:lnSpc>
                  <a:spcPts val="5970"/>
                </a:lnSpc>
              </a:pPr>
              <a:endParaRPr dirty="0">
                <a:solidFill>
                  <a:schemeClr val="bg1"/>
                </a:solidFill>
              </a:endParaRPr>
            </a:p>
            <a:p>
              <a:r>
                <a:rPr lang="vi-VN" sz="3600" b="1" u="sng" dirty="0">
                  <a:solidFill>
                    <a:schemeClr val="accent2"/>
                  </a:solidFill>
                </a:rPr>
                <a:t>Về tác động tích cực, ChatGPT hỗ trợ con người trong học tập và công việc như giải thích kiến thức, làm bài tập, soạn thảo văn bản và tìm kiếm thông tin nhanh chóng. Nhờ đó, con người tiết kiệm thời gian, nâng cao hiệu quả học tập, làm việc và mở rộng hiểu biết trong nhiều lĩnh vực khác nhau</a:t>
              </a:r>
              <a:r>
                <a:rPr lang="vi-VN" sz="3600" b="1" u="sng" dirty="0" smtClean="0">
                  <a:solidFill>
                    <a:schemeClr val="accent2"/>
                  </a:solidFill>
                </a:rPr>
                <a:t>.</a:t>
              </a:r>
            </a:p>
            <a:p>
              <a:endParaRPr lang="vi-VN" sz="3600" b="1" u="sng" dirty="0">
                <a:solidFill>
                  <a:schemeClr val="accent2"/>
                </a:solidFill>
              </a:endParaRPr>
            </a:p>
            <a:p>
              <a:r>
                <a:rPr lang="vi-VN" sz="3600" b="1" u="sng" dirty="0">
                  <a:solidFill>
                    <a:schemeClr val="accent2"/>
                  </a:solidFill>
                </a:rPr>
                <a:t>Tuy nhiên, ChatGPT cũng có tác động tiêu cực. Việc lạm dụng ChatGPT có thể khiến con người trở nên phụ thuộc, giảm khả năng tư duy độc lập và sáng tạo. Ngoài ra, nếu không kiểm chứng thông tin, người dùng có thể tiếp nhận kiến thức sai lệch, đồng thời dễ xảy ra tình trạng gian lận </a:t>
              </a:r>
              <a:r>
                <a:rPr lang="vi-VN" sz="3600" b="1" u="sng" dirty="0" smtClean="0">
                  <a:solidFill>
                    <a:schemeClr val="accent2"/>
                  </a:solidFill>
                </a:rPr>
                <a:t>trong học tập.</a:t>
              </a:r>
              <a:endParaRPr lang="vi-VN" sz="3600" b="1" u="sng" dirty="0">
                <a:solidFill>
                  <a:schemeClr val="accent2"/>
                </a:solidFill>
              </a:endParaRPr>
            </a:p>
            <a:p>
              <a:pPr algn="r">
                <a:lnSpc>
                  <a:spcPts val="5970"/>
                </a:lnSpc>
              </a:pPr>
              <a:endParaRPr lang="en-US" sz="1400" b="1" u="sng" dirty="0">
                <a:solidFill>
                  <a:schemeClr val="accent2"/>
                </a:solidFill>
                <a:latin typeface="Prata"/>
                <a:ea typeface="Prata"/>
                <a:cs typeface="Prata"/>
                <a:sym typeface="Prata"/>
              </a:endParaRPr>
            </a:p>
          </p:txBody>
        </p:sp>
        <p:sp>
          <p:nvSpPr>
            <p:cNvPr id="5" name="TextBox 5"/>
            <p:cNvSpPr txBox="1"/>
            <p:nvPr/>
          </p:nvSpPr>
          <p:spPr>
            <a:xfrm>
              <a:off x="-2090056" y="-2390821"/>
              <a:ext cx="13975511" cy="624872"/>
            </a:xfrm>
            <a:prstGeom prst="rect">
              <a:avLst/>
            </a:prstGeom>
          </p:spPr>
          <p:txBody>
            <a:bodyPr wrap="square" lIns="0" tIns="0" rIns="0" bIns="0" rtlCol="0" anchor="t">
              <a:spAutoFit/>
            </a:bodyPr>
            <a:lstStyle/>
            <a:p>
              <a:pPr algn="r">
                <a:lnSpc>
                  <a:spcPts val="3900"/>
                </a:lnSpc>
              </a:pPr>
              <a:r>
                <a:rPr lang="vi-VN" sz="3000" b="1" spc="237" dirty="0" smtClean="0">
                  <a:solidFill>
                    <a:schemeClr val="accent2"/>
                  </a:solidFill>
                  <a:latin typeface="Montserrat Medium"/>
                  <a:ea typeface="Montserrat Medium"/>
                  <a:cs typeface="Montserrat Medium"/>
                  <a:sym typeface="Montserrat Medium"/>
                </a:rPr>
                <a:t>NÓ TÁC ĐỘNG NHƯ THẾ NÀO ĐẾN CHÚNG TA</a:t>
              </a:r>
              <a:endParaRPr lang="en-US" sz="3000" b="1" spc="237" dirty="0">
                <a:solidFill>
                  <a:schemeClr val="accent2"/>
                </a:solidFill>
                <a:latin typeface="Montserrat Medium"/>
                <a:ea typeface="Montserrat Medium"/>
                <a:cs typeface="Montserrat Medium"/>
                <a:sym typeface="Montserrat Medium"/>
              </a:endParaRPr>
            </a:p>
          </p:txBody>
        </p:sp>
        <p:sp>
          <p:nvSpPr>
            <p:cNvPr id="6" name="AutoShape 6"/>
            <p:cNvSpPr/>
            <p:nvPr/>
          </p:nvSpPr>
          <p:spPr>
            <a:xfrm>
              <a:off x="8636000" y="7826427"/>
              <a:ext cx="14187166" cy="1290759"/>
            </a:xfrm>
            <a:prstGeom prst="rect">
              <a:avLst/>
            </a:prstGeom>
            <a:solidFill>
              <a:srgbClr val="925520"/>
            </a:solidFill>
          </p:spPr>
        </p:sp>
        <p:sp>
          <p:nvSpPr>
            <p:cNvPr id="7" name="TextBox 7"/>
            <p:cNvSpPr txBox="1"/>
            <p:nvPr/>
          </p:nvSpPr>
          <p:spPr>
            <a:xfrm>
              <a:off x="9753600" y="8162243"/>
              <a:ext cx="11095006" cy="604097"/>
            </a:xfrm>
            <a:prstGeom prst="rect">
              <a:avLst/>
            </a:prstGeom>
          </p:spPr>
          <p:txBody>
            <a:bodyPr lIns="0" tIns="0" rIns="0" bIns="0" rtlCol="0" anchor="t">
              <a:spAutoFit/>
            </a:bodyPr>
            <a:lstStyle/>
            <a:p>
              <a:pPr algn="r">
                <a:lnSpc>
                  <a:spcPts val="3600"/>
                </a:lnSpc>
              </a:pPr>
              <a:r>
                <a:rPr lang="vi-VN" sz="2800" b="1" dirty="0"/>
                <a:t>ChatGPT</a:t>
              </a:r>
              <a:r>
                <a:rPr lang="vi-VN" sz="2800" dirty="0"/>
                <a:t> được </a:t>
              </a:r>
              <a:r>
                <a:rPr lang="vi-VN" sz="2800" b="1" dirty="0"/>
                <a:t>phát triển bởi tổ chức OpenAI</a:t>
              </a:r>
              <a:endParaRPr lang="en-US" sz="3000" i="1" dirty="0">
                <a:solidFill>
                  <a:srgbClr val="FDFEEC"/>
                </a:solidFill>
                <a:latin typeface="Prata"/>
                <a:ea typeface="Prata"/>
                <a:cs typeface="Prata"/>
                <a:sym typeface="Prat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EEC"/>
        </a:solidFill>
        <a:effectLst/>
      </p:bgPr>
    </p:bg>
    <p:spTree>
      <p:nvGrpSpPr>
        <p:cNvPr id="1" name=""/>
        <p:cNvGrpSpPr/>
        <p:nvPr/>
      </p:nvGrpSpPr>
      <p:grpSpPr>
        <a:xfrm>
          <a:off x="0" y="0"/>
          <a:ext cx="0" cy="0"/>
          <a:chOff x="0" y="0"/>
          <a:chExt cx="0" cy="0"/>
        </a:xfrm>
      </p:grpSpPr>
      <p:grpSp>
        <p:nvGrpSpPr>
          <p:cNvPr id="3" name="Group 3"/>
          <p:cNvGrpSpPr/>
          <p:nvPr/>
        </p:nvGrpSpPr>
        <p:grpSpPr>
          <a:xfrm>
            <a:off x="9059581" y="8915522"/>
            <a:ext cx="9804721" cy="795175"/>
            <a:chOff x="0" y="0"/>
            <a:chExt cx="13072962" cy="1060234"/>
          </a:xfrm>
        </p:grpSpPr>
        <p:sp>
          <p:nvSpPr>
            <p:cNvPr id="4" name="AutoShape 4"/>
            <p:cNvSpPr/>
            <p:nvPr/>
          </p:nvSpPr>
          <p:spPr>
            <a:xfrm>
              <a:off x="0" y="0"/>
              <a:ext cx="13072962" cy="1060234"/>
            </a:xfrm>
            <a:prstGeom prst="rect">
              <a:avLst/>
            </a:prstGeom>
            <a:solidFill>
              <a:srgbClr val="925520"/>
            </a:solidFill>
          </p:spPr>
        </p:sp>
        <p:sp>
          <p:nvSpPr>
            <p:cNvPr id="5" name="TextBox 5"/>
            <p:cNvSpPr txBox="1"/>
            <p:nvPr/>
          </p:nvSpPr>
          <p:spPr>
            <a:xfrm>
              <a:off x="604780" y="369951"/>
              <a:ext cx="11155493" cy="332656"/>
            </a:xfrm>
            <a:prstGeom prst="rect">
              <a:avLst/>
            </a:prstGeom>
          </p:spPr>
          <p:txBody>
            <a:bodyPr wrap="square" lIns="0" tIns="0" rIns="0" bIns="0" rtlCol="0" anchor="t">
              <a:spAutoFit/>
            </a:bodyPr>
            <a:lstStyle/>
            <a:p>
              <a:pPr algn="r">
                <a:lnSpc>
                  <a:spcPts val="2100"/>
                </a:lnSpc>
              </a:pPr>
              <a:r>
                <a:rPr lang="vi-VN" sz="1500" b="1" spc="300" dirty="0" smtClean="0">
                  <a:solidFill>
                    <a:srgbClr val="FDFEEC"/>
                  </a:solidFill>
                  <a:latin typeface="Montserrat Medium"/>
                  <a:ea typeface="Montserrat Medium"/>
                  <a:cs typeface="Montserrat Medium"/>
                  <a:sym typeface="Montserrat Medium"/>
                </a:rPr>
                <a:t>NHÓM 9 TÌM HIỂU CÔNG CỤ CHAT GPT</a:t>
              </a:r>
              <a:endParaRPr lang="en-US" sz="1500" b="1" spc="300" dirty="0">
                <a:solidFill>
                  <a:srgbClr val="FDFEEC"/>
                </a:solidFill>
                <a:latin typeface="Montserrat Medium"/>
                <a:ea typeface="Montserrat Medium"/>
                <a:cs typeface="Montserrat Medium"/>
                <a:sym typeface="Montserrat Medium"/>
              </a:endParaRPr>
            </a:p>
          </p:txBody>
        </p:sp>
      </p:grpSp>
      <p:grpSp>
        <p:nvGrpSpPr>
          <p:cNvPr id="6" name="Group 6"/>
          <p:cNvGrpSpPr/>
          <p:nvPr/>
        </p:nvGrpSpPr>
        <p:grpSpPr>
          <a:xfrm>
            <a:off x="7625244" y="864454"/>
            <a:ext cx="9502694" cy="7264678"/>
            <a:chOff x="0" y="0"/>
            <a:chExt cx="12670259" cy="9686238"/>
          </a:xfrm>
        </p:grpSpPr>
        <p:sp>
          <p:nvSpPr>
            <p:cNvPr id="7" name="TextBox 7"/>
            <p:cNvSpPr txBox="1"/>
            <p:nvPr/>
          </p:nvSpPr>
          <p:spPr>
            <a:xfrm>
              <a:off x="0" y="0"/>
              <a:ext cx="12670259" cy="1422400"/>
            </a:xfrm>
            <a:prstGeom prst="rect">
              <a:avLst/>
            </a:prstGeom>
          </p:spPr>
          <p:txBody>
            <a:bodyPr lIns="0" tIns="0" rIns="0" bIns="0" rtlCol="0" anchor="t">
              <a:spAutoFit/>
            </a:bodyPr>
            <a:lstStyle/>
            <a:p>
              <a:pPr algn="l">
                <a:lnSpc>
                  <a:spcPts val="8400"/>
                </a:lnSpc>
              </a:pPr>
              <a:r>
                <a:rPr lang="vi-VN" sz="7000" dirty="0" smtClean="0">
                  <a:solidFill>
                    <a:srgbClr val="925520"/>
                  </a:solidFill>
                  <a:latin typeface="Prata"/>
                  <a:ea typeface="Prata"/>
                  <a:cs typeface="Prata"/>
                  <a:sym typeface="Prata"/>
                </a:rPr>
                <a:t>GAMMA</a:t>
              </a:r>
              <a:endParaRPr lang="en-US" sz="7000" dirty="0">
                <a:solidFill>
                  <a:srgbClr val="925520"/>
                </a:solidFill>
                <a:latin typeface="Prata"/>
                <a:ea typeface="Prata"/>
                <a:cs typeface="Prata"/>
                <a:sym typeface="Prata"/>
              </a:endParaRPr>
            </a:p>
          </p:txBody>
        </p:sp>
        <p:sp>
          <p:nvSpPr>
            <p:cNvPr id="8" name="TextBox 8"/>
            <p:cNvSpPr txBox="1"/>
            <p:nvPr/>
          </p:nvSpPr>
          <p:spPr>
            <a:xfrm>
              <a:off x="0" y="1778027"/>
              <a:ext cx="11709739" cy="638175"/>
            </a:xfrm>
            <a:prstGeom prst="rect">
              <a:avLst/>
            </a:prstGeom>
          </p:spPr>
          <p:txBody>
            <a:bodyPr lIns="0" tIns="0" rIns="0" bIns="0" rtlCol="0" anchor="t">
              <a:spAutoFit/>
            </a:bodyPr>
            <a:lstStyle/>
            <a:p>
              <a:pPr algn="l">
                <a:lnSpc>
                  <a:spcPts val="3900"/>
                </a:lnSpc>
              </a:pPr>
              <a:r>
                <a:rPr lang="vi-VN" sz="3000" b="1" dirty="0" smtClean="0">
                  <a:solidFill>
                    <a:srgbClr val="43270E"/>
                  </a:solidFill>
                  <a:latin typeface="Montserrat Medium"/>
                  <a:ea typeface="Montserrat Medium"/>
                  <a:cs typeface="Montserrat Medium"/>
                  <a:sym typeface="Montserrat Medium"/>
                </a:rPr>
                <a:t>Chức năng của GAMMA</a:t>
              </a:r>
              <a:endParaRPr lang="en-US" sz="3000" b="1" dirty="0">
                <a:solidFill>
                  <a:srgbClr val="43270E"/>
                </a:solidFill>
                <a:latin typeface="Montserrat Medium"/>
                <a:ea typeface="Montserrat Medium"/>
                <a:cs typeface="Montserrat Medium"/>
                <a:sym typeface="Montserrat Medium"/>
              </a:endParaRPr>
            </a:p>
          </p:txBody>
        </p:sp>
        <p:sp>
          <p:nvSpPr>
            <p:cNvPr id="9" name="TextBox 9"/>
            <p:cNvSpPr txBox="1"/>
            <p:nvPr/>
          </p:nvSpPr>
          <p:spPr>
            <a:xfrm>
              <a:off x="0" y="3530707"/>
              <a:ext cx="11709739" cy="6155531"/>
            </a:xfrm>
            <a:prstGeom prst="rect">
              <a:avLst/>
            </a:prstGeom>
          </p:spPr>
          <p:txBody>
            <a:bodyPr lIns="0" tIns="0" rIns="0" bIns="0" rtlCol="0" anchor="t">
              <a:spAutoFit/>
            </a:bodyPr>
            <a:lstStyle/>
            <a:p>
              <a:pPr>
                <a:lnSpc>
                  <a:spcPts val="2800"/>
                </a:lnSpc>
              </a:pPr>
              <a:r>
                <a:rPr lang="vi-VN" sz="2000" dirty="0"/>
                <a:t>AI Gamma được sử dụng phổ biến trong việc </a:t>
              </a:r>
              <a:r>
                <a:rPr lang="vi-VN" sz="2000" b="1" dirty="0"/>
                <a:t>tạo bài thuyết trình</a:t>
              </a:r>
              <a:r>
                <a:rPr lang="vi-VN" sz="2000" dirty="0"/>
                <a:t>. Chỉ cần nhập nội dung cơ bản, công cụ này có thể tự động thiết kế các slide với bố cục hợp lý, hình ảnh minh họa phù hợp, giúp người dùng tiết kiệm thời gian và công sức. Bên cạnh đó, AI Gamma còn hỗ trợ </a:t>
              </a:r>
              <a:r>
                <a:rPr lang="vi-VN" sz="2000" b="1" dirty="0"/>
                <a:t>viết và tóm tắt nội dung</a:t>
              </a:r>
              <a:r>
                <a:rPr lang="vi-VN" sz="2000" dirty="0"/>
                <a:t>, giúp người học nhanh chóng nắm được ý chính của bài học hoặc tài liệu dài</a:t>
              </a:r>
              <a:r>
                <a:rPr lang="vi-VN" sz="2000" dirty="0" smtClean="0"/>
                <a:t>.</a:t>
              </a:r>
            </a:p>
            <a:p>
              <a:pPr>
                <a:lnSpc>
                  <a:spcPts val="2800"/>
                </a:lnSpc>
              </a:pPr>
              <a:endParaRPr lang="en-US" sz="2000" dirty="0">
                <a:solidFill>
                  <a:srgbClr val="43270E"/>
                </a:solidFill>
                <a:latin typeface="Montserrat Extra-Light"/>
                <a:ea typeface="Montserrat Extra-Light"/>
                <a:cs typeface="Montserrat Extra-Light"/>
                <a:sym typeface="Montserrat Extra-Light"/>
              </a:endParaRPr>
            </a:p>
            <a:p>
              <a:r>
                <a:rPr lang="vi-VN" sz="2000" dirty="0"/>
                <a:t>Ngoài ra, AI Gamma còn đóng vai trò quan trọng trong </a:t>
              </a:r>
              <a:r>
                <a:rPr lang="vi-VN" sz="2000" b="1" dirty="0"/>
                <a:t>học tập và làm việc nhóm</a:t>
              </a:r>
              <a:r>
                <a:rPr lang="vi-VN" sz="2000" dirty="0"/>
                <a:t>, hỗ trợ lên ý tưởng, chuẩn bị bài thuyết trình và báo cáo. Công cụ này cũng giúp người dùng </a:t>
              </a:r>
              <a:r>
                <a:rPr lang="vi-VN" sz="2000" b="1" dirty="0"/>
                <a:t>sáng tạo nội dung</a:t>
              </a:r>
              <a:r>
                <a:rPr lang="vi-VN" sz="2000" dirty="0"/>
                <a:t> như bài viết, kịch bản hay ý tưởng truyền thông một cách hiệu quả</a:t>
              </a:r>
              <a:r>
                <a:rPr lang="vi-VN" sz="2000" dirty="0" smtClean="0"/>
                <a:t>.</a:t>
              </a:r>
            </a:p>
            <a:p>
              <a:endParaRPr lang="vi-VN" sz="2000" dirty="0"/>
            </a:p>
            <a:p>
              <a:r>
                <a:rPr lang="vi-VN" sz="2000" dirty="0"/>
                <a:t>Tuy nhiên, việc sử dụng AI Gamma cũng cần có sự chọn lọc và kiểm chứng thông tin, bởi nội dung do AI tạo ra có thể chưa hoàn toàn chính xác. Nếu quá phụ thuộc vào AI, con người có thể làm giảm khả năng tư duy độc lập.</a:t>
              </a:r>
            </a:p>
          </p:txBody>
        </p:sp>
      </p:gr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7010400" cy="10287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25520"/>
        </a:solidFill>
        <a:effectLst/>
      </p:bgPr>
    </p:bg>
    <p:spTree>
      <p:nvGrpSpPr>
        <p:cNvPr id="1" name=""/>
        <p:cNvGrpSpPr/>
        <p:nvPr/>
      </p:nvGrpSpPr>
      <p:grpSpPr>
        <a:xfrm>
          <a:off x="0" y="0"/>
          <a:ext cx="0" cy="0"/>
          <a:chOff x="0" y="0"/>
          <a:chExt cx="0" cy="0"/>
        </a:xfrm>
      </p:grpSpPr>
      <p:grpSp>
        <p:nvGrpSpPr>
          <p:cNvPr id="5" name="Group 5"/>
          <p:cNvGrpSpPr/>
          <p:nvPr/>
        </p:nvGrpSpPr>
        <p:grpSpPr>
          <a:xfrm>
            <a:off x="864454" y="2243097"/>
            <a:ext cx="9502694" cy="6371882"/>
            <a:chOff x="0" y="0"/>
            <a:chExt cx="12670259" cy="8495842"/>
          </a:xfrm>
        </p:grpSpPr>
        <p:sp>
          <p:nvSpPr>
            <p:cNvPr id="6" name="TextBox 6"/>
            <p:cNvSpPr txBox="1"/>
            <p:nvPr/>
          </p:nvSpPr>
          <p:spPr>
            <a:xfrm>
              <a:off x="0" y="0"/>
              <a:ext cx="12670259" cy="1436291"/>
            </a:xfrm>
            <a:prstGeom prst="rect">
              <a:avLst/>
            </a:prstGeom>
          </p:spPr>
          <p:txBody>
            <a:bodyPr lIns="0" tIns="0" rIns="0" bIns="0" rtlCol="0" anchor="t">
              <a:spAutoFit/>
            </a:bodyPr>
            <a:lstStyle/>
            <a:p>
              <a:pPr algn="l">
                <a:lnSpc>
                  <a:spcPts val="8400"/>
                </a:lnSpc>
              </a:pPr>
              <a:r>
                <a:rPr lang="vi-VN" sz="5400" dirty="0" smtClean="0">
                  <a:solidFill>
                    <a:srgbClr val="FDFEEC"/>
                  </a:solidFill>
                  <a:latin typeface="Prata"/>
                  <a:ea typeface="Prata"/>
                  <a:cs typeface="Prata"/>
                  <a:sym typeface="Prata"/>
                </a:rPr>
                <a:t>CÁC VẤN ĐỀ QUAN TRỌNG</a:t>
              </a:r>
              <a:endParaRPr lang="en-US" sz="5400" dirty="0">
                <a:solidFill>
                  <a:srgbClr val="FDFEEC"/>
                </a:solidFill>
                <a:latin typeface="Prata"/>
                <a:ea typeface="Prata"/>
                <a:cs typeface="Prata"/>
                <a:sym typeface="Prata"/>
              </a:endParaRPr>
            </a:p>
          </p:txBody>
        </p:sp>
        <p:sp>
          <p:nvSpPr>
            <p:cNvPr id="7" name="TextBox 7"/>
            <p:cNvSpPr txBox="1"/>
            <p:nvPr/>
          </p:nvSpPr>
          <p:spPr>
            <a:xfrm>
              <a:off x="0" y="1778027"/>
              <a:ext cx="11709739" cy="638175"/>
            </a:xfrm>
            <a:prstGeom prst="rect">
              <a:avLst/>
            </a:prstGeom>
          </p:spPr>
          <p:txBody>
            <a:bodyPr lIns="0" tIns="0" rIns="0" bIns="0" rtlCol="0" anchor="t">
              <a:spAutoFit/>
            </a:bodyPr>
            <a:lstStyle/>
            <a:p>
              <a:pPr algn="l">
                <a:lnSpc>
                  <a:spcPts val="3900"/>
                </a:lnSpc>
              </a:pPr>
              <a:endParaRPr lang="en-US" sz="3000" b="1" dirty="0">
                <a:solidFill>
                  <a:srgbClr val="43270E"/>
                </a:solidFill>
                <a:latin typeface="Montserrat Medium"/>
                <a:ea typeface="Montserrat Medium"/>
                <a:cs typeface="Montserrat Medium"/>
                <a:sym typeface="Montserrat Medium"/>
              </a:endParaRPr>
            </a:p>
          </p:txBody>
        </p:sp>
        <p:sp>
          <p:nvSpPr>
            <p:cNvPr id="8" name="TextBox 8"/>
            <p:cNvSpPr txBox="1"/>
            <p:nvPr/>
          </p:nvSpPr>
          <p:spPr>
            <a:xfrm>
              <a:off x="0" y="2750680"/>
              <a:ext cx="11709739" cy="5745162"/>
            </a:xfrm>
            <a:prstGeom prst="rect">
              <a:avLst/>
            </a:prstGeom>
          </p:spPr>
          <p:txBody>
            <a:bodyPr lIns="0" tIns="0" rIns="0" bIns="0" rtlCol="0" anchor="t">
              <a:spAutoFit/>
            </a:bodyPr>
            <a:lstStyle/>
            <a:p>
              <a:pPr>
                <a:lnSpc>
                  <a:spcPts val="2800"/>
                </a:lnSpc>
              </a:pPr>
              <a:r>
                <a:rPr lang="vi-VN" sz="2400" dirty="0"/>
                <a:t>Bên cạnh những lợi ích thiết thực, việc sử dụng AI Gamma cũng đặt ra một số vấn đề quan trọng cần được quan tâm. Trước hết là </a:t>
              </a:r>
              <a:r>
                <a:rPr lang="vi-VN" sz="2400" b="1" dirty="0"/>
                <a:t>độ chính xác của thông tin</a:t>
              </a:r>
              <a:r>
                <a:rPr lang="vi-VN" sz="2400" dirty="0"/>
                <a:t>, bởi nội dung do AI tạo ra có thể chưa hoàn toàn đúng hoặc còn thiếu sót, người dùng cần kiểm tra và chọn lọc kỹ lưỡng. Thứ hai là </a:t>
              </a:r>
              <a:r>
                <a:rPr lang="vi-VN" sz="2400" b="1" dirty="0"/>
                <a:t>sự phụ thuộc vào công nghệ</a:t>
              </a:r>
              <a:r>
                <a:rPr lang="vi-VN" sz="2400" dirty="0"/>
                <a:t>, nếu lạm dụng AI Gamma quá mức sẽ làm giảm khả năng tư duy độc lập, sáng tạo và kỹ năng trình bày của con người. Ngoài ra, </a:t>
              </a:r>
              <a:r>
                <a:rPr lang="vi-VN" sz="2400" b="1" dirty="0"/>
                <a:t>vấn đề đạo đức và bản quyền</a:t>
              </a:r>
              <a:r>
                <a:rPr lang="vi-VN" sz="2400" dirty="0"/>
                <a:t> cũng rất đáng chú ý, khi việc sao chép nội dung từ AI mà không chỉnh sửa có thể dẫn đến gian lận trong học tập. Vì vậy, AI Gamma cần được sử dụng một cách hợp lý, có ý thức và trách nhiệm để phát huy hiệu quả tích cực mà không gây ra những hệ lụy tiêu cực.</a:t>
              </a:r>
              <a:r>
                <a:rPr lang="en-US" sz="2000" dirty="0" smtClean="0">
                  <a:solidFill>
                    <a:srgbClr val="FDFEEC"/>
                  </a:solidFill>
                  <a:latin typeface="Montserrat Extra-Light"/>
                  <a:ea typeface="Montserrat Extra-Light"/>
                  <a:cs typeface="Montserrat Extra-Light"/>
                  <a:sym typeface="Montserrat Extra-Light"/>
                </a:rPr>
                <a:t>.</a:t>
              </a:r>
              <a:endParaRPr lang="en-US" sz="2000" dirty="0">
                <a:solidFill>
                  <a:srgbClr val="FDFEEC"/>
                </a:solidFill>
                <a:latin typeface="Montserrat Extra-Light"/>
                <a:ea typeface="Montserrat Extra-Light"/>
                <a:cs typeface="Montserrat Extra-Light"/>
                <a:sym typeface="Montserrat Extra-Light"/>
              </a:endParaRPr>
            </a:p>
          </p:txBody>
        </p:sp>
      </p:gr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37371" y="0"/>
            <a:ext cx="7772400" cy="10287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3270E"/>
        </a:solidFill>
        <a:effectLst/>
      </p:bgPr>
    </p:bg>
    <p:spTree>
      <p:nvGrpSpPr>
        <p:cNvPr id="1" name=""/>
        <p:cNvGrpSpPr/>
        <p:nvPr/>
      </p:nvGrpSpPr>
      <p:grpSpPr>
        <a:xfrm>
          <a:off x="0" y="0"/>
          <a:ext cx="0" cy="0"/>
          <a:chOff x="0" y="0"/>
          <a:chExt cx="0" cy="0"/>
        </a:xfrm>
      </p:grpSpPr>
      <p:sp>
        <p:nvSpPr>
          <p:cNvPr id="3" name="AutoShape 3"/>
          <p:cNvSpPr/>
          <p:nvPr/>
        </p:nvSpPr>
        <p:spPr>
          <a:xfrm>
            <a:off x="0" y="1002602"/>
            <a:ext cx="9804721" cy="8777096"/>
          </a:xfrm>
          <a:prstGeom prst="rect">
            <a:avLst/>
          </a:prstGeom>
          <a:solidFill>
            <a:srgbClr val="925520"/>
          </a:solidFill>
        </p:spPr>
      </p:sp>
      <p:grpSp>
        <p:nvGrpSpPr>
          <p:cNvPr id="4" name="Group 4"/>
          <p:cNvGrpSpPr/>
          <p:nvPr/>
        </p:nvGrpSpPr>
        <p:grpSpPr>
          <a:xfrm>
            <a:off x="381000" y="1362602"/>
            <a:ext cx="7586299" cy="8453438"/>
            <a:chOff x="0" y="-367597"/>
            <a:chExt cx="10115065" cy="11271249"/>
          </a:xfrm>
        </p:grpSpPr>
        <p:sp>
          <p:nvSpPr>
            <p:cNvPr id="5" name="AutoShape 5"/>
            <p:cNvSpPr/>
            <p:nvPr/>
          </p:nvSpPr>
          <p:spPr>
            <a:xfrm>
              <a:off x="0" y="3865069"/>
              <a:ext cx="10037719" cy="176556"/>
            </a:xfrm>
            <a:prstGeom prst="rect">
              <a:avLst/>
            </a:prstGeom>
            <a:solidFill>
              <a:srgbClr val="43270E"/>
            </a:solidFill>
          </p:spPr>
        </p:sp>
        <p:sp>
          <p:nvSpPr>
            <p:cNvPr id="6" name="TextBox 6"/>
            <p:cNvSpPr txBox="1"/>
            <p:nvPr/>
          </p:nvSpPr>
          <p:spPr>
            <a:xfrm>
              <a:off x="95841" y="-367597"/>
              <a:ext cx="10019224" cy="1422400"/>
            </a:xfrm>
            <a:prstGeom prst="rect">
              <a:avLst/>
            </a:prstGeom>
          </p:spPr>
          <p:txBody>
            <a:bodyPr lIns="0" tIns="0" rIns="0" bIns="0" rtlCol="0" anchor="t">
              <a:spAutoFit/>
            </a:bodyPr>
            <a:lstStyle/>
            <a:p>
              <a:pPr algn="l">
                <a:lnSpc>
                  <a:spcPts val="8400"/>
                </a:lnSpc>
              </a:pPr>
              <a:r>
                <a:rPr lang="vi-VN" sz="7000" dirty="0" smtClean="0">
                  <a:solidFill>
                    <a:srgbClr val="FDFEEC"/>
                  </a:solidFill>
                  <a:latin typeface="Prata"/>
                  <a:ea typeface="Prata"/>
                  <a:cs typeface="Prata"/>
                  <a:sym typeface="Prata"/>
                </a:rPr>
                <a:t>SUNO </a:t>
              </a:r>
              <a:endParaRPr lang="en-US" sz="7000" dirty="0">
                <a:solidFill>
                  <a:srgbClr val="FDFEEC"/>
                </a:solidFill>
                <a:latin typeface="Prata"/>
                <a:ea typeface="Prata"/>
                <a:cs typeface="Prata"/>
                <a:sym typeface="Prata"/>
              </a:endParaRPr>
            </a:p>
          </p:txBody>
        </p:sp>
        <p:sp>
          <p:nvSpPr>
            <p:cNvPr id="7" name="TextBox 7"/>
            <p:cNvSpPr txBox="1"/>
            <p:nvPr/>
          </p:nvSpPr>
          <p:spPr>
            <a:xfrm>
              <a:off x="0" y="1054803"/>
              <a:ext cx="10019224" cy="9848849"/>
            </a:xfrm>
            <a:prstGeom prst="rect">
              <a:avLst/>
            </a:prstGeom>
          </p:spPr>
          <p:txBody>
            <a:bodyPr lIns="0" tIns="0" rIns="0" bIns="0" rtlCol="0" anchor="t">
              <a:spAutoFit/>
            </a:bodyPr>
            <a:lstStyle/>
            <a:p>
              <a:r>
                <a:rPr lang="vi-VN" sz="2000" dirty="0"/>
                <a:t>Trong những năm gần đây, trí tuệ nhân tạo đã có những bước phát triển mạnh mẽ và được ứng dụng rộng rãi trong nhiều lĩnh vực, đặc biệt là sáng tạo nghệ thuật. </a:t>
              </a:r>
              <a:r>
                <a:rPr lang="vi-VN" sz="2000" b="1" dirty="0"/>
                <a:t>AI Suno</a:t>
              </a:r>
              <a:r>
                <a:rPr lang="vi-VN" sz="2000" dirty="0"/>
                <a:t> là một công cụ tiêu biểu trong lĩnh vực </a:t>
              </a:r>
              <a:r>
                <a:rPr lang="vi-VN" sz="2000" b="1" dirty="0"/>
                <a:t>sáng tác âm nhạc bằng trí tuệ nhân tạo</a:t>
              </a:r>
              <a:r>
                <a:rPr lang="vi-VN" sz="2000" dirty="0"/>
                <a:t>, mang lại nhiều tiện ích cho con người</a:t>
              </a:r>
              <a:r>
                <a:rPr lang="vi-VN" sz="2000" dirty="0" smtClean="0"/>
                <a:t>.</a:t>
              </a:r>
            </a:p>
            <a:p>
              <a:endParaRPr lang="vi-VN" sz="2000" dirty="0"/>
            </a:p>
            <a:p>
              <a:endParaRPr lang="vi-VN" sz="2000" dirty="0" smtClean="0"/>
            </a:p>
            <a:p>
              <a:endParaRPr lang="vi-VN" sz="2000" dirty="0"/>
            </a:p>
            <a:p>
              <a:r>
                <a:rPr lang="vi-VN" sz="2000" dirty="0"/>
                <a:t>AI Suno cho phép người dùng </a:t>
              </a:r>
              <a:r>
                <a:rPr lang="vi-VN" sz="2000" b="1" dirty="0"/>
                <a:t>tạo bài hát hoàn chỉnh</a:t>
              </a:r>
              <a:r>
                <a:rPr lang="vi-VN" sz="2000" dirty="0"/>
                <a:t> chỉ bằng cách nhập nội dung hoặc ý tưởng cơ bản. Công cụ này có thể tự động sáng tác </a:t>
              </a:r>
              <a:r>
                <a:rPr lang="vi-VN" sz="2000" b="1" dirty="0"/>
                <a:t>giai điệu, lời bài hát và giọng hát</a:t>
              </a:r>
              <a:r>
                <a:rPr lang="vi-VN" sz="2000" dirty="0"/>
                <a:t>, phù hợp với nhiều thể loại âm nhạc khác nhau. Nhờ đó, AI Suno hỗ trợ hiệu quả cho người mới học nhạc, người sáng tạo nội dung và cả những người không có kiến thức chuyên sâu về âm nhạc.</a:t>
              </a:r>
            </a:p>
            <a:p>
              <a:r>
                <a:rPr lang="vi-VN" sz="2000" dirty="0"/>
                <a:t>Bên cạnh đó, AI Suno còn được ứng dụng trong </a:t>
              </a:r>
              <a:r>
                <a:rPr lang="vi-VN" sz="2000" b="1" dirty="0"/>
                <a:t>giải trí và truyền thông</a:t>
              </a:r>
              <a:r>
                <a:rPr lang="vi-VN" sz="2000" dirty="0"/>
                <a:t>, giúp tạo nhạc nền cho video, quảng cáo, mạng xã hội một cách nhanh chóng. Công cụ này góp phần </a:t>
              </a:r>
              <a:r>
                <a:rPr lang="vi-VN" sz="2000" b="1" dirty="0"/>
                <a:t>tiết kiệm thời gian, chi phí sản xuất âm nhạc</a:t>
              </a:r>
              <a:r>
                <a:rPr lang="vi-VN" sz="2000" dirty="0"/>
                <a:t>, đồng thời mở ra nhiều cơ hội sáng tạo mới cho giới trẻ.</a:t>
              </a:r>
            </a:p>
            <a:p>
              <a:r>
                <a:rPr lang="vi-VN" sz="2000" dirty="0"/>
                <a:t>Tuy nhiên, việc sử dụng AI Suno cũng đặt ra một số vấn đề cần quan tâm như </a:t>
              </a:r>
              <a:r>
                <a:rPr lang="vi-VN" sz="2000" b="1" dirty="0"/>
                <a:t>bản quyền âm nhạc</a:t>
              </a:r>
              <a:r>
                <a:rPr lang="vi-VN" sz="2000" dirty="0"/>
                <a:t>, tính độc đáo của tác phẩm và nguy cơ </a:t>
              </a:r>
              <a:r>
                <a:rPr lang="vi-VN" sz="2000" b="1" dirty="0"/>
                <a:t>phụ thuộc vào AI</a:t>
              </a:r>
              <a:r>
                <a:rPr lang="vi-VN" sz="2000" dirty="0"/>
                <a:t> trong sáng tạo. Vì vậy, người dùng cần sử dụng AI Suno một cách hợp lý, coi đây là công cụ hỗ trợ chứ không thay thế hoàn toàn vai trò của con người.</a:t>
              </a:r>
            </a:p>
          </p:txBody>
        </p:sp>
      </p:grpSp>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t="69403" b="-1584"/>
          <a:stretch/>
        </p:blipFill>
        <p:spPr>
          <a:xfrm>
            <a:off x="9228418" y="0"/>
            <a:ext cx="9059582" cy="10782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3270E"/>
        </a:solidFill>
        <a:effectLst/>
      </p:bgPr>
    </p:bg>
    <p:spTree>
      <p:nvGrpSpPr>
        <p:cNvPr id="1" name=""/>
        <p:cNvGrpSpPr/>
        <p:nvPr/>
      </p:nvGrpSpPr>
      <p:grpSpPr>
        <a:xfrm>
          <a:off x="0" y="0"/>
          <a:ext cx="0" cy="0"/>
          <a:chOff x="0" y="0"/>
          <a:chExt cx="0" cy="0"/>
        </a:xfrm>
      </p:grpSpPr>
      <p:sp>
        <p:nvSpPr>
          <p:cNvPr id="2" name="AutoShape 2"/>
          <p:cNvSpPr/>
          <p:nvPr/>
        </p:nvSpPr>
        <p:spPr>
          <a:xfrm>
            <a:off x="275732" y="266700"/>
            <a:ext cx="17873089" cy="9872089"/>
          </a:xfrm>
          <a:prstGeom prst="rect">
            <a:avLst/>
          </a:prstGeom>
          <a:solidFill>
            <a:srgbClr val="FDFEEC"/>
          </a:solidFill>
        </p:spPr>
      </p:sp>
      <p:grpSp>
        <p:nvGrpSpPr>
          <p:cNvPr id="3" name="Group 3"/>
          <p:cNvGrpSpPr/>
          <p:nvPr/>
        </p:nvGrpSpPr>
        <p:grpSpPr>
          <a:xfrm>
            <a:off x="-27214" y="8901234"/>
            <a:ext cx="9804721" cy="795175"/>
            <a:chOff x="732119" y="-19051"/>
            <a:chExt cx="13072962" cy="1060234"/>
          </a:xfrm>
        </p:grpSpPr>
        <p:sp>
          <p:nvSpPr>
            <p:cNvPr id="4" name="AutoShape 4"/>
            <p:cNvSpPr/>
            <p:nvPr/>
          </p:nvSpPr>
          <p:spPr>
            <a:xfrm>
              <a:off x="732119" y="-19051"/>
              <a:ext cx="13072962" cy="1060234"/>
            </a:xfrm>
            <a:prstGeom prst="rect">
              <a:avLst/>
            </a:prstGeom>
            <a:solidFill>
              <a:srgbClr val="925520"/>
            </a:solidFill>
          </p:spPr>
        </p:sp>
        <p:sp>
          <p:nvSpPr>
            <p:cNvPr id="5" name="TextBox 5"/>
            <p:cNvSpPr txBox="1"/>
            <p:nvPr/>
          </p:nvSpPr>
          <p:spPr>
            <a:xfrm>
              <a:off x="1334766" y="339617"/>
              <a:ext cx="11095006" cy="332656"/>
            </a:xfrm>
            <a:prstGeom prst="rect">
              <a:avLst/>
            </a:prstGeom>
          </p:spPr>
          <p:txBody>
            <a:bodyPr lIns="0" tIns="0" rIns="0" bIns="0" rtlCol="0" anchor="t">
              <a:spAutoFit/>
            </a:bodyPr>
            <a:lstStyle/>
            <a:p>
              <a:pPr algn="l">
                <a:lnSpc>
                  <a:spcPts val="2100"/>
                </a:lnSpc>
              </a:pPr>
              <a:r>
                <a:rPr lang="vi-VN" sz="1500" b="1" spc="300" dirty="0" smtClean="0">
                  <a:solidFill>
                    <a:srgbClr val="FDFEEC"/>
                  </a:solidFill>
                  <a:latin typeface="Montserrat Medium"/>
                  <a:ea typeface="Montserrat Medium"/>
                  <a:cs typeface="Montserrat Medium"/>
                  <a:sym typeface="Montserrat Medium"/>
                </a:rPr>
                <a:t>NHÓM 9</a:t>
              </a:r>
              <a:endParaRPr lang="en-US" sz="1500" b="1" spc="300" dirty="0">
                <a:solidFill>
                  <a:srgbClr val="FDFEEC"/>
                </a:solidFill>
                <a:latin typeface="Montserrat Medium"/>
                <a:ea typeface="Montserrat Medium"/>
                <a:cs typeface="Montserrat Medium"/>
                <a:sym typeface="Montserrat Medium"/>
              </a:endParaRPr>
            </a:p>
          </p:txBody>
        </p:sp>
      </p:grpSp>
      <p:grpSp>
        <p:nvGrpSpPr>
          <p:cNvPr id="6" name="Group 6"/>
          <p:cNvGrpSpPr/>
          <p:nvPr/>
        </p:nvGrpSpPr>
        <p:grpSpPr>
          <a:xfrm>
            <a:off x="1071909" y="1071909"/>
            <a:ext cx="10891491" cy="1230166"/>
            <a:chOff x="0" y="0"/>
            <a:chExt cx="14521988" cy="1640221"/>
          </a:xfrm>
        </p:grpSpPr>
        <p:sp>
          <p:nvSpPr>
            <p:cNvPr id="7" name="TextBox 7"/>
            <p:cNvSpPr txBox="1"/>
            <p:nvPr/>
          </p:nvSpPr>
          <p:spPr>
            <a:xfrm>
              <a:off x="0" y="0"/>
              <a:ext cx="14521988" cy="820737"/>
            </a:xfrm>
            <a:prstGeom prst="rect">
              <a:avLst/>
            </a:prstGeom>
          </p:spPr>
          <p:txBody>
            <a:bodyPr wrap="square" lIns="0" tIns="0" rIns="0" bIns="0" rtlCol="0" anchor="t">
              <a:spAutoFit/>
            </a:bodyPr>
            <a:lstStyle/>
            <a:p>
              <a:pPr algn="l">
                <a:lnSpc>
                  <a:spcPts val="4800"/>
                </a:lnSpc>
              </a:pPr>
              <a:r>
                <a:rPr lang="vi-VN" sz="4000" b="1" spc="400" dirty="0" smtClean="0">
                  <a:solidFill>
                    <a:srgbClr val="925520"/>
                  </a:solidFill>
                  <a:latin typeface="Montserrat Medium"/>
                  <a:ea typeface="Montserrat Medium"/>
                  <a:cs typeface="Montserrat Medium"/>
                  <a:sym typeface="Montserrat Medium"/>
                </a:rPr>
                <a:t>NHỮNG ĐIỂM TÍCH CỰC CỦA SUNO</a:t>
              </a:r>
              <a:endParaRPr lang="en-US" sz="4000" b="1" spc="400" dirty="0">
                <a:solidFill>
                  <a:srgbClr val="925520"/>
                </a:solidFill>
                <a:latin typeface="Montserrat Medium"/>
                <a:ea typeface="Montserrat Medium"/>
                <a:cs typeface="Montserrat Medium"/>
                <a:sym typeface="Montserrat Medium"/>
              </a:endParaRPr>
            </a:p>
          </p:txBody>
        </p:sp>
        <p:sp>
          <p:nvSpPr>
            <p:cNvPr id="8" name="TextBox 8"/>
            <p:cNvSpPr txBox="1"/>
            <p:nvPr/>
          </p:nvSpPr>
          <p:spPr>
            <a:xfrm>
              <a:off x="0" y="1021096"/>
              <a:ext cx="11095006" cy="619125"/>
            </a:xfrm>
            <a:prstGeom prst="rect">
              <a:avLst/>
            </a:prstGeom>
          </p:spPr>
          <p:txBody>
            <a:bodyPr lIns="0" tIns="0" rIns="0" bIns="0" rtlCol="0" anchor="t">
              <a:spAutoFit/>
            </a:bodyPr>
            <a:lstStyle/>
            <a:p>
              <a:pPr algn="l">
                <a:lnSpc>
                  <a:spcPts val="3600"/>
                </a:lnSpc>
              </a:pPr>
              <a:endParaRPr lang="en-US" sz="3000" i="1" dirty="0">
                <a:solidFill>
                  <a:srgbClr val="43270E"/>
                </a:solidFill>
                <a:latin typeface="Prata"/>
                <a:ea typeface="Prata"/>
                <a:cs typeface="Prata"/>
                <a:sym typeface="Prata"/>
              </a:endParaRPr>
            </a:p>
          </p:txBody>
        </p:sp>
      </p:grpSp>
      <p:sp>
        <p:nvSpPr>
          <p:cNvPr id="9" name="TextBox 9"/>
          <p:cNvSpPr txBox="1"/>
          <p:nvPr/>
        </p:nvSpPr>
        <p:spPr>
          <a:xfrm>
            <a:off x="1935387" y="6397518"/>
            <a:ext cx="4229440" cy="982064"/>
          </a:xfrm>
          <a:prstGeom prst="rect">
            <a:avLst/>
          </a:prstGeom>
        </p:spPr>
        <p:txBody>
          <a:bodyPr lIns="0" tIns="0" rIns="0" bIns="0" rtlCol="0" anchor="t">
            <a:spAutoFit/>
          </a:bodyPr>
          <a:lstStyle/>
          <a:p>
            <a:pPr algn="ctr">
              <a:lnSpc>
                <a:spcPts val="3900"/>
              </a:lnSpc>
            </a:pPr>
            <a:r>
              <a:rPr lang="en-US" sz="3200" dirty="0"/>
              <a:t>Dễ sử dụng, tiết kiệm thời gian</a:t>
            </a:r>
            <a:endParaRPr lang="en-US" sz="3000" b="1" dirty="0">
              <a:solidFill>
                <a:srgbClr val="43270E"/>
              </a:solidFill>
              <a:latin typeface="Montserrat Medium"/>
              <a:ea typeface="Montserrat Medium"/>
              <a:cs typeface="Montserrat Medium"/>
              <a:sym typeface="Montserrat Medium"/>
            </a:endParaRPr>
          </a:p>
        </p:txBody>
      </p:sp>
      <p:sp>
        <p:nvSpPr>
          <p:cNvPr id="10" name="TextBox 10"/>
          <p:cNvSpPr txBox="1"/>
          <p:nvPr/>
        </p:nvSpPr>
        <p:spPr>
          <a:xfrm>
            <a:off x="7029280" y="6397518"/>
            <a:ext cx="4229440" cy="974626"/>
          </a:xfrm>
          <a:prstGeom prst="rect">
            <a:avLst/>
          </a:prstGeom>
        </p:spPr>
        <p:txBody>
          <a:bodyPr lIns="0" tIns="0" rIns="0" bIns="0" rtlCol="0" anchor="t">
            <a:spAutoFit/>
          </a:bodyPr>
          <a:lstStyle/>
          <a:p>
            <a:pPr algn="ctr">
              <a:lnSpc>
                <a:spcPts val="3802"/>
              </a:lnSpc>
            </a:pPr>
            <a:r>
              <a:rPr lang="en-US" sz="3200" dirty="0"/>
              <a:t>Thúc đẩy sáng tạo âm nhạc</a:t>
            </a:r>
            <a:endParaRPr lang="en-US" sz="2925" b="1" dirty="0">
              <a:solidFill>
                <a:srgbClr val="43270E"/>
              </a:solidFill>
              <a:latin typeface="Montserrat Medium"/>
              <a:ea typeface="Montserrat Medium"/>
              <a:cs typeface="Montserrat Medium"/>
              <a:sym typeface="Montserrat Medium"/>
            </a:endParaRPr>
          </a:p>
        </p:txBody>
      </p:sp>
      <p:sp>
        <p:nvSpPr>
          <p:cNvPr id="11" name="TextBox 11"/>
          <p:cNvSpPr txBox="1"/>
          <p:nvPr/>
        </p:nvSpPr>
        <p:spPr>
          <a:xfrm>
            <a:off x="12123174" y="6397518"/>
            <a:ext cx="4229440" cy="982064"/>
          </a:xfrm>
          <a:prstGeom prst="rect">
            <a:avLst/>
          </a:prstGeom>
        </p:spPr>
        <p:txBody>
          <a:bodyPr lIns="0" tIns="0" rIns="0" bIns="0" rtlCol="0" anchor="t">
            <a:spAutoFit/>
          </a:bodyPr>
          <a:lstStyle/>
          <a:p>
            <a:pPr algn="ctr">
              <a:lnSpc>
                <a:spcPts val="3900"/>
              </a:lnSpc>
            </a:pPr>
            <a:r>
              <a:rPr lang="en-US" sz="3200" dirty="0"/>
              <a:t>Ứng dụng cao trong giải trí và truyền thông</a:t>
            </a:r>
            <a:endParaRPr lang="en-US" sz="3000" b="1" dirty="0">
              <a:solidFill>
                <a:srgbClr val="43270E"/>
              </a:solidFill>
              <a:latin typeface="Montserrat Medium"/>
              <a:ea typeface="Montserrat Medium"/>
              <a:cs typeface="Montserrat Medium"/>
              <a:sym typeface="Montserrat Medium"/>
            </a:endParaRPr>
          </a:p>
        </p:txBody>
      </p:sp>
      <p:sp>
        <p:nvSpPr>
          <p:cNvPr id="12" name="Freeform 12"/>
          <p:cNvSpPr/>
          <p:nvPr/>
        </p:nvSpPr>
        <p:spPr>
          <a:xfrm>
            <a:off x="2436504" y="2933926"/>
            <a:ext cx="3241964" cy="3241964"/>
          </a:xfrm>
          <a:custGeom>
            <a:avLst/>
            <a:gdLst/>
            <a:ahLst/>
            <a:cxnLst/>
            <a:rect l="l" t="t" r="r" b="b"/>
            <a:pathLst>
              <a:path w="3241964" h="3241964">
                <a:moveTo>
                  <a:pt x="0" y="0"/>
                </a:moveTo>
                <a:lnTo>
                  <a:pt x="3241963" y="0"/>
                </a:lnTo>
                <a:lnTo>
                  <a:pt x="3241963" y="3241963"/>
                </a:lnTo>
                <a:lnTo>
                  <a:pt x="0" y="3241963"/>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3" name="TextBox 13"/>
          <p:cNvSpPr txBox="1"/>
          <p:nvPr/>
        </p:nvSpPr>
        <p:spPr>
          <a:xfrm>
            <a:off x="3320868" y="4024165"/>
            <a:ext cx="1426195" cy="879826"/>
          </a:xfrm>
          <a:prstGeom prst="rect">
            <a:avLst/>
          </a:prstGeom>
        </p:spPr>
        <p:txBody>
          <a:bodyPr lIns="0" tIns="0" rIns="0" bIns="0" rtlCol="0" anchor="t">
            <a:spAutoFit/>
          </a:bodyPr>
          <a:lstStyle/>
          <a:p>
            <a:pPr algn="ctr">
              <a:lnSpc>
                <a:spcPts val="7062"/>
              </a:lnSpc>
            </a:pPr>
            <a:r>
              <a:rPr lang="en-US" sz="5432" b="1" dirty="0">
                <a:solidFill>
                  <a:srgbClr val="925520"/>
                </a:solidFill>
                <a:latin typeface="Montserrat Medium"/>
                <a:ea typeface="Montserrat Medium"/>
                <a:cs typeface="Montserrat Medium"/>
                <a:sym typeface="Montserrat Medium"/>
              </a:rPr>
              <a:t>01</a:t>
            </a:r>
          </a:p>
        </p:txBody>
      </p:sp>
      <p:sp>
        <p:nvSpPr>
          <p:cNvPr id="14" name="Freeform 14"/>
          <p:cNvSpPr/>
          <p:nvPr/>
        </p:nvSpPr>
        <p:spPr>
          <a:xfrm>
            <a:off x="7607437" y="2884940"/>
            <a:ext cx="3241964" cy="3241964"/>
          </a:xfrm>
          <a:custGeom>
            <a:avLst/>
            <a:gdLst/>
            <a:ahLst/>
            <a:cxnLst/>
            <a:rect l="l" t="t" r="r" b="b"/>
            <a:pathLst>
              <a:path w="3241964" h="3241964">
                <a:moveTo>
                  <a:pt x="0" y="0"/>
                </a:moveTo>
                <a:lnTo>
                  <a:pt x="3241964" y="0"/>
                </a:lnTo>
                <a:lnTo>
                  <a:pt x="3241964" y="3241964"/>
                </a:lnTo>
                <a:lnTo>
                  <a:pt x="0" y="324196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5" name="TextBox 15"/>
          <p:cNvSpPr txBox="1"/>
          <p:nvPr/>
        </p:nvSpPr>
        <p:spPr>
          <a:xfrm>
            <a:off x="8499180" y="3966216"/>
            <a:ext cx="1426195" cy="915889"/>
          </a:xfrm>
          <a:prstGeom prst="rect">
            <a:avLst/>
          </a:prstGeom>
        </p:spPr>
        <p:txBody>
          <a:bodyPr lIns="0" tIns="0" rIns="0" bIns="0" rtlCol="0" anchor="t">
            <a:spAutoFit/>
          </a:bodyPr>
          <a:lstStyle/>
          <a:p>
            <a:pPr algn="ctr">
              <a:lnSpc>
                <a:spcPts val="7243"/>
              </a:lnSpc>
            </a:pPr>
            <a:r>
              <a:rPr lang="en-US" sz="5572" b="1" dirty="0">
                <a:solidFill>
                  <a:srgbClr val="925520"/>
                </a:solidFill>
                <a:latin typeface="Montserrat Medium"/>
                <a:ea typeface="Montserrat Medium"/>
                <a:cs typeface="Montserrat Medium"/>
                <a:sym typeface="Montserrat Medium"/>
              </a:rPr>
              <a:t>02</a:t>
            </a:r>
          </a:p>
        </p:txBody>
      </p:sp>
      <p:sp>
        <p:nvSpPr>
          <p:cNvPr id="16" name="Freeform 16"/>
          <p:cNvSpPr/>
          <p:nvPr/>
        </p:nvSpPr>
        <p:spPr>
          <a:xfrm>
            <a:off x="12616912" y="2836516"/>
            <a:ext cx="3241964" cy="3241964"/>
          </a:xfrm>
          <a:custGeom>
            <a:avLst/>
            <a:gdLst/>
            <a:ahLst/>
            <a:cxnLst/>
            <a:rect l="l" t="t" r="r" b="b"/>
            <a:pathLst>
              <a:path w="3241964" h="3241964">
                <a:moveTo>
                  <a:pt x="0" y="0"/>
                </a:moveTo>
                <a:lnTo>
                  <a:pt x="3241963" y="0"/>
                </a:lnTo>
                <a:lnTo>
                  <a:pt x="3241963" y="3241964"/>
                </a:lnTo>
                <a:lnTo>
                  <a:pt x="0" y="324196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7" name="TextBox 17"/>
          <p:cNvSpPr txBox="1"/>
          <p:nvPr/>
        </p:nvSpPr>
        <p:spPr>
          <a:xfrm>
            <a:off x="13508654" y="3917793"/>
            <a:ext cx="1426195" cy="915889"/>
          </a:xfrm>
          <a:prstGeom prst="rect">
            <a:avLst/>
          </a:prstGeom>
        </p:spPr>
        <p:txBody>
          <a:bodyPr lIns="0" tIns="0" rIns="0" bIns="0" rtlCol="0" anchor="t">
            <a:spAutoFit/>
          </a:bodyPr>
          <a:lstStyle/>
          <a:p>
            <a:pPr algn="ctr">
              <a:lnSpc>
                <a:spcPts val="7243"/>
              </a:lnSpc>
            </a:pPr>
            <a:r>
              <a:rPr lang="en-US" sz="5572" b="1" dirty="0">
                <a:solidFill>
                  <a:srgbClr val="925520"/>
                </a:solidFill>
                <a:latin typeface="Montserrat Medium"/>
                <a:ea typeface="Montserrat Medium"/>
                <a:cs typeface="Montserrat Medium"/>
                <a:sym typeface="Montserrat Medium"/>
              </a:rPr>
              <a:t>03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 calcmode="lin" valueType="num">
                                      <p:cBhvr additive="base">
                                        <p:cTn id="13"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anim calcmode="lin" valueType="num">
                                      <p:cBhvr additive="base">
                                        <p:cTn id="19"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anim calcmode="lin" valueType="num">
                                      <p:cBhvr additive="base">
                                        <p:cTn id="25"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anim calcmode="lin" valueType="num">
                                      <p:cBhvr additive="base">
                                        <p:cTn id="31"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 calcmode="lin" valueType="num">
                                      <p:cBhvr additive="base">
                                        <p:cTn id="3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143</TotalTime>
  <Words>1217</Words>
  <Application>Microsoft Office PowerPoint</Application>
  <PresentationFormat>Custom</PresentationFormat>
  <Paragraphs>65</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Prata</vt:lpstr>
      <vt:lpstr>Arial</vt:lpstr>
      <vt:lpstr>Calibri Light</vt:lpstr>
      <vt:lpstr>Arial Black</vt:lpstr>
      <vt:lpstr>Montserrat Extra-Light</vt:lpstr>
      <vt:lpstr>Calibri</vt:lpstr>
      <vt:lpstr>Montserrat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Nâu Được minh họa Kiến trúc Cổ đại Lịch sử Bản thuyết trình</dc:title>
  <dc:creator>Vi Van Khanh</dc:creator>
  <cp:lastModifiedBy>Microsoft account</cp:lastModifiedBy>
  <cp:revision>18</cp:revision>
  <dcterms:created xsi:type="dcterms:W3CDTF">2006-08-16T00:00:00Z</dcterms:created>
  <dcterms:modified xsi:type="dcterms:W3CDTF">2025-12-18T14:56:06Z</dcterms:modified>
  <dc:identifier>DAG7lzkCg_o</dc:identifier>
</cp:coreProperties>
</file>