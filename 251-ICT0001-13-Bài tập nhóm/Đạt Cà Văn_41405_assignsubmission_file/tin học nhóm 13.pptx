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TT Commons Pro" charset="0"/>
      <p:regular r:id="rId24"/>
    </p:embeddedFont>
    <p:embeddedFont>
      <p:font typeface="Calibri" pitchFamily="34" charset="0"/>
      <p:regular r:id="rId25"/>
      <p:bold r:id="rId26"/>
      <p:italic r:id="rId27"/>
      <p:boldItalic r:id="rId28"/>
    </p:embeddedFont>
    <p:embeddedFont>
      <p:font typeface="TT Commons Pro Bold" charset="0"/>
      <p:regular r:id="rId29"/>
    </p:embeddedFont>
    <p:embeddedFont>
      <p:font typeface="Noto Sans Bold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1" d="100"/>
          <a:sy n="51" d="100"/>
        </p:scale>
        <p:origin x="-456" y="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sv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70866" y="3557530"/>
            <a:ext cx="5735634" cy="5985956"/>
          </a:xfrm>
          <a:custGeom>
            <a:avLst/>
            <a:gdLst/>
            <a:ahLst/>
            <a:cxnLst/>
            <a:rect l="l" t="t" r="r" b="b"/>
            <a:pathLst>
              <a:path w="5735634" h="5985956">
                <a:moveTo>
                  <a:pt x="0" y="0"/>
                </a:moveTo>
                <a:lnTo>
                  <a:pt x="5735634" y="0"/>
                </a:lnTo>
                <a:lnTo>
                  <a:pt x="5735634" y="5985956"/>
                </a:lnTo>
                <a:lnTo>
                  <a:pt x="0" y="5985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866164" y="1862396"/>
            <a:ext cx="4322217" cy="3874278"/>
          </a:xfrm>
          <a:custGeom>
            <a:avLst/>
            <a:gdLst/>
            <a:ahLst/>
            <a:cxnLst/>
            <a:rect l="l" t="t" r="r" b="b"/>
            <a:pathLst>
              <a:path w="4322217" h="3874278">
                <a:moveTo>
                  <a:pt x="0" y="0"/>
                </a:moveTo>
                <a:lnTo>
                  <a:pt x="4322217" y="0"/>
                </a:lnTo>
                <a:lnTo>
                  <a:pt x="4322217" y="3874278"/>
                </a:lnTo>
                <a:lnTo>
                  <a:pt x="0" y="38742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90141" y="1919251"/>
            <a:ext cx="12177707" cy="3987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57"/>
              </a:lnSpc>
            </a:pPr>
            <a:r>
              <a:rPr lang="en-US" sz="7612" b="1" spc="319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TÌM HIỂU MỘT SỐ CÔNG CỤ TRÍ TUỆ NHÂN TẠO (AI) PHỔ BIẾN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911590"/>
            <a:ext cx="214169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01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44981" y="2810723"/>
            <a:ext cx="5328083" cy="6288510"/>
          </a:xfrm>
          <a:custGeom>
            <a:avLst/>
            <a:gdLst/>
            <a:ahLst/>
            <a:cxnLst/>
            <a:rect l="l" t="t" r="r" b="b"/>
            <a:pathLst>
              <a:path w="5328083" h="6288510">
                <a:moveTo>
                  <a:pt x="0" y="0"/>
                </a:moveTo>
                <a:lnTo>
                  <a:pt x="5328082" y="0"/>
                </a:lnTo>
                <a:lnTo>
                  <a:pt x="5328082" y="6288509"/>
                </a:lnTo>
                <a:lnTo>
                  <a:pt x="0" y="6288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44981" y="1028700"/>
            <a:ext cx="3842206" cy="2403125"/>
          </a:xfrm>
          <a:custGeom>
            <a:avLst/>
            <a:gdLst/>
            <a:ahLst/>
            <a:cxnLst/>
            <a:rect l="l" t="t" r="r" b="b"/>
            <a:pathLst>
              <a:path w="3842206" h="2403125">
                <a:moveTo>
                  <a:pt x="0" y="0"/>
                </a:moveTo>
                <a:lnTo>
                  <a:pt x="3842206" y="0"/>
                </a:lnTo>
                <a:lnTo>
                  <a:pt x="3842206" y="2403125"/>
                </a:lnTo>
                <a:lnTo>
                  <a:pt x="0" y="24031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737522" y="1178473"/>
            <a:ext cx="14050688" cy="163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58"/>
              </a:lnSpc>
            </a:pPr>
            <a:r>
              <a:rPr lang="en-US" sz="9613" b="1" spc="403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CÔNG CỤ TÌM HIỂU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31115" y="3843790"/>
            <a:ext cx="11757095" cy="3388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93358" lvl="1" indent="-696679" algn="l">
              <a:lnSpc>
                <a:spcPts val="9035"/>
              </a:lnSpc>
              <a:buAutoNum type="arabicPeriod"/>
            </a:pPr>
            <a:r>
              <a:rPr lang="en-US" sz="6453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CHAT GPT</a:t>
            </a:r>
          </a:p>
          <a:p>
            <a:pPr marL="1393358" lvl="1" indent="-696679" algn="l">
              <a:lnSpc>
                <a:spcPts val="9035"/>
              </a:lnSpc>
              <a:buAutoNum type="arabicPeriod"/>
            </a:pPr>
            <a:r>
              <a:rPr lang="en-US" sz="6453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GAMMAR</a:t>
            </a:r>
          </a:p>
          <a:p>
            <a:pPr marL="1393358" lvl="1" indent="-696679" algn="l">
              <a:lnSpc>
                <a:spcPts val="9035"/>
              </a:lnSpc>
              <a:buAutoNum type="arabicPeriod"/>
            </a:pPr>
            <a:r>
              <a:rPr lang="en-US" sz="6453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SUNO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111239" y="8892540"/>
            <a:ext cx="214169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02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510626" y="3783647"/>
            <a:ext cx="6304011" cy="4114800"/>
          </a:xfrm>
          <a:custGeom>
            <a:avLst/>
            <a:gdLst/>
            <a:ahLst/>
            <a:cxnLst/>
            <a:rect l="l" t="t" r="r" b="b"/>
            <a:pathLst>
              <a:path w="6304011" h="4114800">
                <a:moveTo>
                  <a:pt x="0" y="0"/>
                </a:moveTo>
                <a:lnTo>
                  <a:pt x="6304011" y="0"/>
                </a:lnTo>
                <a:lnTo>
                  <a:pt x="63040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21556" y="1703298"/>
            <a:ext cx="8322444" cy="8189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3"/>
              </a:lnSpc>
            </a:pPr>
            <a:r>
              <a:rPr lang="en-US" sz="470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1. </a:t>
            </a:r>
            <a:r>
              <a:rPr lang="en-US" sz="470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Mở</a:t>
            </a:r>
            <a:r>
              <a:rPr lang="en-US" sz="470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70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đầu</a:t>
            </a:r>
            <a:endParaRPr lang="en-US" sz="470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593"/>
              </a:lnSpc>
            </a:pPr>
            <a:r>
              <a:rPr lang="en-US" sz="470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2. </a:t>
            </a:r>
            <a:r>
              <a:rPr lang="en-US" sz="470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Nội</a:t>
            </a:r>
            <a:r>
              <a:rPr lang="en-US" sz="470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dung</a:t>
            </a:r>
          </a:p>
          <a:p>
            <a:pPr algn="l">
              <a:lnSpc>
                <a:spcPts val="6593"/>
              </a:lnSpc>
            </a:pPr>
            <a:r>
              <a:rPr lang="en-US" sz="470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  2.1. </a:t>
            </a:r>
            <a:r>
              <a:rPr lang="en-US" sz="470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ChatGPT</a:t>
            </a:r>
            <a:endParaRPr lang="en-US" sz="470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593"/>
              </a:lnSpc>
            </a:pPr>
            <a:r>
              <a:rPr lang="en-US" sz="470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  2.2. Gamma</a:t>
            </a:r>
          </a:p>
          <a:p>
            <a:pPr algn="l">
              <a:lnSpc>
                <a:spcPts val="6593"/>
              </a:lnSpc>
            </a:pPr>
            <a:r>
              <a:rPr lang="en-US" sz="470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  2.3. </a:t>
            </a:r>
            <a:r>
              <a:rPr lang="en-US" sz="470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Suno</a:t>
            </a:r>
            <a:endParaRPr lang="en-US" sz="470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593"/>
              </a:lnSpc>
            </a:pPr>
            <a:r>
              <a:rPr lang="en-US" sz="470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3. So </a:t>
            </a:r>
            <a:r>
              <a:rPr lang="en-US" sz="470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sánh</a:t>
            </a:r>
            <a:r>
              <a:rPr lang="en-US" sz="470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70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tổng</a:t>
            </a:r>
            <a:r>
              <a:rPr lang="en-US" sz="470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70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quan</a:t>
            </a:r>
            <a:endParaRPr lang="en-US" sz="470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593"/>
              </a:lnSpc>
            </a:pPr>
            <a:r>
              <a:rPr lang="en-US" sz="470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4. </a:t>
            </a:r>
            <a:r>
              <a:rPr lang="en-US" sz="470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Kết</a:t>
            </a:r>
            <a:r>
              <a:rPr lang="en-US" sz="470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70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luận</a:t>
            </a:r>
            <a:endParaRPr lang="en-US" sz="470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593"/>
              </a:lnSpc>
            </a:pPr>
            <a:r>
              <a:rPr lang="en-US" sz="470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5. </a:t>
            </a:r>
            <a:r>
              <a:rPr lang="en-US" sz="470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Tài</a:t>
            </a:r>
            <a:r>
              <a:rPr lang="en-US" sz="470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70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liệu</a:t>
            </a:r>
            <a:r>
              <a:rPr lang="en-US" sz="470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70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tham</a:t>
            </a:r>
            <a:r>
              <a:rPr lang="en-US" sz="470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70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khảo</a:t>
            </a:r>
            <a:endParaRPr lang="en-US" sz="470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593"/>
              </a:lnSpc>
            </a:pPr>
            <a:endParaRPr lang="en-US" sz="470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593"/>
              </a:lnSpc>
            </a:pPr>
            <a:endParaRPr lang="en-US" sz="470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8911590"/>
            <a:ext cx="214169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86880" y="169228"/>
            <a:ext cx="13914239" cy="141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20"/>
              </a:lnSpc>
            </a:pPr>
            <a:r>
              <a:rPr lang="en-US" sz="83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NỘI DUNG TÌM HIỂU GỒM: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76008" y="524787"/>
            <a:ext cx="4887613" cy="6670440"/>
          </a:xfrm>
          <a:custGeom>
            <a:avLst/>
            <a:gdLst/>
            <a:ahLst/>
            <a:cxnLst/>
            <a:rect l="l" t="t" r="r" b="b"/>
            <a:pathLst>
              <a:path w="4887613" h="6670440">
                <a:moveTo>
                  <a:pt x="0" y="0"/>
                </a:moveTo>
                <a:lnTo>
                  <a:pt x="4887614" y="0"/>
                </a:lnTo>
                <a:lnTo>
                  <a:pt x="4887614" y="6670441"/>
                </a:lnTo>
                <a:lnTo>
                  <a:pt x="0" y="6670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578296" y="7167758"/>
            <a:ext cx="2709704" cy="1665339"/>
          </a:xfrm>
          <a:custGeom>
            <a:avLst/>
            <a:gdLst/>
            <a:ahLst/>
            <a:cxnLst/>
            <a:rect l="l" t="t" r="r" b="b"/>
            <a:pathLst>
              <a:path w="2709704" h="1665339">
                <a:moveTo>
                  <a:pt x="0" y="0"/>
                </a:moveTo>
                <a:lnTo>
                  <a:pt x="2709704" y="0"/>
                </a:lnTo>
                <a:lnTo>
                  <a:pt x="2709704" y="1665339"/>
                </a:lnTo>
                <a:lnTo>
                  <a:pt x="0" y="1665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381912"/>
            <a:ext cx="8801876" cy="1342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79"/>
              </a:lnSpc>
            </a:pPr>
            <a:r>
              <a:rPr lang="en-US" sz="7913" b="1" spc="332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I. MỞ ĐẦU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4536" y="1976560"/>
            <a:ext cx="12531473" cy="2794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7"/>
              </a:lnSpc>
            </a:pP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Trí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tuệ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nhân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(AI)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phát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triển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nhanh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được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ứng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dụng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rộng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rãi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trong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nhiều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lĩnh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vực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đặc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biệt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các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công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cụ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dựa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trên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học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sâu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xử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lý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ngôn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ngữ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tự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nhiên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đang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thay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đổi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cách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con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người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làm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việc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sáng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6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nội</a:t>
            </a:r>
            <a:r>
              <a:rPr lang="en-US" sz="396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dung.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6858" y="9619678"/>
            <a:ext cx="214169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2921" y="5306122"/>
            <a:ext cx="16700227" cy="4679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 dirty="0">
                <a:solidFill>
                  <a:srgbClr val="94DDD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·</a:t>
            </a:r>
            <a:r>
              <a:rPr lang="en-US" sz="3699" b="1" dirty="0" err="1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Báo</a:t>
            </a:r>
            <a:r>
              <a:rPr lang="en-US" sz="3699" b="1" dirty="0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3699" b="1" dirty="0" err="1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cáo</a:t>
            </a:r>
            <a:r>
              <a:rPr lang="en-US" sz="3699" b="1" dirty="0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3699" b="1" dirty="0" err="1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này</a:t>
            </a:r>
            <a:r>
              <a:rPr lang="en-US" sz="3699" b="1" dirty="0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3699" b="1" dirty="0" err="1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tập</a:t>
            </a:r>
            <a:r>
              <a:rPr lang="en-US" sz="3699" b="1" dirty="0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3699" b="1" dirty="0" err="1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trung</a:t>
            </a:r>
            <a:r>
              <a:rPr lang="en-US" sz="3699" b="1" dirty="0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3699" b="1" dirty="0" err="1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tìm</a:t>
            </a:r>
            <a:r>
              <a:rPr lang="en-US" sz="3699" b="1" dirty="0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3699" b="1" dirty="0" err="1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hiểu</a:t>
            </a:r>
            <a:r>
              <a:rPr lang="en-US" sz="3699" b="1" dirty="0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3699" b="1" dirty="0" err="1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ba</a:t>
            </a:r>
            <a:r>
              <a:rPr lang="en-US" sz="3699" b="1" dirty="0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3699" b="1" dirty="0" err="1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công</a:t>
            </a:r>
            <a:r>
              <a:rPr lang="en-US" sz="3699" b="1" dirty="0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3699" b="1" dirty="0" err="1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cụ</a:t>
            </a:r>
            <a:r>
              <a:rPr lang="en-US" sz="3699" b="1" dirty="0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AI </a:t>
            </a:r>
            <a:r>
              <a:rPr lang="en-US" sz="3699" b="1" dirty="0" err="1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tiêu</a:t>
            </a:r>
            <a:r>
              <a:rPr lang="en-US" sz="3699" b="1" dirty="0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3699" b="1" dirty="0" err="1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biểu</a:t>
            </a:r>
            <a:r>
              <a:rPr lang="en-US" sz="3699" b="1" dirty="0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:</a:t>
            </a:r>
          </a:p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      -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ChatGPT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– AI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trò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chuyện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xử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lý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ngôn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ngữ</a:t>
            </a:r>
            <a:endParaRPr lang="en-US" sz="369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      - Gamma – AI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hỗ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trợ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bài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trình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chiếu</a:t>
            </a:r>
            <a:endParaRPr lang="en-US" sz="369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      -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Suno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– AI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sáng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tác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âm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endParaRPr lang="en-US" sz="369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79"/>
              </a:lnSpc>
            </a:pP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=&gt;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Mục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tiêu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của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báo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cáo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là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giúp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người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đọc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hiểu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rõ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bản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chất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chức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năng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ứng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dụng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giá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trị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thực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tiễn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của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các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công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cụ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này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.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endParaRPr lang="en-US" sz="369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369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201106" y="3088702"/>
            <a:ext cx="5429328" cy="4886395"/>
          </a:xfrm>
          <a:custGeom>
            <a:avLst/>
            <a:gdLst/>
            <a:ahLst/>
            <a:cxnLst/>
            <a:rect l="l" t="t" r="r" b="b"/>
            <a:pathLst>
              <a:path w="5429328" h="4886395">
                <a:moveTo>
                  <a:pt x="5429328" y="0"/>
                </a:moveTo>
                <a:lnTo>
                  <a:pt x="0" y="0"/>
                </a:lnTo>
                <a:lnTo>
                  <a:pt x="0" y="4886395"/>
                </a:lnTo>
                <a:lnTo>
                  <a:pt x="5429328" y="4886395"/>
                </a:lnTo>
                <a:lnTo>
                  <a:pt x="54293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170470" y="1888367"/>
            <a:ext cx="13117530" cy="7210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6842" lvl="1" indent="-443421" algn="l">
              <a:lnSpc>
                <a:spcPts val="5750"/>
              </a:lnSpc>
              <a:buFont typeface="Arial"/>
              <a:buChar char="•"/>
            </a:pP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ChatGPT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là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một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mô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hình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trí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tuệ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nhân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dạng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chatbot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do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OpenAI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phát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triển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hoạt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động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dựa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trên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mô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hình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ngôn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ngữ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lớn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(Large Language Model – LLM).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Công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cụ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này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có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khả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năng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hiểu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ra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văn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bản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bằng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ngôn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ngữ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tự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nhiên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mô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phỏng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cách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giao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tiếp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của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con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người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.       </a:t>
            </a:r>
          </a:p>
          <a:p>
            <a:pPr algn="l">
              <a:lnSpc>
                <a:spcPts val="5750"/>
              </a:lnSpc>
            </a:pPr>
            <a:endParaRPr lang="en-US" sz="4107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886842" lvl="1" indent="-443421" algn="l">
              <a:lnSpc>
                <a:spcPts val="5750"/>
              </a:lnSpc>
              <a:buFont typeface="Arial"/>
              <a:buChar char="•"/>
            </a:pP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ChatGPT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được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huấn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luyện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từ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khối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lượng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dữ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liệu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văn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bản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khổng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lồ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bao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gồm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sách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bài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báo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website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các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hội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thoại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mẫu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giúp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nó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có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thể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trả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lời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nhiều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loại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câu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hỏi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khác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07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nhau</a:t>
            </a:r>
            <a:r>
              <a:rPr lang="en-US" sz="4107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111239" y="8892540"/>
            <a:ext cx="214169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141605"/>
            <a:ext cx="6477000" cy="936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22679" lvl="1" indent="-561340" algn="ctr">
              <a:lnSpc>
                <a:spcPts val="7279"/>
              </a:lnSpc>
              <a:buAutoNum type="arabicPeriod"/>
            </a:pPr>
            <a:r>
              <a:rPr lang="en-US" sz="5199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CHAT GPT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61679" y="1137020"/>
            <a:ext cx="4915321" cy="7566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1.1.Khái </a:t>
            </a:r>
            <a:r>
              <a:rPr lang="en-US" sz="4200" b="1" dirty="0" err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niệm</a:t>
            </a:r>
            <a:endParaRPr lang="en-US" sz="4200" b="1" dirty="0">
              <a:solidFill>
                <a:srgbClr val="FFFFFF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20609" y="7022076"/>
            <a:ext cx="4322217" cy="3874278"/>
          </a:xfrm>
          <a:custGeom>
            <a:avLst/>
            <a:gdLst/>
            <a:ahLst/>
            <a:cxnLst/>
            <a:rect l="l" t="t" r="r" b="b"/>
            <a:pathLst>
              <a:path w="4322217" h="3874278">
                <a:moveTo>
                  <a:pt x="0" y="0"/>
                </a:moveTo>
                <a:lnTo>
                  <a:pt x="4322216" y="0"/>
                </a:lnTo>
                <a:lnTo>
                  <a:pt x="4322216" y="3874278"/>
                </a:lnTo>
                <a:lnTo>
                  <a:pt x="0" y="38742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242178" y="1689296"/>
            <a:ext cx="6240011" cy="5332780"/>
          </a:xfrm>
          <a:custGeom>
            <a:avLst/>
            <a:gdLst/>
            <a:ahLst/>
            <a:cxnLst/>
            <a:rect l="l" t="t" r="r" b="b"/>
            <a:pathLst>
              <a:path w="6240011" h="5332780">
                <a:moveTo>
                  <a:pt x="0" y="0"/>
                </a:moveTo>
                <a:lnTo>
                  <a:pt x="6240011" y="0"/>
                </a:lnTo>
                <a:lnTo>
                  <a:pt x="6240011" y="5332780"/>
                </a:lnTo>
                <a:lnTo>
                  <a:pt x="0" y="53327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27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25393" y="380577"/>
            <a:ext cx="10981214" cy="648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3"/>
              </a:lnSpc>
            </a:pPr>
            <a:r>
              <a:rPr lang="en-US" sz="5013" b="1" spc="210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1.2. </a:t>
            </a:r>
            <a:r>
              <a:rPr lang="en-US" sz="5013" b="1" spc="210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Nguyên</a:t>
            </a:r>
            <a:r>
              <a:rPr lang="en-US" sz="5013" b="1" spc="210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5013" b="1" spc="210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lí</a:t>
            </a:r>
            <a:r>
              <a:rPr lang="en-US" sz="5013" b="1" spc="210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5013" b="1" spc="210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hoạt</a:t>
            </a:r>
            <a:r>
              <a:rPr lang="en-US" sz="5013" b="1" spc="210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5013" b="1" spc="210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động</a:t>
            </a:r>
            <a:endParaRPr lang="en-US" sz="5013" b="1" spc="210" dirty="0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8911590"/>
            <a:ext cx="214169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1589" y="1298088"/>
            <a:ext cx="11640589" cy="3916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823" lvl="1" indent="-399411" algn="l">
              <a:lnSpc>
                <a:spcPts val="5179"/>
              </a:lnSpc>
              <a:buFont typeface="Arial"/>
              <a:buChar char="•"/>
            </a:pP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ChatGPT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hoạt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động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dựa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trên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:</a:t>
            </a:r>
          </a:p>
          <a:p>
            <a:pPr algn="l">
              <a:lnSpc>
                <a:spcPts val="5179"/>
              </a:lnSpc>
            </a:pP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Mạng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nơ-ron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nhân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endParaRPr lang="en-US" sz="369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79"/>
              </a:lnSpc>
            </a:pP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Cơ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chế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Transformer</a:t>
            </a:r>
          </a:p>
          <a:p>
            <a:pPr algn="l">
              <a:lnSpc>
                <a:spcPts val="5179"/>
              </a:lnSpc>
            </a:pP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Dự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đoán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từ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tiếp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theo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dựa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trên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xác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suất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xuất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hiện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trong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ngữ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cảnh</a:t>
            </a:r>
            <a:endParaRPr lang="en-US" sz="369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79"/>
              </a:lnSpc>
            </a:pPr>
            <a:endParaRPr lang="en-US" sz="369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07400" y="4535160"/>
            <a:ext cx="11640589" cy="3304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3034" lvl="1" indent="-406517" algn="l">
              <a:lnSpc>
                <a:spcPts val="5272"/>
              </a:lnSpc>
              <a:buFont typeface="Arial"/>
              <a:buChar char="•"/>
            </a:pP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Khi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người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dùng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nhập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một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câu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hỏi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(prompt),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hệ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thống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sẽ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:</a:t>
            </a:r>
          </a:p>
          <a:p>
            <a:pPr algn="l">
              <a:lnSpc>
                <a:spcPts val="5272"/>
              </a:lnSpc>
              <a:spcBef>
                <a:spcPct val="0"/>
              </a:spcBef>
            </a:pP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Phân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tích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ngữ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cảnh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ý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định</a:t>
            </a:r>
            <a:endParaRPr lang="en-US" sz="3765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72"/>
              </a:lnSpc>
              <a:spcBef>
                <a:spcPct val="0"/>
              </a:spcBef>
            </a:pP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Dự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đoán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chuỗi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từ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phù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hợp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nhất</a:t>
            </a:r>
            <a:endParaRPr lang="en-US" sz="3765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72"/>
              </a:lnSpc>
              <a:spcBef>
                <a:spcPct val="0"/>
              </a:spcBef>
            </a:pP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câu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trả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lời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có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tính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logic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mạch</a:t>
            </a:r>
            <a:r>
              <a:rPr lang="en-US" sz="376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lạc</a:t>
            </a:r>
            <a:endParaRPr lang="en-US" sz="3765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94124" y="2289287"/>
            <a:ext cx="1550963" cy="2389438"/>
          </a:xfrm>
          <a:custGeom>
            <a:avLst/>
            <a:gdLst/>
            <a:ahLst/>
            <a:cxnLst/>
            <a:rect l="l" t="t" r="r" b="b"/>
            <a:pathLst>
              <a:path w="1550963" h="2389438">
                <a:moveTo>
                  <a:pt x="0" y="0"/>
                </a:moveTo>
                <a:lnTo>
                  <a:pt x="1550963" y="0"/>
                </a:lnTo>
                <a:lnTo>
                  <a:pt x="1550963" y="2389439"/>
                </a:lnTo>
                <a:lnTo>
                  <a:pt x="0" y="2389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5143500"/>
            <a:ext cx="6752112" cy="4954828"/>
          </a:xfrm>
          <a:custGeom>
            <a:avLst/>
            <a:gdLst/>
            <a:ahLst/>
            <a:cxnLst/>
            <a:rect l="l" t="t" r="r" b="b"/>
            <a:pathLst>
              <a:path w="6752112" h="4954828">
                <a:moveTo>
                  <a:pt x="0" y="0"/>
                </a:moveTo>
                <a:lnTo>
                  <a:pt x="6752112" y="0"/>
                </a:lnTo>
                <a:lnTo>
                  <a:pt x="6752112" y="4954828"/>
                </a:lnTo>
                <a:lnTo>
                  <a:pt x="0" y="4954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014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611142" y="1402279"/>
            <a:ext cx="9237029" cy="887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37"/>
              </a:lnSpc>
            </a:pPr>
            <a:r>
              <a:rPr lang="en-US" sz="6913" b="1" spc="290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1.3. </a:t>
            </a:r>
            <a:r>
              <a:rPr lang="en-US" sz="6913" b="1" spc="290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Chức</a:t>
            </a:r>
            <a:r>
              <a:rPr lang="en-US" sz="6913" b="1" spc="290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6913" b="1" spc="290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năng</a:t>
            </a:r>
            <a:r>
              <a:rPr lang="en-US" sz="6913" b="1" spc="290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6913" b="1" spc="290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chính</a:t>
            </a:r>
            <a:endParaRPr lang="en-US" sz="6913" b="1" spc="290" dirty="0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611142" y="2848913"/>
            <a:ext cx="10676858" cy="5054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81"/>
              </a:lnSpc>
            </a:pP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Trả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lời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câu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hỏi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kiến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thức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tổng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hợp</a:t>
            </a:r>
            <a:endParaRPr lang="en-US" sz="412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781"/>
              </a:lnSpc>
            </a:pP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Viết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bài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luận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báo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cáo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email,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kịch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bản</a:t>
            </a:r>
            <a:endParaRPr lang="en-US" sz="412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781"/>
              </a:lnSpc>
            </a:pP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Hỗ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trợ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lập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trình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(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viết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code,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sửa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lỗi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giải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thích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thuật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toán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)</a:t>
            </a:r>
          </a:p>
          <a:p>
            <a:pPr algn="l">
              <a:lnSpc>
                <a:spcPts val="5781"/>
              </a:lnSpc>
            </a:pP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Dịch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thuật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tóm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tắt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văn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bản</a:t>
            </a:r>
            <a:endParaRPr lang="en-US" sz="412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781"/>
              </a:lnSpc>
            </a:pP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Hỗ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trợ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học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tập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nghiên</a:t>
            </a:r>
            <a:r>
              <a:rPr lang="en-US" sz="412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12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cứu</a:t>
            </a:r>
            <a:endParaRPr lang="en-US" sz="412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781"/>
              </a:lnSpc>
            </a:pPr>
            <a:endParaRPr lang="en-US" sz="412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111239" y="8892540"/>
            <a:ext cx="214169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06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731814" y="5176053"/>
            <a:ext cx="5758626" cy="4114800"/>
          </a:xfrm>
          <a:custGeom>
            <a:avLst/>
            <a:gdLst/>
            <a:ahLst/>
            <a:cxnLst/>
            <a:rect l="l" t="t" r="r" b="b"/>
            <a:pathLst>
              <a:path w="5758626" h="4114800">
                <a:moveTo>
                  <a:pt x="0" y="0"/>
                </a:moveTo>
                <a:lnTo>
                  <a:pt x="5758626" y="0"/>
                </a:lnTo>
                <a:lnTo>
                  <a:pt x="57586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252508" y="1992097"/>
            <a:ext cx="4128848" cy="4873104"/>
          </a:xfrm>
          <a:custGeom>
            <a:avLst/>
            <a:gdLst/>
            <a:ahLst/>
            <a:cxnLst/>
            <a:rect l="l" t="t" r="r" b="b"/>
            <a:pathLst>
              <a:path w="4128848" h="4873104">
                <a:moveTo>
                  <a:pt x="0" y="0"/>
                </a:moveTo>
                <a:lnTo>
                  <a:pt x="4128848" y="0"/>
                </a:lnTo>
                <a:lnTo>
                  <a:pt x="4128848" y="4873104"/>
                </a:lnTo>
                <a:lnTo>
                  <a:pt x="0" y="4873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76184" y="1414758"/>
            <a:ext cx="10655631" cy="1767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81"/>
              </a:lnSpc>
            </a:pPr>
            <a:r>
              <a:rPr lang="en-US" sz="7063" b="1" spc="296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1.4. </a:t>
            </a:r>
            <a:r>
              <a:rPr lang="en-US" sz="7063" b="1" spc="296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Ứng</a:t>
            </a:r>
            <a:r>
              <a:rPr lang="en-US" sz="7063" b="1" spc="296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7063" b="1" spc="296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dụng</a:t>
            </a:r>
            <a:r>
              <a:rPr lang="en-US" sz="7063" b="1" spc="296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7063" b="1" spc="296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thực</a:t>
            </a:r>
            <a:r>
              <a:rPr lang="en-US" sz="7063" b="1" spc="296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7063" b="1" spc="296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tiễn</a:t>
            </a:r>
            <a:endParaRPr lang="en-US" sz="7063" b="1" spc="296" dirty="0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  <a:p>
            <a:pPr algn="l">
              <a:lnSpc>
                <a:spcPts val="6781"/>
              </a:lnSpc>
            </a:pPr>
            <a:endParaRPr lang="en-US" sz="7063" b="1" spc="296" dirty="0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8911590"/>
            <a:ext cx="214169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07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707373"/>
            <a:ext cx="10176324" cy="5516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Giáo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dục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: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hỗ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trợ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học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sinh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sinh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viên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học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tập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làm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bài</a:t>
            </a:r>
            <a:endParaRPr lang="en-US" sz="389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459"/>
              </a:lnSpc>
            </a:pP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Doanh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nghiệp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: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chăm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sóc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khách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hàng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viết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nội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dung marketing</a:t>
            </a:r>
          </a:p>
          <a:p>
            <a:pPr algn="l">
              <a:lnSpc>
                <a:spcPts val="5459"/>
              </a:lnSpc>
            </a:pP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Công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nghệ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thông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tin: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hỗ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trợ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lập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trình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viên</a:t>
            </a:r>
            <a:endParaRPr lang="en-US" sz="389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459"/>
              </a:lnSpc>
            </a:pP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Truyền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thông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–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sáng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: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viết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nội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dung, ý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tưởng</a:t>
            </a:r>
            <a:endParaRPr lang="en-US" sz="389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879"/>
              </a:lnSpc>
            </a:pPr>
            <a:endParaRPr lang="en-US" sz="389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30230" y="1418519"/>
            <a:ext cx="3053187" cy="4166881"/>
          </a:xfrm>
          <a:custGeom>
            <a:avLst/>
            <a:gdLst/>
            <a:ahLst/>
            <a:cxnLst/>
            <a:rect l="l" t="t" r="r" b="b"/>
            <a:pathLst>
              <a:path w="3053187" h="4166881">
                <a:moveTo>
                  <a:pt x="0" y="0"/>
                </a:moveTo>
                <a:lnTo>
                  <a:pt x="3053188" y="0"/>
                </a:lnTo>
                <a:lnTo>
                  <a:pt x="3053188" y="4166881"/>
                </a:lnTo>
                <a:lnTo>
                  <a:pt x="0" y="41668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531789" y="1255723"/>
            <a:ext cx="3860215" cy="3990824"/>
          </a:xfrm>
          <a:custGeom>
            <a:avLst/>
            <a:gdLst/>
            <a:ahLst/>
            <a:cxnLst/>
            <a:rect l="l" t="t" r="r" b="b"/>
            <a:pathLst>
              <a:path w="3860215" h="3990824">
                <a:moveTo>
                  <a:pt x="0" y="0"/>
                </a:moveTo>
                <a:lnTo>
                  <a:pt x="3860215" y="0"/>
                </a:lnTo>
                <a:lnTo>
                  <a:pt x="3860215" y="3990824"/>
                </a:lnTo>
                <a:lnTo>
                  <a:pt x="0" y="3990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30230" y="5823762"/>
            <a:ext cx="3718438" cy="6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2" lvl="1" indent="-410206" algn="l">
              <a:lnSpc>
                <a:spcPts val="5319"/>
              </a:lnSpc>
              <a:buFont typeface="Arial"/>
              <a:buChar char="•"/>
            </a:pPr>
            <a:r>
              <a:rPr lang="en-US" sz="3799" b="1" dirty="0" err="1">
                <a:solidFill>
                  <a:srgbClr val="1800AD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Ưu</a:t>
            </a:r>
            <a:r>
              <a:rPr lang="en-US" sz="3799" b="1" dirty="0">
                <a:solidFill>
                  <a:srgbClr val="1800AD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3799" b="1" dirty="0" err="1">
                <a:solidFill>
                  <a:srgbClr val="1800AD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điểm</a:t>
            </a:r>
            <a:endParaRPr lang="en-US" sz="3799" b="1" dirty="0">
              <a:solidFill>
                <a:srgbClr val="1800AD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6794971"/>
            <a:ext cx="8884887" cy="258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2"/>
              </a:lnSpc>
            </a:pPr>
            <a:r>
              <a:rPr lang="en-US" sz="374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74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Đa</a:t>
            </a:r>
            <a:r>
              <a:rPr lang="en-US" sz="374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4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năng</a:t>
            </a:r>
            <a:r>
              <a:rPr lang="en-US" sz="374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lang="en-US" sz="374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dễ</a:t>
            </a:r>
            <a:r>
              <a:rPr lang="en-US" sz="374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4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sử</a:t>
            </a:r>
            <a:r>
              <a:rPr lang="en-US" sz="374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4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dụng</a:t>
            </a:r>
            <a:endParaRPr lang="en-US" sz="3744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42"/>
              </a:lnSpc>
            </a:pPr>
            <a:r>
              <a:rPr lang="en-US" sz="374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74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Phản</a:t>
            </a:r>
            <a:r>
              <a:rPr lang="en-US" sz="374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4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hồi</a:t>
            </a:r>
            <a:r>
              <a:rPr lang="en-US" sz="374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4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nhanh</a:t>
            </a:r>
            <a:endParaRPr lang="en-US" sz="3744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42"/>
              </a:lnSpc>
            </a:pPr>
            <a:r>
              <a:rPr lang="en-US" sz="374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74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Tiết</a:t>
            </a:r>
            <a:r>
              <a:rPr lang="en-US" sz="374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4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kiệm</a:t>
            </a:r>
            <a:r>
              <a:rPr lang="en-US" sz="374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4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thời</a:t>
            </a:r>
            <a:r>
              <a:rPr lang="en-US" sz="374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4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gian</a:t>
            </a:r>
            <a:r>
              <a:rPr lang="en-US" sz="374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4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lang="en-US" sz="374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chi </a:t>
            </a:r>
            <a:r>
              <a:rPr lang="en-US" sz="374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phí</a:t>
            </a:r>
            <a:endParaRPr lang="en-US" sz="3744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42"/>
              </a:lnSpc>
            </a:pPr>
            <a:endParaRPr lang="en-US" sz="3744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849846" y="5456097"/>
            <a:ext cx="4845031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6770" lvl="1" indent="-453385" algn="l">
              <a:lnSpc>
                <a:spcPts val="5879"/>
              </a:lnSpc>
              <a:buFont typeface="Arial"/>
              <a:buChar char="•"/>
            </a:pPr>
            <a:r>
              <a:rPr lang="en-US" sz="4199" b="1" dirty="0" err="1">
                <a:gradFill>
                  <a:gsLst>
                    <a:gs pos="0">
                      <a:srgbClr val="89D957">
                        <a:alpha val="100000"/>
                      </a:srgbClr>
                    </a:gs>
                    <a:gs pos="100000">
                      <a:srgbClr val="C9E265">
                        <a:alpha val="100000"/>
                      </a:srgbClr>
                    </a:gs>
                  </a:gsLst>
                  <a:lin ang="0"/>
                </a:gradFill>
                <a:latin typeface="TT Commons Pro Bold"/>
                <a:ea typeface="TT Commons Pro Bold"/>
                <a:cs typeface="TT Commons Pro Bold"/>
                <a:sym typeface="TT Commons Pro Bold"/>
              </a:rPr>
              <a:t>Hạn</a:t>
            </a:r>
            <a:r>
              <a:rPr lang="en-US" sz="4199" b="1" dirty="0">
                <a:gradFill>
                  <a:gsLst>
                    <a:gs pos="0">
                      <a:srgbClr val="89D957">
                        <a:alpha val="100000"/>
                      </a:srgbClr>
                    </a:gs>
                    <a:gs pos="100000">
                      <a:srgbClr val="C9E265">
                        <a:alpha val="100000"/>
                      </a:srgbClr>
                    </a:gs>
                  </a:gsLst>
                  <a:lin ang="0"/>
                </a:gra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4199" b="1" dirty="0" err="1">
                <a:gradFill>
                  <a:gsLst>
                    <a:gs pos="0">
                      <a:srgbClr val="89D957">
                        <a:alpha val="100000"/>
                      </a:srgbClr>
                    </a:gs>
                    <a:gs pos="100000">
                      <a:srgbClr val="C9E265">
                        <a:alpha val="100000"/>
                      </a:srgbClr>
                    </a:gs>
                  </a:gsLst>
                  <a:lin ang="0"/>
                </a:gradFill>
                <a:latin typeface="TT Commons Pro Bold"/>
                <a:ea typeface="TT Commons Pro Bold"/>
                <a:cs typeface="TT Commons Pro Bold"/>
                <a:sym typeface="TT Commons Pro Bold"/>
              </a:rPr>
              <a:t>chế</a:t>
            </a:r>
            <a:endParaRPr lang="en-US" sz="4199" b="1" dirty="0">
              <a:gradFill>
                <a:gsLst>
                  <a:gs pos="0">
                    <a:srgbClr val="89D957">
                      <a:alpha val="100000"/>
                    </a:srgbClr>
                  </a:gs>
                  <a:gs pos="100000">
                    <a:srgbClr val="C9E265">
                      <a:alpha val="100000"/>
                    </a:srgbClr>
                  </a:gs>
                </a:gsLst>
                <a:lin ang="0"/>
              </a:gra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983805" y="6413043"/>
            <a:ext cx="8956182" cy="3109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Có</a:t>
            </a: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thể</a:t>
            </a: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cung</a:t>
            </a: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cấp</a:t>
            </a: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thông</a:t>
            </a: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tin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chưa</a:t>
            </a: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chính</a:t>
            </a: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xác</a:t>
            </a: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nếu</a:t>
            </a: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prompt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không</a:t>
            </a: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rõ</a:t>
            </a:r>
            <a:endParaRPr lang="en-US" sz="3600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040"/>
              </a:lnSpc>
            </a:pP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Không</a:t>
            </a: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thay</a:t>
            </a: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thế</a:t>
            </a: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hoàn</a:t>
            </a: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toàn</a:t>
            </a: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tư</a:t>
            </a: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duy</a:t>
            </a: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con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người</a:t>
            </a:r>
            <a:endParaRPr lang="en-US" sz="3600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040"/>
              </a:lnSpc>
            </a:pP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Phụ</a:t>
            </a: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thuộc</a:t>
            </a: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vào</a:t>
            </a: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dữ</a:t>
            </a: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liệu</a:t>
            </a: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đã</a:t>
            </a: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được</a:t>
            </a: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huấn</a:t>
            </a:r>
            <a:r>
              <a:rPr lang="en-US" sz="360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luyện</a:t>
            </a:r>
            <a:endParaRPr lang="en-US" sz="3600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040"/>
              </a:lnSpc>
            </a:pPr>
            <a:endParaRPr lang="en-US" sz="3600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828741" y="9689765"/>
            <a:ext cx="214169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08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325235" y="430458"/>
            <a:ext cx="8926258" cy="920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5399" b="1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1.5. </a:t>
            </a:r>
            <a:r>
              <a:rPr lang="en-US" sz="5399" b="1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Ưu</a:t>
            </a:r>
            <a:r>
              <a:rPr lang="en-US" sz="5399" b="1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5399" b="1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điểm</a:t>
            </a:r>
            <a:r>
              <a:rPr lang="en-US" sz="5399" b="1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5399" b="1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và</a:t>
            </a:r>
            <a:r>
              <a:rPr lang="en-US" sz="5399" b="1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5399" b="1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hạn</a:t>
            </a:r>
            <a:r>
              <a:rPr lang="en-US" sz="5399" b="1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5399" b="1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chế</a:t>
            </a:r>
            <a:endParaRPr lang="en-US" sz="5399" b="1" dirty="0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87044" y="5265479"/>
            <a:ext cx="6269355" cy="3852804"/>
          </a:xfrm>
          <a:custGeom>
            <a:avLst/>
            <a:gdLst/>
            <a:ahLst/>
            <a:cxnLst/>
            <a:rect l="l" t="t" r="r" b="b"/>
            <a:pathLst>
              <a:path w="6269355" h="3852804">
                <a:moveTo>
                  <a:pt x="0" y="0"/>
                </a:moveTo>
                <a:lnTo>
                  <a:pt x="6269355" y="0"/>
                </a:lnTo>
                <a:lnTo>
                  <a:pt x="6269355" y="3852803"/>
                </a:lnTo>
                <a:lnTo>
                  <a:pt x="0" y="3852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705392" y="2115446"/>
            <a:ext cx="4582608" cy="4114800"/>
          </a:xfrm>
          <a:custGeom>
            <a:avLst/>
            <a:gdLst/>
            <a:ahLst/>
            <a:cxnLst/>
            <a:rect l="l" t="t" r="r" b="b"/>
            <a:pathLst>
              <a:path w="4582608" h="4114800">
                <a:moveTo>
                  <a:pt x="0" y="0"/>
                </a:moveTo>
                <a:lnTo>
                  <a:pt x="4582608" y="0"/>
                </a:lnTo>
                <a:lnTo>
                  <a:pt x="458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911590"/>
            <a:ext cx="214169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09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6567" y="652062"/>
            <a:ext cx="9444182" cy="924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25"/>
              </a:lnSpc>
            </a:pPr>
            <a:r>
              <a:rPr lang="en-US" sz="7213" b="1" spc="302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2.GAMMAR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911590"/>
            <a:ext cx="214169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07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2732" y="2951604"/>
            <a:ext cx="11814312" cy="4781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3"/>
              </a:lnSpc>
            </a:pP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    Gamma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là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một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nền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tảng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AI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hỗ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trợ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bài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trình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chiếu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(presentation)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tự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động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.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Công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cụ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này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cho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phép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người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dùng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nhập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chủ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đề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hoặc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nội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dung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ngắn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sau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đó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AI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sẽ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tự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động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xây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dựng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bố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cục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nội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dung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thiết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kế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slide.</a:t>
            </a:r>
          </a:p>
          <a:p>
            <a:pPr algn="l">
              <a:lnSpc>
                <a:spcPts val="5503"/>
              </a:lnSpc>
            </a:pP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Gamma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được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xem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là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giải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pháp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thay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thế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hiện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đại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cho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PowerPoint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truyền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931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thống</a:t>
            </a:r>
            <a:r>
              <a:rPr lang="en-US" sz="3931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.</a:t>
            </a:r>
          </a:p>
          <a:p>
            <a:pPr algn="l">
              <a:lnSpc>
                <a:spcPts val="5503"/>
              </a:lnSpc>
            </a:pPr>
            <a:endParaRPr lang="en-US" sz="3931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72732" y="2048771"/>
            <a:ext cx="3823068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2.1. </a:t>
            </a:r>
            <a:r>
              <a:rPr lang="en-US" sz="3699" b="1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Khái</a:t>
            </a:r>
            <a:r>
              <a:rPr lang="en-US" sz="3699" b="1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3699" b="1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niệm</a:t>
            </a:r>
            <a:endParaRPr lang="en-US" sz="3699" b="1" dirty="0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9827" y="647319"/>
            <a:ext cx="10814499" cy="1257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5"/>
              </a:lnSpc>
            </a:pPr>
            <a:r>
              <a:rPr lang="en-US" sz="5005" b="1" spc="210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2.2. </a:t>
            </a:r>
            <a:r>
              <a:rPr lang="en-US" sz="5005" b="1" spc="210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Nguyên</a:t>
            </a:r>
            <a:r>
              <a:rPr lang="en-US" sz="5005" b="1" spc="210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5005" b="1" spc="210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lý</a:t>
            </a:r>
            <a:r>
              <a:rPr lang="en-US" sz="5005" b="1" spc="210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5005" b="1" spc="210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hoạt</a:t>
            </a:r>
            <a:r>
              <a:rPr lang="en-US" sz="5005" b="1" spc="210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5005" b="1" spc="210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động</a:t>
            </a:r>
            <a:endParaRPr lang="en-US" sz="5005" b="1" spc="210" dirty="0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  <a:p>
            <a:pPr algn="l">
              <a:lnSpc>
                <a:spcPts val="4805"/>
              </a:lnSpc>
            </a:pPr>
            <a:endParaRPr lang="en-US" sz="5005" b="1" spc="210" dirty="0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875375" y="1931859"/>
            <a:ext cx="12412625" cy="6535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0094" lvl="1" indent="-400047" algn="l">
              <a:lnSpc>
                <a:spcPts val="5188"/>
              </a:lnSpc>
              <a:buFont typeface="Arial"/>
              <a:buChar char="•"/>
            </a:pP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Gamma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sử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dụng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:</a:t>
            </a:r>
          </a:p>
          <a:p>
            <a:pPr algn="l">
              <a:lnSpc>
                <a:spcPts val="5188"/>
              </a:lnSpc>
            </a:pP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AI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nội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dung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văn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bản</a:t>
            </a:r>
            <a:endParaRPr lang="en-US" sz="3705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88"/>
              </a:lnSpc>
            </a:pP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Thuật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toán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thiết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kế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bố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cục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tự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động</a:t>
            </a:r>
            <a:endParaRPr lang="en-US" sz="3705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88"/>
              </a:lnSpc>
            </a:pP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Tích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hợp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nhiều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mô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hình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AI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để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tối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ưu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hình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ảnh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màu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sắc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cấu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trúc</a:t>
            </a:r>
            <a:endParaRPr lang="en-US" sz="3705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800094" lvl="1" indent="-400047" algn="l">
              <a:lnSpc>
                <a:spcPts val="5188"/>
              </a:lnSpc>
              <a:buFont typeface="Arial"/>
              <a:buChar char="•"/>
            </a:pP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·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Người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dùng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chỉ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cần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cung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cấp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:</a:t>
            </a:r>
          </a:p>
          <a:p>
            <a:pPr algn="l">
              <a:lnSpc>
                <a:spcPts val="5188"/>
              </a:lnSpc>
            </a:pP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Chủ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đề</a:t>
            </a:r>
            <a:endParaRPr lang="en-US" sz="3705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88"/>
              </a:lnSpc>
            </a:pP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Mục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tiêu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bài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trình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bày</a:t>
            </a:r>
            <a:endParaRPr lang="en-US" sz="3705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88"/>
              </a:lnSpc>
            </a:pP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Đối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tượng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người</a:t>
            </a:r>
            <a:r>
              <a:rPr lang="en-US" sz="3705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05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nghe</a:t>
            </a:r>
            <a:endParaRPr lang="en-US" sz="3705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88"/>
              </a:lnSpc>
            </a:pPr>
            <a:endParaRPr lang="en-US" sz="3705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5111239" y="8892540"/>
            <a:ext cx="214169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10</a:t>
            </a:r>
          </a:p>
        </p:txBody>
      </p:sp>
      <p:sp>
        <p:nvSpPr>
          <p:cNvPr id="5" name="Freeform 5"/>
          <p:cNvSpPr/>
          <p:nvPr/>
        </p:nvSpPr>
        <p:spPr>
          <a:xfrm>
            <a:off x="191061" y="1989009"/>
            <a:ext cx="4499882" cy="6141279"/>
          </a:xfrm>
          <a:custGeom>
            <a:avLst/>
            <a:gdLst/>
            <a:ahLst/>
            <a:cxnLst/>
            <a:rect l="l" t="t" r="r" b="b"/>
            <a:pathLst>
              <a:path w="4499882" h="6141279">
                <a:moveTo>
                  <a:pt x="0" y="0"/>
                </a:moveTo>
                <a:lnTo>
                  <a:pt x="4499883" y="0"/>
                </a:lnTo>
                <a:lnTo>
                  <a:pt x="4499883" y="6141279"/>
                </a:lnTo>
                <a:lnTo>
                  <a:pt x="0" y="6141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129686" y="7849972"/>
            <a:ext cx="2321937" cy="1427024"/>
          </a:xfrm>
          <a:custGeom>
            <a:avLst/>
            <a:gdLst/>
            <a:ahLst/>
            <a:cxnLst/>
            <a:rect l="l" t="t" r="r" b="b"/>
            <a:pathLst>
              <a:path w="2321937" h="1427024">
                <a:moveTo>
                  <a:pt x="0" y="0"/>
                </a:moveTo>
                <a:lnTo>
                  <a:pt x="2321938" y="0"/>
                </a:lnTo>
                <a:lnTo>
                  <a:pt x="2321938" y="1427024"/>
                </a:lnTo>
                <a:lnTo>
                  <a:pt x="0" y="142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99584" y="5921861"/>
            <a:ext cx="4159716" cy="3336439"/>
          </a:xfrm>
          <a:custGeom>
            <a:avLst/>
            <a:gdLst/>
            <a:ahLst/>
            <a:cxnLst/>
            <a:rect l="l" t="t" r="r" b="b"/>
            <a:pathLst>
              <a:path w="4159716" h="3336439">
                <a:moveTo>
                  <a:pt x="0" y="0"/>
                </a:moveTo>
                <a:lnTo>
                  <a:pt x="4159716" y="0"/>
                </a:lnTo>
                <a:lnTo>
                  <a:pt x="4159716" y="3336439"/>
                </a:lnTo>
                <a:lnTo>
                  <a:pt x="0" y="333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8911590"/>
            <a:ext cx="214169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10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69051" y="1429870"/>
            <a:ext cx="10948120" cy="652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5"/>
              </a:lnSpc>
            </a:pPr>
            <a:r>
              <a:rPr lang="en-US" sz="5662" b="1" spc="237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2.3. </a:t>
            </a:r>
            <a:r>
              <a:rPr lang="en-US" sz="5662" b="1" spc="237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Chức</a:t>
            </a:r>
            <a:r>
              <a:rPr lang="en-US" sz="5662" b="1" spc="237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5662" b="1" spc="237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năng</a:t>
            </a:r>
            <a:r>
              <a:rPr lang="en-US" sz="5662" b="1" spc="237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5662" b="1" spc="237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chính</a:t>
            </a:r>
            <a:endParaRPr lang="en-US" sz="5662" b="1" spc="237" dirty="0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  <a:p>
            <a:pPr algn="l">
              <a:lnSpc>
                <a:spcPts val="72"/>
              </a:lnSpc>
            </a:pPr>
            <a:endParaRPr lang="en-US" sz="5662" b="1" spc="237" dirty="0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93422" y="3235597"/>
            <a:ext cx="11013866" cy="3403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366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66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lang="en-US" sz="366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slide </a:t>
            </a:r>
            <a:r>
              <a:rPr lang="en-US" sz="366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tự</a:t>
            </a:r>
            <a:r>
              <a:rPr lang="en-US" sz="366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6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động</a:t>
            </a:r>
            <a:r>
              <a:rPr lang="en-US" sz="366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6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từ</a:t>
            </a:r>
            <a:r>
              <a:rPr lang="en-US" sz="366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6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văn</a:t>
            </a:r>
            <a:r>
              <a:rPr lang="en-US" sz="366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6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bản</a:t>
            </a:r>
            <a:endParaRPr lang="en-US" sz="3664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30"/>
              </a:lnSpc>
            </a:pPr>
            <a:r>
              <a:rPr lang="en-US" sz="366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66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Thiết</a:t>
            </a:r>
            <a:r>
              <a:rPr lang="en-US" sz="366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6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kế</a:t>
            </a:r>
            <a:r>
              <a:rPr lang="en-US" sz="366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6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bố</a:t>
            </a:r>
            <a:r>
              <a:rPr lang="en-US" sz="366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6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cục</a:t>
            </a:r>
            <a:r>
              <a:rPr lang="en-US" sz="366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6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chuyên</a:t>
            </a:r>
            <a:r>
              <a:rPr lang="en-US" sz="366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6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nghiệp</a:t>
            </a:r>
            <a:endParaRPr lang="en-US" sz="3664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30"/>
              </a:lnSpc>
            </a:pPr>
            <a:r>
              <a:rPr lang="en-US" sz="366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66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Chỉnh</a:t>
            </a:r>
            <a:r>
              <a:rPr lang="en-US" sz="366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6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sửa</a:t>
            </a:r>
            <a:r>
              <a:rPr lang="en-US" sz="366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6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nội</a:t>
            </a:r>
            <a:r>
              <a:rPr lang="en-US" sz="366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dung </a:t>
            </a:r>
            <a:r>
              <a:rPr lang="en-US" sz="366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trực</a:t>
            </a:r>
            <a:r>
              <a:rPr lang="en-US" sz="366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6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tiếp</a:t>
            </a:r>
            <a:r>
              <a:rPr lang="en-US" sz="366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6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trên</a:t>
            </a:r>
            <a:r>
              <a:rPr lang="en-US" sz="366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6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nền</a:t>
            </a:r>
            <a:r>
              <a:rPr lang="en-US" sz="366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6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tảng</a:t>
            </a:r>
            <a:endParaRPr lang="en-US" sz="3664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30"/>
              </a:lnSpc>
            </a:pPr>
            <a:r>
              <a:rPr lang="en-US" sz="366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66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Xuất</a:t>
            </a:r>
            <a:r>
              <a:rPr lang="en-US" sz="366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file PDF </a:t>
            </a:r>
            <a:r>
              <a:rPr lang="en-US" sz="366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hoặc</a:t>
            </a:r>
            <a:r>
              <a:rPr lang="en-US" sz="366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PowerPoint</a:t>
            </a:r>
          </a:p>
          <a:p>
            <a:pPr algn="l">
              <a:lnSpc>
                <a:spcPts val="7054"/>
              </a:lnSpc>
            </a:pPr>
            <a:endParaRPr lang="en-US" sz="3664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6" name="Freeform 6"/>
          <p:cNvSpPr/>
          <p:nvPr/>
        </p:nvSpPr>
        <p:spPr>
          <a:xfrm flipH="1">
            <a:off x="10294153" y="1902359"/>
            <a:ext cx="5221849" cy="5449748"/>
          </a:xfrm>
          <a:custGeom>
            <a:avLst/>
            <a:gdLst/>
            <a:ahLst/>
            <a:cxnLst/>
            <a:rect l="l" t="t" r="r" b="b"/>
            <a:pathLst>
              <a:path w="5221849" h="5449748">
                <a:moveTo>
                  <a:pt x="5221849" y="0"/>
                </a:moveTo>
                <a:lnTo>
                  <a:pt x="0" y="0"/>
                </a:lnTo>
                <a:lnTo>
                  <a:pt x="0" y="5449748"/>
                </a:lnTo>
                <a:lnTo>
                  <a:pt x="5221849" y="5449748"/>
                </a:lnTo>
                <a:lnTo>
                  <a:pt x="52218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17048" y="1171575"/>
            <a:ext cx="11317433" cy="751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7"/>
              </a:lnSpc>
            </a:pPr>
            <a:r>
              <a:rPr lang="en-US" sz="5913" b="1" spc="248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2.4. </a:t>
            </a:r>
            <a:r>
              <a:rPr lang="en-US" sz="5913" b="1" spc="248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Ứng</a:t>
            </a:r>
            <a:r>
              <a:rPr lang="en-US" sz="5913" b="1" spc="248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5913" b="1" spc="248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dụng</a:t>
            </a:r>
            <a:r>
              <a:rPr lang="en-US" sz="5913" b="1" spc="248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5913" b="1" spc="248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thực</a:t>
            </a:r>
            <a:r>
              <a:rPr lang="en-US" sz="5913" b="1" spc="248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5913" b="1" spc="248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tiễn</a:t>
            </a:r>
            <a:endParaRPr lang="en-US" sz="5913" b="1" spc="248" dirty="0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817141" y="2851939"/>
            <a:ext cx="11311128" cy="3911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64"/>
              </a:lnSpc>
            </a:pPr>
            <a:r>
              <a:rPr lang="en-US" sz="376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76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Giảng</a:t>
            </a:r>
            <a:r>
              <a:rPr lang="en-US" sz="376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dạy</a:t>
            </a:r>
            <a:r>
              <a:rPr lang="en-US" sz="376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: </a:t>
            </a:r>
            <a:r>
              <a:rPr lang="en-US" sz="376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lang="en-US" sz="376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bài</a:t>
            </a:r>
            <a:r>
              <a:rPr lang="en-US" sz="376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giảng</a:t>
            </a:r>
            <a:r>
              <a:rPr lang="en-US" sz="376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nhanh</a:t>
            </a:r>
            <a:endParaRPr lang="en-US" sz="3760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64"/>
              </a:lnSpc>
            </a:pPr>
            <a:r>
              <a:rPr lang="en-US" sz="376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76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Doanh</a:t>
            </a:r>
            <a:r>
              <a:rPr lang="en-US" sz="376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nghiệp</a:t>
            </a:r>
            <a:r>
              <a:rPr lang="en-US" sz="376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: </a:t>
            </a:r>
            <a:r>
              <a:rPr lang="en-US" sz="376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báo</a:t>
            </a:r>
            <a:r>
              <a:rPr lang="en-US" sz="376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cáo</a:t>
            </a:r>
            <a:r>
              <a:rPr lang="en-US" sz="376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lang="en-US" sz="376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thuyết</a:t>
            </a:r>
            <a:r>
              <a:rPr lang="en-US" sz="376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trình</a:t>
            </a:r>
            <a:r>
              <a:rPr lang="en-US" sz="376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dự</a:t>
            </a:r>
            <a:r>
              <a:rPr lang="en-US" sz="376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án</a:t>
            </a:r>
            <a:endParaRPr lang="en-US" sz="3760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64"/>
              </a:lnSpc>
            </a:pPr>
            <a:r>
              <a:rPr lang="en-US" sz="376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Marketing: pitch deck, proposal</a:t>
            </a:r>
          </a:p>
          <a:p>
            <a:pPr algn="l">
              <a:lnSpc>
                <a:spcPts val="5264"/>
              </a:lnSpc>
            </a:pPr>
            <a:r>
              <a:rPr lang="en-US" sz="376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76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Sinh</a:t>
            </a:r>
            <a:r>
              <a:rPr lang="en-US" sz="376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viên</a:t>
            </a:r>
            <a:r>
              <a:rPr lang="en-US" sz="376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: </a:t>
            </a:r>
            <a:r>
              <a:rPr lang="en-US" sz="376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làm</a:t>
            </a:r>
            <a:r>
              <a:rPr lang="en-US" sz="376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bài</a:t>
            </a:r>
            <a:r>
              <a:rPr lang="en-US" sz="376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thuyết</a:t>
            </a:r>
            <a:r>
              <a:rPr lang="en-US" sz="376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trình</a:t>
            </a:r>
            <a:r>
              <a:rPr lang="en-US" sz="376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học</a:t>
            </a:r>
            <a:r>
              <a:rPr lang="en-US" sz="3760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60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phần</a:t>
            </a:r>
            <a:endParaRPr lang="en-US" sz="3760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64"/>
              </a:lnSpc>
            </a:pPr>
            <a:endParaRPr lang="en-US" sz="3760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64"/>
              </a:lnSpc>
            </a:pPr>
            <a:endParaRPr lang="en-US" sz="3760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5111239" y="8892540"/>
            <a:ext cx="214169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12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640191" y="2480910"/>
            <a:ext cx="7176950" cy="6459255"/>
          </a:xfrm>
          <a:custGeom>
            <a:avLst/>
            <a:gdLst/>
            <a:ahLst/>
            <a:cxnLst/>
            <a:rect l="l" t="t" r="r" b="b"/>
            <a:pathLst>
              <a:path w="7176950" h="6459255">
                <a:moveTo>
                  <a:pt x="7176950" y="0"/>
                </a:moveTo>
                <a:lnTo>
                  <a:pt x="0" y="0"/>
                </a:lnTo>
                <a:lnTo>
                  <a:pt x="0" y="6459255"/>
                </a:lnTo>
                <a:lnTo>
                  <a:pt x="7176950" y="6459255"/>
                </a:lnTo>
                <a:lnTo>
                  <a:pt x="717695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911590"/>
            <a:ext cx="214169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13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39518" y="467307"/>
            <a:ext cx="9644842" cy="2007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30"/>
              </a:lnSpc>
            </a:pPr>
            <a:r>
              <a:rPr lang="en-US" sz="5950" b="1" spc="249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2.5. </a:t>
            </a:r>
            <a:r>
              <a:rPr lang="en-US" sz="5950" b="1" spc="249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Ưu</a:t>
            </a:r>
            <a:r>
              <a:rPr lang="en-US" sz="5950" b="1" spc="249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5950" b="1" spc="249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điểm</a:t>
            </a:r>
            <a:r>
              <a:rPr lang="en-US" sz="5950" b="1" spc="249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5950" b="1" spc="249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và</a:t>
            </a:r>
            <a:r>
              <a:rPr lang="en-US" sz="5950" b="1" spc="249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5950" b="1" spc="249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hạn</a:t>
            </a:r>
            <a:r>
              <a:rPr lang="en-US" sz="5950" b="1" spc="249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5950" b="1" spc="249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chế</a:t>
            </a:r>
            <a:endParaRPr lang="en-US" sz="5950" b="1" spc="249" dirty="0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  <a:p>
            <a:pPr algn="l">
              <a:lnSpc>
                <a:spcPts val="7765"/>
              </a:lnSpc>
            </a:pPr>
            <a:endParaRPr lang="en-US" sz="5950" b="1" spc="249" dirty="0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89034" y="2025179"/>
            <a:ext cx="11284335" cy="5305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0634" lvl="1" indent="-405317" algn="l">
              <a:lnSpc>
                <a:spcPts val="5256"/>
              </a:lnSpc>
              <a:buFont typeface="Arial"/>
              <a:buChar char="•"/>
            </a:pP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Ưu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điểm</a:t>
            </a:r>
            <a:endParaRPr lang="en-US" sz="3754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56"/>
              </a:lnSpc>
            </a:pP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Tiết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kiệm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thời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gian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thiết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kế</a:t>
            </a:r>
            <a:endParaRPr lang="en-US" sz="3754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56"/>
              </a:lnSpc>
            </a:pP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Giao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diện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hiện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đại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trực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quan</a:t>
            </a:r>
            <a:endParaRPr lang="en-US" sz="3754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56"/>
              </a:lnSpc>
            </a:pP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Phù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hợp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với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người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không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chuyên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thiết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kế</a:t>
            </a:r>
            <a:endParaRPr lang="en-US" sz="3754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810634" lvl="1" indent="-405317" algn="l">
              <a:lnSpc>
                <a:spcPts val="5256"/>
              </a:lnSpc>
              <a:buFont typeface="Arial"/>
              <a:buChar char="•"/>
            </a:pP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Hạn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chế</a:t>
            </a:r>
            <a:endParaRPr lang="en-US" sz="3754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56"/>
              </a:lnSpc>
            </a:pP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Ít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tùy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chỉnh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chi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tiết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so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với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PowerPoint</a:t>
            </a:r>
          </a:p>
          <a:p>
            <a:pPr algn="l">
              <a:lnSpc>
                <a:spcPts val="5256"/>
              </a:lnSpc>
            </a:pP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Một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số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tính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năng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nâng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cao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yêu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cầu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trả</a:t>
            </a:r>
            <a:r>
              <a:rPr lang="en-US" sz="3754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54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phí</a:t>
            </a:r>
            <a:endParaRPr lang="en-US" sz="3754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56"/>
              </a:lnSpc>
            </a:pPr>
            <a:endParaRPr lang="en-US" sz="3754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0503435" y="1962933"/>
            <a:ext cx="5678652" cy="5877000"/>
          </a:xfrm>
          <a:custGeom>
            <a:avLst/>
            <a:gdLst/>
            <a:ahLst/>
            <a:cxnLst/>
            <a:rect l="l" t="t" r="r" b="b"/>
            <a:pathLst>
              <a:path w="5678652" h="5877000">
                <a:moveTo>
                  <a:pt x="0" y="0"/>
                </a:moveTo>
                <a:lnTo>
                  <a:pt x="5678651" y="0"/>
                </a:lnTo>
                <a:lnTo>
                  <a:pt x="5678651" y="5877001"/>
                </a:lnTo>
                <a:lnTo>
                  <a:pt x="0" y="587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525954" y="5304625"/>
            <a:ext cx="4322217" cy="3874278"/>
          </a:xfrm>
          <a:custGeom>
            <a:avLst/>
            <a:gdLst/>
            <a:ahLst/>
            <a:cxnLst/>
            <a:rect l="l" t="t" r="r" b="b"/>
            <a:pathLst>
              <a:path w="4322217" h="3874278">
                <a:moveTo>
                  <a:pt x="0" y="0"/>
                </a:moveTo>
                <a:lnTo>
                  <a:pt x="4322216" y="0"/>
                </a:lnTo>
                <a:lnTo>
                  <a:pt x="4322216" y="3874278"/>
                </a:lnTo>
                <a:lnTo>
                  <a:pt x="0" y="38742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2799" y="228600"/>
            <a:ext cx="8497653" cy="2600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8000" b="1" spc="433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3. </a:t>
            </a:r>
            <a:r>
              <a:rPr lang="en-US" sz="8000" b="1" spc="433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Suno</a:t>
            </a:r>
            <a:endParaRPr lang="en-US" sz="8000" b="1" spc="433" dirty="0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  <a:p>
            <a:pPr algn="l">
              <a:lnSpc>
                <a:spcPts val="9900"/>
              </a:lnSpc>
            </a:pPr>
            <a:endParaRPr lang="en-US" sz="10313" b="1" spc="433" dirty="0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5111239" y="8892540"/>
            <a:ext cx="214169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14</a:t>
            </a:r>
          </a:p>
        </p:txBody>
      </p:sp>
      <p:sp>
        <p:nvSpPr>
          <p:cNvPr id="4" name="Freeform 4"/>
          <p:cNvSpPr/>
          <p:nvPr/>
        </p:nvSpPr>
        <p:spPr>
          <a:xfrm>
            <a:off x="672799" y="3900675"/>
            <a:ext cx="5328083" cy="6288510"/>
          </a:xfrm>
          <a:custGeom>
            <a:avLst/>
            <a:gdLst/>
            <a:ahLst/>
            <a:cxnLst/>
            <a:rect l="l" t="t" r="r" b="b"/>
            <a:pathLst>
              <a:path w="5328083" h="6288510">
                <a:moveTo>
                  <a:pt x="0" y="0"/>
                </a:moveTo>
                <a:lnTo>
                  <a:pt x="5328083" y="0"/>
                </a:lnTo>
                <a:lnTo>
                  <a:pt x="5328083" y="6288509"/>
                </a:lnTo>
                <a:lnTo>
                  <a:pt x="0" y="6288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2519994"/>
            <a:ext cx="3842206" cy="2403125"/>
          </a:xfrm>
          <a:custGeom>
            <a:avLst/>
            <a:gdLst/>
            <a:ahLst/>
            <a:cxnLst/>
            <a:rect l="l" t="t" r="r" b="b"/>
            <a:pathLst>
              <a:path w="3842206" h="2403125">
                <a:moveTo>
                  <a:pt x="0" y="0"/>
                </a:moveTo>
                <a:lnTo>
                  <a:pt x="3842206" y="0"/>
                </a:lnTo>
                <a:lnTo>
                  <a:pt x="3842206" y="2403126"/>
                </a:lnTo>
                <a:lnTo>
                  <a:pt x="0" y="24031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368353" y="3485769"/>
            <a:ext cx="11919647" cy="3916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   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Suno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là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một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công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cụ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AI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cho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phép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người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dùng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sáng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tác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bài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hát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hoàn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chỉnh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(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gồm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lời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giai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điệu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hòa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âm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)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chỉ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bằng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cách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mô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tả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ý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tưởng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bằng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văn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bản</a:t>
            </a:r>
            <a:endParaRPr lang="en-US" sz="369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   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Suno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hướng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đến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việc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hỗ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trợ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sáng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âm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nhanh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chóng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ngay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cả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với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người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không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có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kiến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thức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chuyên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sâu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về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lý</a:t>
            </a:r>
            <a:r>
              <a:rPr lang="en-US" sz="36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38127" y="1665917"/>
            <a:ext cx="5467873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3.1. </a:t>
            </a:r>
            <a:r>
              <a:rPr lang="en-US" sz="4999" b="1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Khái</a:t>
            </a:r>
            <a:r>
              <a:rPr lang="en-US" sz="4999" b="1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4999" b="1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niệm</a:t>
            </a:r>
            <a:endParaRPr lang="en-US" sz="4999" b="1" dirty="0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84585" y="4664282"/>
            <a:ext cx="7370884" cy="4918390"/>
          </a:xfrm>
          <a:custGeom>
            <a:avLst/>
            <a:gdLst/>
            <a:ahLst/>
            <a:cxnLst/>
            <a:rect l="l" t="t" r="r" b="b"/>
            <a:pathLst>
              <a:path w="7370884" h="4918390">
                <a:moveTo>
                  <a:pt x="0" y="0"/>
                </a:moveTo>
                <a:lnTo>
                  <a:pt x="7370884" y="0"/>
                </a:lnTo>
                <a:lnTo>
                  <a:pt x="7370884" y="4918389"/>
                </a:lnTo>
                <a:lnTo>
                  <a:pt x="0" y="4918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311692"/>
            <a:ext cx="7908114" cy="839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b="1" dirty="0">
                <a:solidFill>
                  <a:schemeClr val="bg1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3.2. </a:t>
            </a:r>
            <a:r>
              <a:rPr lang="en-US" sz="5099" b="1" dirty="0" err="1">
                <a:solidFill>
                  <a:schemeClr val="bg1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Nguyên</a:t>
            </a:r>
            <a:r>
              <a:rPr lang="en-US" sz="5099" b="1" dirty="0">
                <a:solidFill>
                  <a:schemeClr val="bg1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5099" b="1" dirty="0" err="1">
                <a:solidFill>
                  <a:schemeClr val="bg1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lý</a:t>
            </a:r>
            <a:r>
              <a:rPr lang="en-US" sz="5099" b="1" dirty="0">
                <a:solidFill>
                  <a:schemeClr val="bg1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5099" b="1" dirty="0" err="1">
                <a:solidFill>
                  <a:schemeClr val="bg1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hoạt</a:t>
            </a:r>
            <a:r>
              <a:rPr lang="en-US" sz="5099" b="1" dirty="0">
                <a:solidFill>
                  <a:schemeClr val="bg1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5099" b="1" dirty="0" err="1">
                <a:solidFill>
                  <a:schemeClr val="bg1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động</a:t>
            </a:r>
            <a:endParaRPr lang="en-US" sz="5099" b="1" dirty="0">
              <a:solidFill>
                <a:schemeClr val="bg1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49517" y="1809796"/>
            <a:ext cx="11610677" cy="5313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1" lvl="1" indent="-410205" algn="l">
              <a:lnSpc>
                <a:spcPts val="5319"/>
              </a:lnSpc>
              <a:buFont typeface="Arial"/>
              <a:buChar char="•"/>
            </a:pPr>
            <a:r>
              <a:rPr lang="en-US" sz="3799" b="1" dirty="0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3799" b="1" dirty="0" err="1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Suno</a:t>
            </a:r>
            <a:r>
              <a:rPr lang="en-US" sz="3799" b="1" dirty="0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3799" b="1" dirty="0" err="1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sử</a:t>
            </a:r>
            <a:r>
              <a:rPr lang="en-US" sz="3799" b="1" dirty="0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3799" b="1" dirty="0" err="1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dụng</a:t>
            </a:r>
            <a:r>
              <a:rPr lang="en-US" sz="3799" b="1" dirty="0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: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Mô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hình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học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sâu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xử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lý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âm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thanh</a:t>
            </a:r>
            <a:endParaRPr lang="en-US" sz="3799" dirty="0">
              <a:solidFill>
                <a:srgbClr val="FEFEFE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AI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phân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tích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cấu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trúc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bài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hát</a:t>
            </a:r>
            <a:endParaRPr lang="en-US" sz="3799" dirty="0">
              <a:solidFill>
                <a:srgbClr val="FEFEFE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Mô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phỏng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phong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cách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âm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theo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thể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loại</a:t>
            </a:r>
            <a:endParaRPr lang="en-US" sz="3799" dirty="0">
              <a:solidFill>
                <a:srgbClr val="FEFEFE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820411" lvl="1" indent="-410205" algn="l">
              <a:lnSpc>
                <a:spcPts val="5319"/>
              </a:lnSpc>
              <a:buFont typeface="Arial"/>
              <a:buChar char="•"/>
            </a:pPr>
            <a:r>
              <a:rPr lang="en-US" sz="3799" b="1" dirty="0" err="1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Người</a:t>
            </a:r>
            <a:r>
              <a:rPr lang="en-US" sz="3799" b="1" dirty="0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3799" b="1" dirty="0" err="1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dùng</a:t>
            </a:r>
            <a:r>
              <a:rPr lang="en-US" sz="3799" b="1" dirty="0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3799" b="1" dirty="0" err="1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nhập</a:t>
            </a:r>
            <a:r>
              <a:rPr lang="en-US" sz="3799" b="1" dirty="0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: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Thể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loại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endParaRPr lang="en-US" sz="3799" dirty="0">
              <a:solidFill>
                <a:srgbClr val="FEFEFE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Cảm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xúc</a:t>
            </a:r>
            <a:endParaRPr lang="en-US" sz="3799" dirty="0">
              <a:solidFill>
                <a:srgbClr val="FEFEFE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Chủ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đề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hoặc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lời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bài</a:t>
            </a:r>
            <a:r>
              <a:rPr lang="en-US" sz="3799" dirty="0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799" dirty="0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hát</a:t>
            </a:r>
            <a:endParaRPr lang="en-US" sz="3799" dirty="0">
              <a:solidFill>
                <a:srgbClr val="FEFEFE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833" y="9354706"/>
            <a:ext cx="1011734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7141" y="5480359"/>
            <a:ext cx="6304011" cy="4114800"/>
          </a:xfrm>
          <a:custGeom>
            <a:avLst/>
            <a:gdLst/>
            <a:ahLst/>
            <a:cxnLst/>
            <a:rect l="l" t="t" r="r" b="b"/>
            <a:pathLst>
              <a:path w="6304011" h="4114800">
                <a:moveTo>
                  <a:pt x="0" y="0"/>
                </a:moveTo>
                <a:lnTo>
                  <a:pt x="6304011" y="0"/>
                </a:lnTo>
                <a:lnTo>
                  <a:pt x="63040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4572" y="174623"/>
            <a:ext cx="9681428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3.3. </a:t>
            </a:r>
            <a:r>
              <a:rPr lang="en-US" sz="4999" b="1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Chức</a:t>
            </a:r>
            <a:r>
              <a:rPr lang="en-US" sz="4999" b="1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4999" b="1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năng</a:t>
            </a:r>
            <a:r>
              <a:rPr lang="en-US" sz="4999" b="1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4999" b="1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chính</a:t>
            </a:r>
            <a:endParaRPr lang="en-US" sz="4999" b="1" dirty="0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305314" y="1785293"/>
            <a:ext cx="12768962" cy="3695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84"/>
              </a:lnSpc>
            </a:pPr>
            <a:r>
              <a:rPr lang="en-US" sz="5274" dirty="0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5274" dirty="0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lang="en-US" sz="5274" dirty="0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5274" dirty="0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bài</a:t>
            </a:r>
            <a:r>
              <a:rPr lang="en-US" sz="5274" dirty="0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5274" dirty="0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hát</a:t>
            </a:r>
            <a:r>
              <a:rPr lang="en-US" sz="5274" dirty="0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5274" dirty="0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hoàn</a:t>
            </a:r>
            <a:r>
              <a:rPr lang="en-US" sz="5274" dirty="0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5274" dirty="0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chỉnh</a:t>
            </a:r>
            <a:endParaRPr lang="en-US" sz="5274" dirty="0">
              <a:solidFill>
                <a:srgbClr val="5CE1E6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7384"/>
              </a:lnSpc>
            </a:pPr>
            <a:r>
              <a:rPr lang="en-US" sz="5274" dirty="0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5274" dirty="0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lang="en-US" sz="5274" dirty="0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5274" dirty="0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r>
              <a:rPr lang="en-US" sz="5274" dirty="0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5274" dirty="0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không</a:t>
            </a:r>
            <a:r>
              <a:rPr lang="en-US" sz="5274" dirty="0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5274" dirty="0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lời</a:t>
            </a:r>
            <a:r>
              <a:rPr lang="en-US" sz="5274" dirty="0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(instrumental)</a:t>
            </a:r>
          </a:p>
          <a:p>
            <a:pPr algn="l">
              <a:lnSpc>
                <a:spcPts val="7384"/>
              </a:lnSpc>
            </a:pPr>
            <a:r>
              <a:rPr lang="en-US" sz="5274" dirty="0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5274" dirty="0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Hỗ</a:t>
            </a:r>
            <a:r>
              <a:rPr lang="en-US" sz="5274" dirty="0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5274" dirty="0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trợ</a:t>
            </a:r>
            <a:r>
              <a:rPr lang="en-US" sz="5274" dirty="0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5274" dirty="0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nhiều</a:t>
            </a:r>
            <a:r>
              <a:rPr lang="en-US" sz="5274" dirty="0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5274" dirty="0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thể</a:t>
            </a:r>
            <a:r>
              <a:rPr lang="en-US" sz="5274" dirty="0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5274" dirty="0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loại</a:t>
            </a:r>
            <a:r>
              <a:rPr lang="en-US" sz="5274" dirty="0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5274" dirty="0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âm</a:t>
            </a:r>
            <a:r>
              <a:rPr lang="en-US" sz="5274" dirty="0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5274" dirty="0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endParaRPr lang="en-US" sz="5274" dirty="0">
              <a:solidFill>
                <a:srgbClr val="5CE1E6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7384"/>
              </a:lnSpc>
            </a:pPr>
            <a:r>
              <a:rPr lang="en-US" sz="5274" dirty="0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5274" dirty="0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Xuất</a:t>
            </a:r>
            <a:r>
              <a:rPr lang="en-US" sz="5274" dirty="0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file </a:t>
            </a:r>
            <a:r>
              <a:rPr lang="en-US" sz="5274" dirty="0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âm</a:t>
            </a:r>
            <a:r>
              <a:rPr lang="en-US" sz="5274" dirty="0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5274" dirty="0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thanh</a:t>
            </a:r>
            <a:r>
              <a:rPr lang="en-US" sz="5274" dirty="0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5274" dirty="0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chất</a:t>
            </a:r>
            <a:r>
              <a:rPr lang="en-US" sz="5274" dirty="0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5274" dirty="0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lượng</a:t>
            </a:r>
            <a:r>
              <a:rPr lang="en-US" sz="5274" dirty="0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5274" dirty="0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cao</a:t>
            </a:r>
            <a:endParaRPr lang="en-US" sz="5274" dirty="0">
              <a:solidFill>
                <a:srgbClr val="5CE1E6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3256262" y="5698119"/>
            <a:ext cx="4582608" cy="4114800"/>
          </a:xfrm>
          <a:custGeom>
            <a:avLst/>
            <a:gdLst/>
            <a:ahLst/>
            <a:cxnLst/>
            <a:rect l="l" t="t" r="r" b="b"/>
            <a:pathLst>
              <a:path w="4582608" h="4114800">
                <a:moveTo>
                  <a:pt x="0" y="0"/>
                </a:moveTo>
                <a:lnTo>
                  <a:pt x="4582608" y="0"/>
                </a:lnTo>
                <a:lnTo>
                  <a:pt x="458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065067" y="9538009"/>
            <a:ext cx="2431733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 dirty="0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16</a:t>
            </a:r>
          </a:p>
        </p:txBody>
      </p:sp>
    </p:spTree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567842">
            <a:off x="-144436" y="6668656"/>
            <a:ext cx="3572656" cy="3403827"/>
          </a:xfrm>
          <a:custGeom>
            <a:avLst/>
            <a:gdLst/>
            <a:ahLst/>
            <a:cxnLst/>
            <a:rect l="l" t="t" r="r" b="b"/>
            <a:pathLst>
              <a:path w="3572656" h="3403827">
                <a:moveTo>
                  <a:pt x="0" y="0"/>
                </a:moveTo>
                <a:lnTo>
                  <a:pt x="3572656" y="0"/>
                </a:lnTo>
                <a:lnTo>
                  <a:pt x="3572656" y="3403826"/>
                </a:lnTo>
                <a:lnTo>
                  <a:pt x="0" y="3403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4031" y="4056877"/>
            <a:ext cx="9073172" cy="6720192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49710" y="379375"/>
            <a:ext cx="7384129" cy="85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3.4. </a:t>
            </a:r>
            <a:r>
              <a:rPr lang="en-US" sz="4999" b="1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Ứng</a:t>
            </a:r>
            <a:r>
              <a:rPr lang="en-US" sz="4999" b="1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4999" b="1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dụng</a:t>
            </a:r>
            <a:r>
              <a:rPr lang="en-US" sz="4999" b="1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4999" b="1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thực</a:t>
            </a:r>
            <a:r>
              <a:rPr lang="en-US" sz="4999" b="1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4999" b="1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tiễn</a:t>
            </a:r>
            <a:endParaRPr lang="en-US" sz="4999" b="1" dirty="0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57945" y="1992710"/>
            <a:ext cx="9519047" cy="3511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Sáng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tác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cá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nhân</a:t>
            </a:r>
            <a:endParaRPr lang="en-US" sz="499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Làm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nền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cho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video, podcast</a:t>
            </a:r>
          </a:p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Hỗ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trợ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giáo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dục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âm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endParaRPr lang="en-US" sz="499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Sản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xuất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nội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dung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giải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trí</a:t>
            </a:r>
            <a:endParaRPr lang="en-US" sz="499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344092" y="9201150"/>
            <a:ext cx="2904307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 dirty="0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4874" y="1568449"/>
            <a:ext cx="14633377" cy="7054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484" lvl="1" indent="-539742" algn="l">
              <a:lnSpc>
                <a:spcPts val="6999"/>
              </a:lnSpc>
              <a:buFont typeface="Arial"/>
              <a:buChar char="•"/>
            </a:pP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Ưu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điểm</a:t>
            </a:r>
            <a:endParaRPr lang="en-US" sz="499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Dễ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sử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dụng</a:t>
            </a:r>
            <a:endParaRPr lang="en-US" sz="499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Sáng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nhanh</a:t>
            </a:r>
            <a:endParaRPr lang="en-US" sz="499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Không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cần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kiến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thức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âm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chuyên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sâu</a:t>
            </a:r>
            <a:endParaRPr lang="en-US" sz="499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</a:p>
          <a:p>
            <a:pPr marL="1079484" lvl="1" indent="-539742" algn="l">
              <a:lnSpc>
                <a:spcPts val="6999"/>
              </a:lnSpc>
              <a:buFont typeface="Arial"/>
              <a:buChar char="•"/>
            </a:pP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Hạn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chế</a:t>
            </a:r>
            <a:endParaRPr lang="en-US" sz="499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Khó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kiểm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soát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chi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tiết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từng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nốt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endParaRPr lang="en-US" sz="499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Cần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chú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ý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vấn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đề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bản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quyền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khi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sử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dụng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thương</a:t>
            </a:r>
            <a:r>
              <a:rPr lang="en-US" sz="49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9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mại</a:t>
            </a:r>
            <a:endParaRPr lang="en-US" sz="4999" dirty="0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5334541" y="4508501"/>
            <a:ext cx="2739619" cy="4114800"/>
          </a:xfrm>
          <a:custGeom>
            <a:avLst/>
            <a:gdLst/>
            <a:ahLst/>
            <a:cxnLst/>
            <a:rect l="l" t="t" r="r" b="b"/>
            <a:pathLst>
              <a:path w="2739619" h="4114800">
                <a:moveTo>
                  <a:pt x="0" y="0"/>
                </a:moveTo>
                <a:lnTo>
                  <a:pt x="2739618" y="0"/>
                </a:lnTo>
                <a:lnTo>
                  <a:pt x="27396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944100" y="0"/>
            <a:ext cx="7315200" cy="4003409"/>
          </a:xfrm>
          <a:custGeom>
            <a:avLst/>
            <a:gdLst/>
            <a:ahLst/>
            <a:cxnLst/>
            <a:rect l="l" t="t" r="r" b="b"/>
            <a:pathLst>
              <a:path w="7315200" h="4003409">
                <a:moveTo>
                  <a:pt x="0" y="0"/>
                </a:moveTo>
                <a:lnTo>
                  <a:pt x="7315200" y="0"/>
                </a:lnTo>
                <a:lnTo>
                  <a:pt x="7315200" y="4003409"/>
                </a:lnTo>
                <a:lnTo>
                  <a:pt x="0" y="4003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24246" y="174623"/>
            <a:ext cx="8767354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3.5. </a:t>
            </a:r>
            <a:r>
              <a:rPr lang="en-US" sz="4999" b="1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Ưu</a:t>
            </a:r>
            <a:r>
              <a:rPr lang="en-US" sz="4999" b="1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4999" b="1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điểm</a:t>
            </a:r>
            <a:r>
              <a:rPr lang="en-US" sz="4999" b="1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4999" b="1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và</a:t>
            </a:r>
            <a:r>
              <a:rPr lang="en-US" sz="4999" b="1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4999" b="1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hạn</a:t>
            </a:r>
            <a:r>
              <a:rPr lang="en-US" sz="4999" b="1" dirty="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lang="en-US" sz="4999" b="1" dirty="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chế</a:t>
            </a:r>
            <a:endParaRPr lang="en-US" sz="4999" b="1" dirty="0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688896" y="9201150"/>
            <a:ext cx="1760904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 dirty="0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74437" y="-270247"/>
            <a:ext cx="9946363" cy="3000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  <a:spcBef>
                <a:spcPct val="0"/>
              </a:spcBef>
            </a:pPr>
            <a:r>
              <a:rPr lang="en-US" sz="5599" b="1" dirty="0">
                <a:solidFill>
                  <a:srgbClr val="F2DF05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</a:p>
          <a:p>
            <a:pPr algn="ctr">
              <a:lnSpc>
                <a:spcPts val="7839"/>
              </a:lnSpc>
              <a:spcBef>
                <a:spcPct val="0"/>
              </a:spcBef>
            </a:pPr>
            <a:r>
              <a:rPr lang="en-US" sz="5599" b="1" dirty="0">
                <a:solidFill>
                  <a:srgbClr val="F2DF05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III. SO SÁNH TỔNG QUAN</a:t>
            </a:r>
          </a:p>
          <a:p>
            <a:pPr algn="ctr">
              <a:lnSpc>
                <a:spcPts val="7839"/>
              </a:lnSpc>
              <a:spcBef>
                <a:spcPct val="0"/>
              </a:spcBef>
            </a:pPr>
            <a:r>
              <a:rPr lang="en-US" sz="5599" b="1" dirty="0">
                <a:solidFill>
                  <a:srgbClr val="F2DF05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931535"/>
              </p:ext>
            </p:extLst>
          </p:nvPr>
        </p:nvGraphicFramePr>
        <p:xfrm>
          <a:off x="685800" y="2743041"/>
          <a:ext cx="17145000" cy="67438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86250"/>
                <a:gridCol w="4286250"/>
                <a:gridCol w="4286250"/>
                <a:gridCol w="4286250"/>
              </a:tblGrid>
              <a:tr h="93268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err="1">
                          <a:effectLst/>
                        </a:rPr>
                        <a:t>Tiêu</a:t>
                      </a:r>
                      <a:r>
                        <a:rPr lang="en-US" sz="3200" dirty="0">
                          <a:effectLst/>
                        </a:rPr>
                        <a:t> </a:t>
                      </a:r>
                      <a:r>
                        <a:rPr lang="en-US" sz="3200" dirty="0" err="1">
                          <a:effectLst/>
                        </a:rPr>
                        <a:t>chí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ChatGPT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Gamma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Suno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93268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err="1">
                          <a:effectLst/>
                        </a:rPr>
                        <a:t>Lĩnh</a:t>
                      </a:r>
                      <a:r>
                        <a:rPr lang="en-US" sz="3200" dirty="0">
                          <a:effectLst/>
                        </a:rPr>
                        <a:t> </a:t>
                      </a:r>
                      <a:r>
                        <a:rPr lang="en-US" sz="3200" dirty="0" err="1">
                          <a:effectLst/>
                        </a:rPr>
                        <a:t>vực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err="1">
                          <a:effectLst/>
                        </a:rPr>
                        <a:t>Ngôn</a:t>
                      </a:r>
                      <a:r>
                        <a:rPr lang="en-US" sz="3200" dirty="0">
                          <a:effectLst/>
                        </a:rPr>
                        <a:t> </a:t>
                      </a:r>
                      <a:r>
                        <a:rPr lang="en-US" sz="3200" dirty="0" err="1">
                          <a:effectLst/>
                        </a:rPr>
                        <a:t>ngữ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Trình chiếu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Âm nhạc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9729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Mục đích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err="1">
                          <a:effectLst/>
                        </a:rPr>
                        <a:t>Hỏi</a:t>
                      </a:r>
                      <a:r>
                        <a:rPr lang="en-US" sz="3200" dirty="0">
                          <a:effectLst/>
                        </a:rPr>
                        <a:t> </a:t>
                      </a:r>
                      <a:r>
                        <a:rPr lang="en-US" sz="3200" dirty="0" err="1">
                          <a:effectLst/>
                        </a:rPr>
                        <a:t>đáp</a:t>
                      </a:r>
                      <a:r>
                        <a:rPr lang="en-US" sz="3200" dirty="0">
                          <a:effectLst/>
                        </a:rPr>
                        <a:t>, </a:t>
                      </a:r>
                      <a:r>
                        <a:rPr lang="en-US" sz="3200" dirty="0" err="1">
                          <a:effectLst/>
                        </a:rPr>
                        <a:t>viết</a:t>
                      </a:r>
                      <a:r>
                        <a:rPr lang="en-US" sz="3200" dirty="0">
                          <a:effectLst/>
                        </a:rPr>
                        <a:t> </a:t>
                      </a:r>
                      <a:r>
                        <a:rPr lang="en-US" sz="3200" dirty="0" err="1">
                          <a:effectLst/>
                        </a:rPr>
                        <a:t>nội</a:t>
                      </a:r>
                      <a:r>
                        <a:rPr lang="en-US" sz="3200" dirty="0">
                          <a:effectLst/>
                        </a:rPr>
                        <a:t> dung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Tạo slide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err="1">
                          <a:effectLst/>
                        </a:rPr>
                        <a:t>Tạo</a:t>
                      </a:r>
                      <a:r>
                        <a:rPr lang="en-US" sz="3200" dirty="0">
                          <a:effectLst/>
                        </a:rPr>
                        <a:t> </a:t>
                      </a:r>
                      <a:r>
                        <a:rPr lang="en-US" sz="3200" dirty="0" err="1">
                          <a:effectLst/>
                        </a:rPr>
                        <a:t>nhạc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9729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Đối tượng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err="1">
                          <a:effectLst/>
                        </a:rPr>
                        <a:t>Mọi</a:t>
                      </a:r>
                      <a:r>
                        <a:rPr lang="en-US" sz="3200" dirty="0">
                          <a:effectLst/>
                        </a:rPr>
                        <a:t> </a:t>
                      </a:r>
                      <a:r>
                        <a:rPr lang="en-US" sz="3200" dirty="0" err="1">
                          <a:effectLst/>
                        </a:rPr>
                        <a:t>ngành</a:t>
                      </a:r>
                      <a:r>
                        <a:rPr lang="en-US" sz="3200" dirty="0">
                          <a:effectLst/>
                        </a:rPr>
                        <a:t> </a:t>
                      </a:r>
                      <a:r>
                        <a:rPr lang="en-US" sz="3200" dirty="0" err="1">
                          <a:effectLst/>
                        </a:rPr>
                        <a:t>nghề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err="1">
                          <a:effectLst/>
                        </a:rPr>
                        <a:t>Giáo</a:t>
                      </a:r>
                      <a:r>
                        <a:rPr lang="en-US" sz="3200" dirty="0">
                          <a:effectLst/>
                        </a:rPr>
                        <a:t> </a:t>
                      </a:r>
                      <a:r>
                        <a:rPr lang="en-US" sz="3200" dirty="0" err="1">
                          <a:effectLst/>
                        </a:rPr>
                        <a:t>dục</a:t>
                      </a:r>
                      <a:r>
                        <a:rPr lang="en-US" sz="3200" dirty="0">
                          <a:effectLst/>
                        </a:rPr>
                        <a:t>, </a:t>
                      </a:r>
                      <a:r>
                        <a:rPr lang="en-US" sz="3200" dirty="0" err="1">
                          <a:effectLst/>
                        </a:rPr>
                        <a:t>doanh</a:t>
                      </a:r>
                      <a:r>
                        <a:rPr lang="en-US" sz="3200" dirty="0">
                          <a:effectLst/>
                        </a:rPr>
                        <a:t> </a:t>
                      </a:r>
                      <a:r>
                        <a:rPr lang="en-US" sz="3200" dirty="0" err="1">
                          <a:effectLst/>
                        </a:rPr>
                        <a:t>nghiệp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Nghệ thuật, sáng tạo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93268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Độ phức tạp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Trung bình – cao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err="1">
                          <a:effectLst/>
                        </a:rPr>
                        <a:t>Thấp</a:t>
                      </a:r>
                      <a:r>
                        <a:rPr lang="en-US" sz="3200" dirty="0">
                          <a:effectLst/>
                        </a:rPr>
                        <a:t> – </a:t>
                      </a:r>
                      <a:r>
                        <a:rPr lang="en-US" sz="3200" dirty="0" err="1">
                          <a:effectLst/>
                        </a:rPr>
                        <a:t>trung</a:t>
                      </a:r>
                      <a:r>
                        <a:rPr lang="en-US" sz="3200" dirty="0">
                          <a:effectLst/>
                        </a:rPr>
                        <a:t> </a:t>
                      </a:r>
                      <a:r>
                        <a:rPr lang="en-US" sz="3200" dirty="0" err="1">
                          <a:effectLst/>
                        </a:rPr>
                        <a:t>bình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err="1">
                          <a:effectLst/>
                        </a:rPr>
                        <a:t>Trung</a:t>
                      </a:r>
                      <a:r>
                        <a:rPr lang="en-US" sz="3200" dirty="0">
                          <a:effectLst/>
                        </a:rPr>
                        <a:t> </a:t>
                      </a:r>
                      <a:r>
                        <a:rPr lang="en-US" sz="3200" dirty="0" err="1">
                          <a:effectLst/>
                        </a:rPr>
                        <a:t>bình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531938" y="274320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								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79116" y="4861840"/>
            <a:ext cx="805724" cy="811812"/>
          </a:xfrm>
          <a:custGeom>
            <a:avLst/>
            <a:gdLst/>
            <a:ahLst/>
            <a:cxnLst/>
            <a:rect l="l" t="t" r="r" b="b"/>
            <a:pathLst>
              <a:path w="805724" h="811812">
                <a:moveTo>
                  <a:pt x="0" y="0"/>
                </a:moveTo>
                <a:lnTo>
                  <a:pt x="805724" y="0"/>
                </a:lnTo>
                <a:lnTo>
                  <a:pt x="805724" y="811813"/>
                </a:lnTo>
                <a:lnTo>
                  <a:pt x="0" y="811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74661" y="3544733"/>
            <a:ext cx="910179" cy="917057"/>
          </a:xfrm>
          <a:custGeom>
            <a:avLst/>
            <a:gdLst/>
            <a:ahLst/>
            <a:cxnLst/>
            <a:rect l="l" t="t" r="r" b="b"/>
            <a:pathLst>
              <a:path w="910179" h="917057">
                <a:moveTo>
                  <a:pt x="0" y="0"/>
                </a:moveTo>
                <a:lnTo>
                  <a:pt x="910179" y="0"/>
                </a:lnTo>
                <a:lnTo>
                  <a:pt x="910179" y="917057"/>
                </a:lnTo>
                <a:lnTo>
                  <a:pt x="0" y="9170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37634" y="2668381"/>
            <a:ext cx="932366" cy="939412"/>
          </a:xfrm>
          <a:custGeom>
            <a:avLst/>
            <a:gdLst/>
            <a:ahLst/>
            <a:cxnLst/>
            <a:rect l="l" t="t" r="r" b="b"/>
            <a:pathLst>
              <a:path w="932366" h="939412">
                <a:moveTo>
                  <a:pt x="0" y="0"/>
                </a:moveTo>
                <a:lnTo>
                  <a:pt x="932366" y="0"/>
                </a:lnTo>
                <a:lnTo>
                  <a:pt x="932366" y="939411"/>
                </a:lnTo>
                <a:lnTo>
                  <a:pt x="0" y="9394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74661" y="1408113"/>
            <a:ext cx="858312" cy="864798"/>
          </a:xfrm>
          <a:custGeom>
            <a:avLst/>
            <a:gdLst/>
            <a:ahLst/>
            <a:cxnLst/>
            <a:rect l="l" t="t" r="r" b="b"/>
            <a:pathLst>
              <a:path w="858312" h="864798">
                <a:moveTo>
                  <a:pt x="0" y="0"/>
                </a:moveTo>
                <a:lnTo>
                  <a:pt x="858312" y="0"/>
                </a:lnTo>
                <a:lnTo>
                  <a:pt x="858312" y="864799"/>
                </a:lnTo>
                <a:lnTo>
                  <a:pt x="0" y="864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5220" y="4631643"/>
            <a:ext cx="7633240" cy="6071672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932973" y="1576291"/>
            <a:ext cx="16080559" cy="4777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ChatGPT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là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một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AI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đa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nhiệm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hữu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ích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để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văn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bản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trả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lời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kiến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thức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hỗ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trợ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kỹ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thuật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học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tập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sáng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nội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dung.</a:t>
            </a:r>
          </a:p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 Gamma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là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AI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tập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trung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vào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trình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bày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nội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dung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với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thiết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kế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slide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tự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động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.</a:t>
            </a:r>
          </a:p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Suno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là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công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cụ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sáng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tác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âm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bằng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AI,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giúp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bạn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bài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hát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âm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thanh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chỉ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từ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mô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tả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văn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bản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.</a:t>
            </a:r>
          </a:p>
          <a:p>
            <a:pPr algn="l">
              <a:lnSpc>
                <a:spcPts val="5459"/>
              </a:lnSpc>
            </a:pP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 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Việc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hiểu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sử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dụng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đúng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các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công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cụ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AI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này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sẽ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giúp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cá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nhân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tổ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chức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thích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nghi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tốt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hơn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với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xu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hướng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chuyển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đổi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số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trong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tương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899" dirty="0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lai</a:t>
            </a:r>
            <a:r>
              <a:rPr lang="en-US" sz="3899" dirty="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6894" y="568842"/>
            <a:ext cx="6063905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IV. KẾT LUẬN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0249" y="9201150"/>
            <a:ext cx="3227739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 dirty="0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01815" y="5140359"/>
            <a:ext cx="6472953" cy="3977924"/>
          </a:xfrm>
          <a:custGeom>
            <a:avLst/>
            <a:gdLst/>
            <a:ahLst/>
            <a:cxnLst/>
            <a:rect l="l" t="t" r="r" b="b"/>
            <a:pathLst>
              <a:path w="6472953" h="3977924">
                <a:moveTo>
                  <a:pt x="0" y="0"/>
                </a:moveTo>
                <a:lnTo>
                  <a:pt x="6472953" y="0"/>
                </a:lnTo>
                <a:lnTo>
                  <a:pt x="6472953" y="3977924"/>
                </a:lnTo>
                <a:lnTo>
                  <a:pt x="0" y="3977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718858" y="2325001"/>
            <a:ext cx="4731429" cy="4248429"/>
          </a:xfrm>
          <a:custGeom>
            <a:avLst/>
            <a:gdLst/>
            <a:ahLst/>
            <a:cxnLst/>
            <a:rect l="l" t="t" r="r" b="b"/>
            <a:pathLst>
              <a:path w="4731429" h="4248429">
                <a:moveTo>
                  <a:pt x="0" y="0"/>
                </a:moveTo>
                <a:lnTo>
                  <a:pt x="4731429" y="0"/>
                </a:lnTo>
                <a:lnTo>
                  <a:pt x="4731429" y="4248429"/>
                </a:lnTo>
                <a:lnTo>
                  <a:pt x="0" y="42484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340231" y="3891994"/>
            <a:ext cx="8535894" cy="1343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10313" b="1" spc="433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Thank You 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1309</Words>
  <Application>Microsoft Office PowerPoint</Application>
  <PresentationFormat>Custom</PresentationFormat>
  <Paragraphs>169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Times New Roman</vt:lpstr>
      <vt:lpstr>TT Commons Pro</vt:lpstr>
      <vt:lpstr>Calibri</vt:lpstr>
      <vt:lpstr>TT Commons Pro Bold</vt:lpstr>
      <vt:lpstr>Noto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Pink and Purple Minimalist Gradient Computer Technology Presentation</dc:title>
  <dc:creator>Administrator</dc:creator>
  <cp:lastModifiedBy>AutoBVT</cp:lastModifiedBy>
  <cp:revision>3</cp:revision>
  <dcterms:created xsi:type="dcterms:W3CDTF">2006-08-16T00:00:00Z</dcterms:created>
  <dcterms:modified xsi:type="dcterms:W3CDTF">2025-12-30T03:10:58Z</dcterms:modified>
  <dc:identifier>DAG82QtYA9c</dc:identifier>
</cp:coreProperties>
</file>