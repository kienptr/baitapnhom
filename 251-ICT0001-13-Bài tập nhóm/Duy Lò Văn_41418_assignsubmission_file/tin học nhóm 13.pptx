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y="10287000" cx="18288000"/>
  <p:notesSz cx="6858000" cy="9144000"/>
  <p:embeddedFontLst>
    <p:embeddedFont>
      <p:font typeface="TT Commons Pro" charset="0"/>
      <p:regular r:id="rId25"/>
    </p:embeddedFon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TT Commons Pro Bold" charset="0"/>
      <p:regular r:id="rId30"/>
    </p:embeddedFont>
    <p:embeddedFont>
      <p:font typeface="Noto Sans Bold" charset="0"/>
      <p:regular r:id="rId31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>
        <p:scale>
          <a:sx n="51" d="100"/>
          <a:sy n="51" d="100"/>
        </p:scale>
        <p:origin x="-456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tableStyles" Target="tableStyle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5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9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3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3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3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4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0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4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4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4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4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4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1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1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2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0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70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>
            <a:off x="10570866" y="3557530"/>
            <a:ext cx="5735634" cy="5985956"/>
          </a:xfrm>
          <a:custGeom>
            <a:avLst/>
            <a:ahLst/>
            <a:rect l="l" t="t" r="r" b="b"/>
            <a:pathLst>
              <a:path w="5735634" h="5985956">
                <a:moveTo>
                  <a:pt x="0" y="0"/>
                </a:moveTo>
                <a:lnTo>
                  <a:pt x="5735634" y="0"/>
                </a:lnTo>
                <a:lnTo>
                  <a:pt x="5735634" y="5985956"/>
                </a:lnTo>
                <a:lnTo>
                  <a:pt x="0" y="598595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585" name="Freeform 3"/>
          <p:cNvSpPr/>
          <p:nvPr/>
        </p:nvSpPr>
        <p:spPr>
          <a:xfrm>
            <a:off x="12866164" y="1862396"/>
            <a:ext cx="4322217" cy="3874278"/>
          </a:xfrm>
          <a:custGeom>
            <a:avLst/>
            <a:ahLst/>
            <a:rect l="l" t="t" r="r" b="b"/>
            <a:pathLst>
              <a:path w="4322217" h="3874278">
                <a:moveTo>
                  <a:pt x="0" y="0"/>
                </a:moveTo>
                <a:lnTo>
                  <a:pt x="4322217" y="0"/>
                </a:lnTo>
                <a:lnTo>
                  <a:pt x="4322217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586" name="TextBox 4"/>
          <p:cNvSpPr txBox="1"/>
          <p:nvPr/>
        </p:nvSpPr>
        <p:spPr>
          <a:xfrm>
            <a:off x="390141" y="1919251"/>
            <a:ext cx="12177707" cy="40767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0657"/>
              </a:lnSpc>
            </a:pPr>
            <a:r>
              <a:rPr b="1" dirty="0" sz="7612" lang="en-US" spc="31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TÌM HIỂU MỘT SỐ CÔNG CỤ TRÍ TUỆ NHÂN TẠO (AI) PHỔ BIẾN</a:t>
            </a:r>
          </a:p>
        </p:txBody>
      </p:sp>
      <p:sp>
        <p:nvSpPr>
          <p:cNvPr id="1048587" name="TextBox 5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01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Freeform 2"/>
          <p:cNvSpPr/>
          <p:nvPr/>
        </p:nvSpPr>
        <p:spPr>
          <a:xfrm>
            <a:off x="644981" y="2810723"/>
            <a:ext cx="5328083" cy="6288510"/>
          </a:xfrm>
          <a:custGeom>
            <a:avLst/>
            <a:ahLst/>
            <a:rect l="l" t="t" r="r" b="b"/>
            <a:pathLst>
              <a:path w="5328083" h="6288510">
                <a:moveTo>
                  <a:pt x="0" y="0"/>
                </a:moveTo>
                <a:lnTo>
                  <a:pt x="5328082" y="0"/>
                </a:lnTo>
                <a:lnTo>
                  <a:pt x="5328082" y="6288509"/>
                </a:lnTo>
                <a:lnTo>
                  <a:pt x="0" y="628850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589" name="Freeform 3"/>
          <p:cNvSpPr/>
          <p:nvPr/>
        </p:nvSpPr>
        <p:spPr>
          <a:xfrm>
            <a:off x="644981" y="1028700"/>
            <a:ext cx="3842206" cy="2403125"/>
          </a:xfrm>
          <a:custGeom>
            <a:avLst/>
            <a:ahLst/>
            <a:rect l="l" t="t" r="r" b="b"/>
            <a:pathLst>
              <a:path w="3842206" h="2403125">
                <a:moveTo>
                  <a:pt x="0" y="0"/>
                </a:moveTo>
                <a:lnTo>
                  <a:pt x="3842206" y="0"/>
                </a:lnTo>
                <a:lnTo>
                  <a:pt x="3842206" y="2403125"/>
                </a:lnTo>
                <a:lnTo>
                  <a:pt x="0" y="240312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590" name="TextBox 4"/>
          <p:cNvSpPr txBox="1"/>
          <p:nvPr/>
        </p:nvSpPr>
        <p:spPr>
          <a:xfrm>
            <a:off x="5737522" y="1178473"/>
            <a:ext cx="14050688" cy="17145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3458"/>
              </a:lnSpc>
            </a:pPr>
            <a:r>
              <a:rPr b="1" sz="9613" lang="en-US" spc="40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CÔNG CỤ TÌM HIỂU</a:t>
            </a:r>
          </a:p>
        </p:txBody>
      </p:sp>
      <p:sp>
        <p:nvSpPr>
          <p:cNvPr id="1048591" name="TextBox 5"/>
          <p:cNvSpPr txBox="1"/>
          <p:nvPr/>
        </p:nvSpPr>
        <p:spPr>
          <a:xfrm>
            <a:off x="8031115" y="3843790"/>
            <a:ext cx="11757095" cy="34290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696679" lvl="1" marL="1393358">
              <a:lnSpc>
                <a:spcPts val="9035"/>
              </a:lnSpc>
              <a:buAutoNum type="arabicPeriod"/>
            </a:pPr>
            <a:r>
              <a:rPr dirty="0" sz="6453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CHAT GPT</a:t>
            </a:r>
          </a:p>
          <a:p>
            <a:pPr algn="l" indent="-696679" lvl="1" marL="1393358">
              <a:lnSpc>
                <a:spcPts val="9035"/>
              </a:lnSpc>
              <a:buAutoNum type="arabicPeriod"/>
            </a:pPr>
            <a:r>
              <a:rPr dirty="0" sz="6453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GAMMAR</a:t>
            </a:r>
          </a:p>
          <a:p>
            <a:pPr algn="l" indent="-696679" lvl="1" marL="1393358">
              <a:lnSpc>
                <a:spcPts val="9035"/>
              </a:lnSpc>
              <a:buAutoNum type="arabicPeriod"/>
            </a:pPr>
            <a:r>
              <a:rPr dirty="0" sz="6453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SUNO</a:t>
            </a:r>
          </a:p>
        </p:txBody>
      </p:sp>
      <p:sp>
        <p:nvSpPr>
          <p:cNvPr id="1048592" name="TextBox 6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02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7"/>
                                        <p:tgtEl>
                                          <p:spTgt spid="104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Freeform 2"/>
          <p:cNvSpPr/>
          <p:nvPr/>
        </p:nvSpPr>
        <p:spPr>
          <a:xfrm>
            <a:off x="11510626" y="3783647"/>
            <a:ext cx="6304011" cy="4114800"/>
          </a:xfrm>
          <a:custGeom>
            <a:avLst/>
            <a:ahLst/>
            <a:rect l="l" t="t" r="r" b="b"/>
            <a:pathLst>
              <a:path w="6304011" h="4114800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594" name="TextBox 3"/>
          <p:cNvSpPr txBox="1"/>
          <p:nvPr/>
        </p:nvSpPr>
        <p:spPr>
          <a:xfrm>
            <a:off x="821556" y="1703298"/>
            <a:ext cx="8322444" cy="83819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1.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Mở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đầu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2.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</a:t>
            </a: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2.1.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2.2. Gamma</a:t>
            </a: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2.3.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3. So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sánh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tổng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quan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4.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Kết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luận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5.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Tài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tham</a:t>
            </a:r>
            <a:r>
              <a:rPr dirty="0" sz="470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70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khảo</a:t>
            </a: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593"/>
              </a:lnSpc>
            </a:pPr>
            <a:endParaRPr dirty="0" sz="470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595" name="TextBox 4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03</a:t>
            </a:r>
          </a:p>
        </p:txBody>
      </p:sp>
      <p:sp>
        <p:nvSpPr>
          <p:cNvPr id="1048596" name="TextBox 5"/>
          <p:cNvSpPr txBox="1"/>
          <p:nvPr/>
        </p:nvSpPr>
        <p:spPr>
          <a:xfrm>
            <a:off x="2186880" y="169228"/>
            <a:ext cx="13914239" cy="147320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11620"/>
              </a:lnSpc>
            </a:pPr>
            <a:r>
              <a:rPr b="1" dirty="0" sz="8300" lang="en-US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NỘI DUNG TÌM HIỂU GỒM: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104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dur="500" id="12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/>
      <p:bldP spid="104859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Freeform 2"/>
          <p:cNvSpPr/>
          <p:nvPr/>
        </p:nvSpPr>
        <p:spPr>
          <a:xfrm>
            <a:off x="12876008" y="524787"/>
            <a:ext cx="4887613" cy="6670440"/>
          </a:xfrm>
          <a:custGeom>
            <a:avLst/>
            <a:ahLst/>
            <a:rect l="l" t="t" r="r" b="b"/>
            <a:pathLst>
              <a:path w="4887613" h="6670440">
                <a:moveTo>
                  <a:pt x="0" y="0"/>
                </a:moveTo>
                <a:lnTo>
                  <a:pt x="4887614" y="0"/>
                </a:lnTo>
                <a:lnTo>
                  <a:pt x="4887614" y="6670441"/>
                </a:lnTo>
                <a:lnTo>
                  <a:pt x="0" y="667044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598" name="Freeform 3"/>
          <p:cNvSpPr/>
          <p:nvPr/>
        </p:nvSpPr>
        <p:spPr>
          <a:xfrm>
            <a:off x="15578296" y="7167758"/>
            <a:ext cx="2709704" cy="1665339"/>
          </a:xfrm>
          <a:custGeom>
            <a:avLst/>
            <a:ahLst/>
            <a:rect l="l" t="t" r="r" b="b"/>
            <a:pathLst>
              <a:path w="2709704" h="1665339">
                <a:moveTo>
                  <a:pt x="0" y="0"/>
                </a:moveTo>
                <a:lnTo>
                  <a:pt x="2709704" y="0"/>
                </a:lnTo>
                <a:lnTo>
                  <a:pt x="2709704" y="1665339"/>
                </a:lnTo>
                <a:lnTo>
                  <a:pt x="0" y="166533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599" name="TextBox 4"/>
          <p:cNvSpPr txBox="1"/>
          <p:nvPr/>
        </p:nvSpPr>
        <p:spPr>
          <a:xfrm>
            <a:off x="1028700" y="381912"/>
            <a:ext cx="8801876" cy="14096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1079"/>
              </a:lnSpc>
            </a:pPr>
            <a:r>
              <a:rPr b="1" dirty="0" sz="7913" lang="en-US" spc="332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I. MỞ ĐẦU</a:t>
            </a:r>
          </a:p>
        </p:txBody>
      </p:sp>
      <p:sp>
        <p:nvSpPr>
          <p:cNvPr id="1048600" name="TextBox 5"/>
          <p:cNvSpPr txBox="1"/>
          <p:nvPr/>
        </p:nvSpPr>
        <p:spPr>
          <a:xfrm>
            <a:off x="344536" y="1976560"/>
            <a:ext cx="12531473" cy="28448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557"/>
              </a:lnSpc>
            </a:pP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tuệ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(AI)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phát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triển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ứng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rộng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rãi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lĩnh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vực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đặc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biệt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nhiên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đổi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6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96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dung.</a:t>
            </a:r>
          </a:p>
        </p:txBody>
      </p:sp>
      <p:sp>
        <p:nvSpPr>
          <p:cNvPr id="1048601" name="TextBox 6"/>
          <p:cNvSpPr txBox="1"/>
          <p:nvPr/>
        </p:nvSpPr>
        <p:spPr>
          <a:xfrm>
            <a:off x="626858" y="9619678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03</a:t>
            </a:r>
          </a:p>
        </p:txBody>
      </p:sp>
      <p:sp>
        <p:nvSpPr>
          <p:cNvPr id="1048602" name="TextBox 7"/>
          <p:cNvSpPr txBox="1"/>
          <p:nvPr/>
        </p:nvSpPr>
        <p:spPr>
          <a:xfrm>
            <a:off x="232921" y="5306122"/>
            <a:ext cx="16700227" cy="4679316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94DDD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·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Báo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cáo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này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tập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trung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tìm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hiểu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ba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công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cụ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AI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tiêu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biểu</a:t>
            </a:r>
            <a:r>
              <a:rPr b="1" dirty="0" sz="3699" lang="en-US">
                <a:solidFill>
                  <a:srgbClr val="94DDD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AI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trò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chuyện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Gamma – AI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chiếu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  -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AI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=&gt;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Mục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tiêu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đọc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rõ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chất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chức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ứng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trị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thực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tiễn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dur="500" id="7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4">
                      <p:stCondLst>
                        <p:cond delay="indefinite"/>
                      </p:stCondLst>
                      <p:childTnLst>
                        <p:par>
                          <p:cTn fill="hold" id="1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6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8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9" grpId="0"/>
      <p:bldP spid="1048600" grpId="0"/>
      <p:bldP spid="104860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Freeform 2"/>
          <p:cNvSpPr/>
          <p:nvPr/>
        </p:nvSpPr>
        <p:spPr>
          <a:xfrm flipH="1">
            <a:off x="-201106" y="3088702"/>
            <a:ext cx="5429328" cy="4886395"/>
          </a:xfrm>
          <a:custGeom>
            <a:avLst/>
            <a:ahLst/>
            <a:rect l="l" t="t" r="r" b="b"/>
            <a:pathLst>
              <a:path w="5429328" h="4886395">
                <a:moveTo>
                  <a:pt x="5429328" y="0"/>
                </a:moveTo>
                <a:lnTo>
                  <a:pt x="0" y="0"/>
                </a:lnTo>
                <a:lnTo>
                  <a:pt x="0" y="4886395"/>
                </a:lnTo>
                <a:lnTo>
                  <a:pt x="5429328" y="4886395"/>
                </a:lnTo>
                <a:lnTo>
                  <a:pt x="5429328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04" name="TextBox 3"/>
          <p:cNvSpPr txBox="1"/>
          <p:nvPr/>
        </p:nvSpPr>
        <p:spPr>
          <a:xfrm>
            <a:off x="5170470" y="1888367"/>
            <a:ext cx="13117530" cy="81026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443421" lvl="1" marL="886842">
              <a:lnSpc>
                <a:spcPts val="5750"/>
              </a:lnSpc>
              <a:buFont typeface="Arial"/>
              <a:buChar char="•"/>
            </a:pP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tuệ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dạng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chatbot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do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OpenAI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triển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hoạt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lớn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(Large Language Model – LLM).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khả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ra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ngôn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nhiên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phỏng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giao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của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       </a:t>
            </a:r>
          </a:p>
          <a:p>
            <a:pPr algn="l">
              <a:lnSpc>
                <a:spcPts val="5750"/>
              </a:lnSpc>
            </a:pPr>
            <a:endParaRPr dirty="0" sz="4107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 indent="-443421" lvl="1" marL="886842">
              <a:lnSpc>
                <a:spcPts val="5750"/>
              </a:lnSpc>
              <a:buFont typeface="Arial"/>
              <a:buChar char="•"/>
            </a:pP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huấn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luyện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khối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lượng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dữ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khổng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lồ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bao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gồm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sách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website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hội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thoại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mẫu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nó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khác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07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nhau</a:t>
            </a:r>
            <a:r>
              <a:rPr dirty="0" sz="4107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1048605" name="TextBox 4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04</a:t>
            </a:r>
          </a:p>
        </p:txBody>
      </p:sp>
      <p:sp>
        <p:nvSpPr>
          <p:cNvPr id="1048606" name="TextBox 5"/>
          <p:cNvSpPr txBox="1"/>
          <p:nvPr/>
        </p:nvSpPr>
        <p:spPr>
          <a:xfrm>
            <a:off x="0" y="141605"/>
            <a:ext cx="6477000" cy="936154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 indent="-561340" lvl="1" marL="1122679">
              <a:lnSpc>
                <a:spcPts val="7279"/>
              </a:lnSpc>
              <a:buAutoNum type="arabicPeriod"/>
            </a:pPr>
            <a:r>
              <a:rPr b="1" dirty="0" sz="5199" lang="en-US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CHAT GPT</a:t>
            </a:r>
          </a:p>
        </p:txBody>
      </p:sp>
      <p:sp>
        <p:nvSpPr>
          <p:cNvPr id="1048607" name="TextBox 6"/>
          <p:cNvSpPr txBox="1"/>
          <p:nvPr/>
        </p:nvSpPr>
        <p:spPr>
          <a:xfrm>
            <a:off x="1561679" y="1137020"/>
            <a:ext cx="4915321" cy="756617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5880"/>
              </a:lnSpc>
            </a:pPr>
            <a:r>
              <a:rPr b="1" dirty="0" sz="4200" lang="en-US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1.1.Khái </a:t>
            </a:r>
            <a:r>
              <a:rPr b="1" dirty="0" sz="4200" lang="en-US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niệm</a:t>
            </a:r>
            <a:endParaRPr b="1" dirty="0" sz="4200" lang="en-US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  <p:transition spd="slow">
    <p:blinds dir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4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9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4" grpId="0"/>
      <p:bldP spid="1048606" grpId="0"/>
      <p:bldP spid="10486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Freeform 2"/>
          <p:cNvSpPr/>
          <p:nvPr/>
        </p:nvSpPr>
        <p:spPr>
          <a:xfrm>
            <a:off x="14520609" y="7022076"/>
            <a:ext cx="4322217" cy="3874278"/>
          </a:xfrm>
          <a:custGeom>
            <a:avLst/>
            <a:ahLst/>
            <a:rect l="l" t="t" r="r" b="b"/>
            <a:pathLst>
              <a:path w="4322217" h="3874278">
                <a:moveTo>
                  <a:pt x="0" y="0"/>
                </a:moveTo>
                <a:lnTo>
                  <a:pt x="4322216" y="0"/>
                </a:lnTo>
                <a:lnTo>
                  <a:pt x="4322216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09" name="Freeform 3"/>
          <p:cNvSpPr/>
          <p:nvPr/>
        </p:nvSpPr>
        <p:spPr>
          <a:xfrm>
            <a:off x="12242178" y="1689296"/>
            <a:ext cx="6240011" cy="5332780"/>
          </a:xfrm>
          <a:custGeom>
            <a:avLst/>
            <a:ahLst/>
            <a:rect l="l" t="t" r="r" b="b"/>
            <a:pathLst>
              <a:path w="6240011" h="5332780">
                <a:moveTo>
                  <a:pt x="0" y="0"/>
                </a:moveTo>
                <a:lnTo>
                  <a:pt x="6240011" y="0"/>
                </a:lnTo>
                <a:lnTo>
                  <a:pt x="6240011" y="5332780"/>
                </a:lnTo>
                <a:lnTo>
                  <a:pt x="0" y="533278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l="-28271"/>
            </a:stretch>
          </a:blipFill>
        </p:spPr>
      </p:sp>
      <p:sp>
        <p:nvSpPr>
          <p:cNvPr id="1048610" name="TextBox 4"/>
          <p:cNvSpPr txBox="1"/>
          <p:nvPr/>
        </p:nvSpPr>
        <p:spPr>
          <a:xfrm>
            <a:off x="225393" y="380577"/>
            <a:ext cx="10981214" cy="6096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813"/>
              </a:lnSpc>
            </a:pPr>
            <a:r>
              <a:rPr b="1" dirty="0" sz="5013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1.2. </a:t>
            </a:r>
            <a:r>
              <a:rPr b="1" dirty="0" sz="5013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b="1" dirty="0" sz="5013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13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lí</a:t>
            </a:r>
            <a:r>
              <a:rPr b="1" dirty="0" sz="5013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13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b="1" dirty="0" sz="5013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13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b="1" dirty="0" sz="5013" lang="en-US" spc="21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11" name="TextBox 5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05</a:t>
            </a:r>
          </a:p>
        </p:txBody>
      </p:sp>
      <p:sp>
        <p:nvSpPr>
          <p:cNvPr id="1048612" name="TextBox 6"/>
          <p:cNvSpPr txBox="1"/>
          <p:nvPr/>
        </p:nvSpPr>
        <p:spPr>
          <a:xfrm>
            <a:off x="601589" y="1298088"/>
            <a:ext cx="11640589" cy="3962399"/>
          </a:xfrm>
          <a:prstGeom prst="rect"/>
        </p:spPr>
        <p:txBody>
          <a:bodyPr anchor="t" bIns="0" lIns="0" rIns="0" rtlCol="0" tIns="0">
            <a:spAutoFit/>
          </a:bodyPr>
          <a:p>
            <a:pPr algn="l" indent="-399411" lvl="1" marL="798823">
              <a:lnSpc>
                <a:spcPts val="5179"/>
              </a:lnSpc>
              <a:buFont typeface="Arial"/>
              <a:buChar char="•"/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hoạt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79"/>
              </a:lnSpc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nơ-ron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Cơ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Transformer</a:t>
            </a:r>
          </a:p>
          <a:p>
            <a:pPr algn="l">
              <a:lnSpc>
                <a:spcPts val="5179"/>
              </a:lnSpc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đoán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dựa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suất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cảnh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</a:pP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13" name="TextBox 7"/>
          <p:cNvSpPr txBox="1"/>
          <p:nvPr/>
        </p:nvSpPr>
        <p:spPr>
          <a:xfrm>
            <a:off x="407400" y="4535160"/>
            <a:ext cx="11640589" cy="33655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406517" lvl="1" marL="813034">
              <a:lnSpc>
                <a:spcPts val="5272"/>
              </a:lnSpc>
              <a:buFont typeface="Arial"/>
              <a:buChar char="•"/>
            </a:pP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Khi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nhập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(prompt),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hệ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thống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Phân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ngữ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cảnh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định</a:t>
            </a:r>
            <a:endParaRPr dirty="0" sz="376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đoán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chuỗi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phù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nhất</a:t>
            </a:r>
            <a:endParaRPr dirty="0" sz="376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72"/>
              </a:lnSpc>
              <a:spcBef>
                <a:spcPct val="0"/>
              </a:spcBef>
            </a:pP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tính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logic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mạch</a:t>
            </a:r>
            <a:r>
              <a:rPr dirty="0" sz="376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lạc</a:t>
            </a:r>
            <a:endParaRPr dirty="0" sz="376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4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9"/>
                                        <p:tgtEl>
                                          <p:spTgt spid="1048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1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0" grpId="0"/>
      <p:bldP spid="1048612" grpId="0"/>
      <p:bldP spid="10486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Freeform 2"/>
          <p:cNvSpPr/>
          <p:nvPr/>
        </p:nvSpPr>
        <p:spPr>
          <a:xfrm>
            <a:off x="4994124" y="2289287"/>
            <a:ext cx="1550963" cy="2389438"/>
          </a:xfrm>
          <a:custGeom>
            <a:avLst/>
            <a:ahLst/>
            <a:rect l="l" t="t" r="r" b="b"/>
            <a:pathLst>
              <a:path w="1550963" h="2389438">
                <a:moveTo>
                  <a:pt x="0" y="0"/>
                </a:moveTo>
                <a:lnTo>
                  <a:pt x="1550963" y="0"/>
                </a:lnTo>
                <a:lnTo>
                  <a:pt x="1550963" y="2389439"/>
                </a:lnTo>
                <a:lnTo>
                  <a:pt x="0" y="238943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15" name="Freeform 3"/>
          <p:cNvSpPr/>
          <p:nvPr/>
        </p:nvSpPr>
        <p:spPr>
          <a:xfrm>
            <a:off x="0" y="5143500"/>
            <a:ext cx="6752112" cy="4954828"/>
          </a:xfrm>
          <a:custGeom>
            <a:avLst/>
            <a:ahLst/>
            <a:rect l="l" t="t" r="r" b="b"/>
            <a:pathLst>
              <a:path w="6752112" h="4954828">
                <a:moveTo>
                  <a:pt x="0" y="0"/>
                </a:moveTo>
                <a:lnTo>
                  <a:pt x="6752112" y="0"/>
                </a:lnTo>
                <a:lnTo>
                  <a:pt x="6752112" y="4954828"/>
                </a:lnTo>
                <a:lnTo>
                  <a:pt x="0" y="495482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 r="-10141"/>
            </a:stretch>
          </a:blipFill>
        </p:spPr>
      </p:sp>
      <p:sp>
        <p:nvSpPr>
          <p:cNvPr id="1048616" name="TextBox 4"/>
          <p:cNvSpPr txBox="1"/>
          <p:nvPr/>
        </p:nvSpPr>
        <p:spPr>
          <a:xfrm>
            <a:off x="7611142" y="1402279"/>
            <a:ext cx="9237029" cy="8382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637"/>
              </a:lnSpc>
            </a:pPr>
            <a:r>
              <a:rPr b="1" dirty="0" sz="6913" lang="en-US" spc="29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1.3. </a:t>
            </a:r>
            <a:r>
              <a:rPr b="1" dirty="0" sz="6913" lang="en-US" spc="29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b="1" dirty="0" sz="6913" lang="en-US" spc="29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6913" lang="en-US" spc="29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b="1" dirty="0" sz="6913" lang="en-US" spc="29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6913" lang="en-US" spc="29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b="1" dirty="0" sz="6913" lang="en-US" spc="29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17" name="TextBox 5"/>
          <p:cNvSpPr txBox="1"/>
          <p:nvPr/>
        </p:nvSpPr>
        <p:spPr>
          <a:xfrm>
            <a:off x="7611142" y="2848913"/>
            <a:ext cx="10676858" cy="51562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781"/>
              </a:lnSpc>
            </a:pP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câu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hỏi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tổng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endParaRPr dirty="0" sz="412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luận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email,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kịch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dirty="0" sz="412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lập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code,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sửa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lỗi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thích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toán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)</a:t>
            </a:r>
          </a:p>
          <a:p>
            <a:pPr algn="l">
              <a:lnSpc>
                <a:spcPts val="5781"/>
              </a:lnSpc>
            </a:pP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Dịch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tóm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tắt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dirty="0" sz="412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nghiên</a:t>
            </a:r>
            <a:r>
              <a:rPr dirty="0" sz="412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12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cứu</a:t>
            </a:r>
            <a:endParaRPr dirty="0" sz="412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781"/>
              </a:lnSpc>
            </a:pPr>
            <a:endParaRPr dirty="0" sz="412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18" name="TextBox 6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6" grpId="0"/>
      <p:bldP spid="10486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Freeform 2"/>
          <p:cNvSpPr/>
          <p:nvPr/>
        </p:nvSpPr>
        <p:spPr>
          <a:xfrm>
            <a:off x="11731814" y="5176053"/>
            <a:ext cx="5758626" cy="4114800"/>
          </a:xfrm>
          <a:custGeom>
            <a:avLst/>
            <a:ah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20" name="Freeform 3"/>
          <p:cNvSpPr/>
          <p:nvPr/>
        </p:nvSpPr>
        <p:spPr>
          <a:xfrm>
            <a:off x="11252508" y="1992097"/>
            <a:ext cx="4128848" cy="4873104"/>
          </a:xfrm>
          <a:custGeom>
            <a:avLst/>
            <a:ahLst/>
            <a:rect l="l" t="t" r="r" b="b"/>
            <a:pathLst>
              <a:path w="4128848" h="4873104">
                <a:moveTo>
                  <a:pt x="0" y="0"/>
                </a:moveTo>
                <a:lnTo>
                  <a:pt x="4128848" y="0"/>
                </a:lnTo>
                <a:lnTo>
                  <a:pt x="4128848" y="4873104"/>
                </a:lnTo>
                <a:lnTo>
                  <a:pt x="0" y="487310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21" name="TextBox 9"/>
          <p:cNvSpPr txBox="1"/>
          <p:nvPr/>
        </p:nvSpPr>
        <p:spPr>
          <a:xfrm>
            <a:off x="1076184" y="1414758"/>
            <a:ext cx="10655631" cy="17272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781"/>
              </a:lnSpc>
            </a:pPr>
            <a:r>
              <a:rPr b="1" dirty="0" sz="7063" lang="en-US" spc="296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1.4. </a:t>
            </a:r>
            <a:r>
              <a:rPr b="1" dirty="0" sz="7063" lang="en-US" spc="296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b="1" dirty="0" sz="7063" lang="en-US" spc="296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7063" lang="en-US" spc="296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b="1" dirty="0" sz="7063" lang="en-US" spc="296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7063" lang="en-US" spc="296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b="1" dirty="0" sz="7063" lang="en-US" spc="296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7063" lang="en-US" spc="296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b="1" dirty="0" sz="7063" lang="en-US" spc="296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6781"/>
              </a:lnSpc>
            </a:pPr>
            <a:endParaRPr b="1" dirty="0" sz="7063" lang="en-US" spc="296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22" name="TextBox 10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07</a:t>
            </a:r>
          </a:p>
        </p:txBody>
      </p:sp>
      <p:sp>
        <p:nvSpPr>
          <p:cNvPr id="1048623" name="TextBox 11"/>
          <p:cNvSpPr txBox="1"/>
          <p:nvPr/>
        </p:nvSpPr>
        <p:spPr>
          <a:xfrm>
            <a:off x="1028700" y="2707373"/>
            <a:ext cx="10176324" cy="56388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459"/>
              </a:lnSpc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endParaRPr dirty="0" sz="38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459"/>
              </a:lnSpc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Doanh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chăm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sóc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khách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hàng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marketing</a:t>
            </a:r>
          </a:p>
          <a:p>
            <a:pPr algn="l">
              <a:lnSpc>
                <a:spcPts val="5459"/>
              </a:lnSpc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nghệ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tin: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lập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endParaRPr dirty="0" sz="38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459"/>
              </a:lnSpc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Truyền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–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viết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dung, ý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tưởng</a:t>
            </a:r>
            <a:endParaRPr dirty="0" sz="38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879"/>
              </a:lnSpc>
            </a:pPr>
            <a:endParaRPr dirty="0" sz="38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200">
        <p14:prism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3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0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">
                      <p:stCondLst>
                        <p:cond delay="indefinite"/>
                      </p:stCondLst>
                      <p:childTnLst>
                        <p:par>
                          <p:cTn fill="hold" id="1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3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5"/>
                                        <p:tgtEl>
                                          <p:spTgt spid="1048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6"/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7"/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1" grpId="0"/>
      <p:bldP spid="10486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Freeform 2"/>
          <p:cNvSpPr/>
          <p:nvPr/>
        </p:nvSpPr>
        <p:spPr>
          <a:xfrm>
            <a:off x="1930230" y="1418519"/>
            <a:ext cx="3053187" cy="4166881"/>
          </a:xfrm>
          <a:custGeom>
            <a:avLst/>
            <a:ahLst/>
            <a:rect l="l" t="t" r="r" b="b"/>
            <a:pathLst>
              <a:path w="3053187" h="4166881">
                <a:moveTo>
                  <a:pt x="0" y="0"/>
                </a:moveTo>
                <a:lnTo>
                  <a:pt x="3053188" y="0"/>
                </a:lnTo>
                <a:lnTo>
                  <a:pt x="3053188" y="4166881"/>
                </a:lnTo>
                <a:lnTo>
                  <a:pt x="0" y="416688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25" name="Freeform 3"/>
          <p:cNvSpPr/>
          <p:nvPr/>
        </p:nvSpPr>
        <p:spPr>
          <a:xfrm>
            <a:off x="11531789" y="1255723"/>
            <a:ext cx="3860215" cy="3990824"/>
          </a:xfrm>
          <a:custGeom>
            <a:avLst/>
            <a:ahLst/>
            <a:rect l="l" t="t" r="r" b="b"/>
            <a:pathLst>
              <a:path w="3860215" h="3990824">
                <a:moveTo>
                  <a:pt x="0" y="0"/>
                </a:moveTo>
                <a:lnTo>
                  <a:pt x="3860215" y="0"/>
                </a:lnTo>
                <a:lnTo>
                  <a:pt x="3860215" y="3990824"/>
                </a:lnTo>
                <a:lnTo>
                  <a:pt x="0" y="399082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26" name="TextBox 4"/>
          <p:cNvSpPr txBox="1"/>
          <p:nvPr/>
        </p:nvSpPr>
        <p:spPr>
          <a:xfrm>
            <a:off x="1930230" y="5823762"/>
            <a:ext cx="3718438" cy="673099"/>
          </a:xfrm>
          <a:prstGeom prst="rect"/>
        </p:spPr>
        <p:txBody>
          <a:bodyPr anchor="t" bIns="0" lIns="0" rIns="0" rtlCol="0" tIns="0">
            <a:spAutoFit/>
          </a:bodyPr>
          <a:p>
            <a:pPr algn="l" indent="-410206" lvl="1" marL="820412">
              <a:lnSpc>
                <a:spcPts val="5319"/>
              </a:lnSpc>
              <a:buFont typeface="Arial"/>
              <a:buChar char="•"/>
            </a:pPr>
            <a:r>
              <a:rPr b="1" dirty="0" sz="3799" lang="en-US" err="1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b="1" dirty="0" sz="3799" lang="en-US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1800AD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endParaRPr b="1" dirty="0" sz="3799" lang="en-US">
              <a:solidFill>
                <a:srgbClr val="1800AD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27" name="TextBox 5"/>
          <p:cNvSpPr txBox="1"/>
          <p:nvPr/>
        </p:nvSpPr>
        <p:spPr>
          <a:xfrm>
            <a:off x="1028700" y="6794971"/>
            <a:ext cx="8884887" cy="26416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242"/>
              </a:lnSpc>
            </a:pP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dễ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endParaRPr dirty="0" sz="374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Phản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hồi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dirty="0" sz="374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kiệm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thời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gian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74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dirty="0" sz="374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phí</a:t>
            </a:r>
            <a:endParaRPr dirty="0" sz="374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42"/>
              </a:lnSpc>
            </a:pPr>
            <a:endParaRPr dirty="0" sz="374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28" name="TextBox 6"/>
          <p:cNvSpPr txBox="1"/>
          <p:nvPr/>
        </p:nvSpPr>
        <p:spPr>
          <a:xfrm>
            <a:off x="11849846" y="5456097"/>
            <a:ext cx="4845031" cy="749299"/>
          </a:xfrm>
          <a:prstGeom prst="rect"/>
        </p:spPr>
        <p:txBody>
          <a:bodyPr anchor="t" bIns="0" lIns="0" rIns="0" rtlCol="0" tIns="0">
            <a:spAutoFit/>
          </a:bodyPr>
          <a:p>
            <a:pPr algn="l" indent="-453385" lvl="1" marL="906770">
              <a:lnSpc>
                <a:spcPts val="5879"/>
              </a:lnSpc>
              <a:buFont typeface="Arial"/>
              <a:buChar char="•"/>
            </a:pPr>
            <a:r>
              <a:rPr b="1" dirty="0" sz="4199" lang="en-US" err="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b="1" dirty="0" sz="4199" lang="en-US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199" lang="en-US" err="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b="1" dirty="0" sz="4199" lang="en-US">
              <a:gradFill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29" name="TextBox 7"/>
          <p:cNvSpPr txBox="1"/>
          <p:nvPr/>
        </p:nvSpPr>
        <p:spPr>
          <a:xfrm>
            <a:off x="8983805" y="6413043"/>
            <a:ext cx="8956182" cy="38099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40"/>
              </a:lnSpc>
            </a:pP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cung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cấp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thông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tin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chưa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chính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xác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nếu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prompt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rõ</a:t>
            </a:r>
            <a:endParaRPr dirty="0" sz="360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thế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toàn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duy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con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endParaRPr dirty="0" sz="360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Phụ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thuộc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vào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dữ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liệu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đã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huấn</a:t>
            </a:r>
            <a:r>
              <a:rPr dirty="0" sz="360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0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luyện</a:t>
            </a:r>
            <a:endParaRPr dirty="0" sz="360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040"/>
              </a:lnSpc>
            </a:pPr>
            <a:endParaRPr dirty="0" sz="360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30" name="TextBox 8"/>
          <p:cNvSpPr txBox="1"/>
          <p:nvPr/>
        </p:nvSpPr>
        <p:spPr>
          <a:xfrm>
            <a:off x="15828741" y="9689765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08</a:t>
            </a:r>
          </a:p>
        </p:txBody>
      </p:sp>
      <p:sp>
        <p:nvSpPr>
          <p:cNvPr id="1048631" name="TextBox 9"/>
          <p:cNvSpPr txBox="1"/>
          <p:nvPr/>
        </p:nvSpPr>
        <p:spPr>
          <a:xfrm>
            <a:off x="-325235" y="430458"/>
            <a:ext cx="8926258" cy="96519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b="1" dirty="0" sz="53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1.5. </a:t>
            </a:r>
            <a:r>
              <a:rPr b="1" dirty="0" sz="53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b="1" dirty="0" sz="53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3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b="1" dirty="0" sz="53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3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b="1" dirty="0" sz="53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3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b="1" dirty="0" sz="53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3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b="1" dirty="0" sz="53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4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dur="500" id="7"/>
                                        <p:tgtEl>
                                          <p:spTgt spid="104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2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7"/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8"/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9">
                      <p:stCondLst>
                        <p:cond delay="indefinite"/>
                      </p:stCondLst>
                      <p:childTnLst>
                        <p:par>
                          <p:cTn fill="hold" id="2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1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23"/>
                                        <p:tgtEl>
                                          <p:spTgt spid="104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6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28"/>
                                        <p:tgtEl>
                                          <p:spTgt spid="104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6" grpId="0"/>
      <p:bldP spid="1048627" grpId="0"/>
      <p:bldP spid="1048628" grpId="0"/>
      <p:bldP spid="1048629" grpId="0"/>
      <p:bldP spid="10486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Freeform 2"/>
          <p:cNvSpPr/>
          <p:nvPr/>
        </p:nvSpPr>
        <p:spPr>
          <a:xfrm>
            <a:off x="12487044" y="5265479"/>
            <a:ext cx="6269355" cy="3852804"/>
          </a:xfrm>
          <a:custGeom>
            <a:avLst/>
            <a:ahLst/>
            <a:rect l="l" t="t" r="r" b="b"/>
            <a:pathLst>
              <a:path w="6269355" h="3852804">
                <a:moveTo>
                  <a:pt x="0" y="0"/>
                </a:moveTo>
                <a:lnTo>
                  <a:pt x="6269355" y="0"/>
                </a:lnTo>
                <a:lnTo>
                  <a:pt x="6269355" y="3852803"/>
                </a:lnTo>
                <a:lnTo>
                  <a:pt x="0" y="385280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33" name="Freeform 3"/>
          <p:cNvSpPr/>
          <p:nvPr/>
        </p:nvSpPr>
        <p:spPr>
          <a:xfrm>
            <a:off x="13705392" y="2115446"/>
            <a:ext cx="4582608" cy="4114800"/>
          </a:xfrm>
          <a:custGeom>
            <a:avLst/>
            <a:ahLst/>
            <a:rect l="l" t="t" r="r" b="b"/>
            <a:pathLst>
              <a:path w="4582608" h="4114800">
                <a:moveTo>
                  <a:pt x="0" y="0"/>
                </a:moveTo>
                <a:lnTo>
                  <a:pt x="4582608" y="0"/>
                </a:lnTo>
                <a:lnTo>
                  <a:pt x="458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34" name="TextBox 4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09</a:t>
            </a:r>
          </a:p>
        </p:txBody>
      </p:sp>
      <p:sp>
        <p:nvSpPr>
          <p:cNvPr id="1048635" name="TextBox 5"/>
          <p:cNvSpPr txBox="1"/>
          <p:nvPr/>
        </p:nvSpPr>
        <p:spPr>
          <a:xfrm>
            <a:off x="226567" y="652062"/>
            <a:ext cx="9444182" cy="8763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925"/>
              </a:lnSpc>
            </a:pPr>
            <a:r>
              <a:rPr b="1" dirty="0" sz="7213" lang="en-US" spc="302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2.GAMMAR</a:t>
            </a:r>
          </a:p>
        </p:txBody>
      </p:sp>
      <p:sp>
        <p:nvSpPr>
          <p:cNvPr id="1048636" name="TextBox 6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07</a:t>
            </a:r>
          </a:p>
        </p:txBody>
      </p:sp>
      <p:sp>
        <p:nvSpPr>
          <p:cNvPr id="1048637" name="TextBox 7"/>
          <p:cNvSpPr txBox="1"/>
          <p:nvPr/>
        </p:nvSpPr>
        <p:spPr>
          <a:xfrm>
            <a:off x="672732" y="2951604"/>
            <a:ext cx="11814312" cy="55879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503"/>
              </a:lnSpc>
            </a:pP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Gamma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chiếu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(presentation)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phép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nhập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ngắn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sau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đó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xây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slide.</a:t>
            </a:r>
          </a:p>
          <a:p>
            <a:pPr algn="l">
              <a:lnSpc>
                <a:spcPts val="5503"/>
              </a:lnSpc>
            </a:pP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Gamma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được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xem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pháp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thay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thế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đại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truyền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931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thống</a:t>
            </a:r>
            <a:r>
              <a:rPr dirty="0" sz="3931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503"/>
              </a:lnSpc>
            </a:pPr>
            <a:endParaRPr dirty="0" sz="3931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38" name="TextBox 8"/>
          <p:cNvSpPr txBox="1"/>
          <p:nvPr/>
        </p:nvSpPr>
        <p:spPr>
          <a:xfrm>
            <a:off x="672732" y="2048771"/>
            <a:ext cx="3823068" cy="666849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b="1" dirty="0" sz="36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2.1. </a:t>
            </a:r>
            <a:r>
              <a:rPr b="1" dirty="0" sz="36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Khái</a:t>
            </a:r>
            <a:r>
              <a:rPr b="1" dirty="0" sz="36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6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niệm</a:t>
            </a:r>
            <a:endParaRPr b="1" dirty="0" sz="36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7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7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8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9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5" grpId="0"/>
      <p:bldP spid="1048637" grpId="0"/>
      <p:bldP spid="10486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Box 2"/>
          <p:cNvSpPr txBox="1"/>
          <p:nvPr/>
        </p:nvSpPr>
        <p:spPr>
          <a:xfrm>
            <a:off x="729827" y="647319"/>
            <a:ext cx="10814499" cy="12192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805"/>
              </a:lnSpc>
            </a:pPr>
            <a:r>
              <a:rPr b="1" dirty="0" sz="5005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2.2. </a:t>
            </a:r>
            <a:r>
              <a:rPr b="1" dirty="0" sz="5005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b="1" dirty="0" sz="5005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05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lý</a:t>
            </a:r>
            <a:r>
              <a:rPr b="1" dirty="0" sz="5005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05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b="1" dirty="0" sz="5005" lang="en-US" spc="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05" lang="en-US" spc="210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b="1" dirty="0" sz="5005" lang="en-US" spc="21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4805"/>
              </a:lnSpc>
            </a:pPr>
            <a:endParaRPr b="1" dirty="0" sz="5005" lang="en-US" spc="210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40" name="TextBox 3"/>
          <p:cNvSpPr txBox="1"/>
          <p:nvPr/>
        </p:nvSpPr>
        <p:spPr>
          <a:xfrm>
            <a:off x="5875375" y="1931859"/>
            <a:ext cx="12412625" cy="66040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400047" lvl="1" marL="800094">
              <a:lnSpc>
                <a:spcPts val="5188"/>
              </a:lnSpc>
              <a:buFont typeface="Arial"/>
              <a:buChar char="•"/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Gamma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AI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toán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để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tối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ảnh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màu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sắc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cấu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trúc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 indent="-400047" lvl="1" marL="800094">
              <a:lnSpc>
                <a:spcPts val="5188"/>
              </a:lnSpc>
              <a:buFont typeface="Arial"/>
              <a:buChar char="•"/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·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cung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cấp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</a:t>
            </a: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Mục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tiêu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bày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Đối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tượng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705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05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nghe</a:t>
            </a: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88"/>
              </a:lnSpc>
            </a:pPr>
            <a:endParaRPr dirty="0" sz="3705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41" name="TextBox 4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10</a:t>
            </a:r>
          </a:p>
        </p:txBody>
      </p:sp>
      <p:sp>
        <p:nvSpPr>
          <p:cNvPr id="1048642" name="Freeform 5"/>
          <p:cNvSpPr/>
          <p:nvPr/>
        </p:nvSpPr>
        <p:spPr>
          <a:xfrm>
            <a:off x="191061" y="1989009"/>
            <a:ext cx="4499882" cy="6141279"/>
          </a:xfrm>
          <a:custGeom>
            <a:avLst/>
            <a:ahLst/>
            <a:rect l="l" t="t" r="r" b="b"/>
            <a:pathLst>
              <a:path w="4499882" h="6141279">
                <a:moveTo>
                  <a:pt x="0" y="0"/>
                </a:moveTo>
                <a:lnTo>
                  <a:pt x="4499883" y="0"/>
                </a:lnTo>
                <a:lnTo>
                  <a:pt x="4499883" y="6141279"/>
                </a:lnTo>
                <a:lnTo>
                  <a:pt x="0" y="614127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43" name="Freeform 6"/>
          <p:cNvSpPr/>
          <p:nvPr/>
        </p:nvSpPr>
        <p:spPr>
          <a:xfrm>
            <a:off x="3129686" y="7849972"/>
            <a:ext cx="2321937" cy="1427024"/>
          </a:xfrm>
          <a:custGeom>
            <a:avLst/>
            <a:ahLst/>
            <a:rect l="l" t="t" r="r" b="b"/>
            <a:pathLst>
              <a:path w="2321937" h="1427024">
                <a:moveTo>
                  <a:pt x="0" y="0"/>
                </a:moveTo>
                <a:lnTo>
                  <a:pt x="2321938" y="0"/>
                </a:lnTo>
                <a:lnTo>
                  <a:pt x="2321938" y="1427024"/>
                </a:lnTo>
                <a:lnTo>
                  <a:pt x="0" y="142702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2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39" grpId="0"/>
      <p:bldP spid="10486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Freeform 2"/>
          <p:cNvSpPr/>
          <p:nvPr/>
        </p:nvSpPr>
        <p:spPr>
          <a:xfrm>
            <a:off x="13099584" y="5921861"/>
            <a:ext cx="4159716" cy="3336439"/>
          </a:xfrm>
          <a:custGeom>
            <a:avLst/>
            <a:ahLst/>
            <a:rect l="l" t="t" r="r" b="b"/>
            <a:pathLst>
              <a:path w="4159716" h="3336439">
                <a:moveTo>
                  <a:pt x="0" y="0"/>
                </a:moveTo>
                <a:lnTo>
                  <a:pt x="4159716" y="0"/>
                </a:lnTo>
                <a:lnTo>
                  <a:pt x="4159716" y="3336439"/>
                </a:lnTo>
                <a:lnTo>
                  <a:pt x="0" y="333643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45" name="TextBox 3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10</a:t>
            </a:r>
          </a:p>
        </p:txBody>
      </p:sp>
      <p:sp>
        <p:nvSpPr>
          <p:cNvPr id="1048646" name="TextBox 4"/>
          <p:cNvSpPr txBox="1"/>
          <p:nvPr/>
        </p:nvSpPr>
        <p:spPr>
          <a:xfrm>
            <a:off x="369051" y="1429870"/>
            <a:ext cx="10948120" cy="6984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435"/>
              </a:lnSpc>
            </a:pPr>
            <a:r>
              <a:rPr b="1" dirty="0" sz="5662" lang="en-US" spc="237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2.3. </a:t>
            </a:r>
            <a:r>
              <a:rPr b="1" dirty="0" sz="5662" lang="en-US" spc="237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b="1" dirty="0" sz="5662" lang="en-US" spc="237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662" lang="en-US" spc="237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b="1" dirty="0" sz="5662" lang="en-US" spc="237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662" lang="en-US" spc="237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b="1" dirty="0" sz="5662" lang="en-US" spc="237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72"/>
              </a:lnSpc>
            </a:pPr>
            <a:endParaRPr b="1" dirty="0" sz="5662" lang="en-US" spc="237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47" name="TextBox 5"/>
          <p:cNvSpPr txBox="1"/>
          <p:nvPr/>
        </p:nvSpPr>
        <p:spPr>
          <a:xfrm>
            <a:off x="693422" y="3235597"/>
            <a:ext cx="11013866" cy="34924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130"/>
              </a:lnSpc>
            </a:pP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dirty="0" sz="366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bố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cục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endParaRPr dirty="0" sz="366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sửa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trực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tiếp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trên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tảng</a:t>
            </a:r>
            <a:endParaRPr dirty="0" sz="366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30"/>
              </a:lnSpc>
            </a:pP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file PDF </a:t>
            </a:r>
            <a:r>
              <a:rPr dirty="0" sz="366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dirty="0" sz="366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</a:t>
            </a:r>
          </a:p>
          <a:p>
            <a:pPr algn="l">
              <a:lnSpc>
                <a:spcPts val="7054"/>
              </a:lnSpc>
            </a:pPr>
            <a:endParaRPr dirty="0" sz="366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48" name="Freeform 6"/>
          <p:cNvSpPr/>
          <p:nvPr/>
        </p:nvSpPr>
        <p:spPr>
          <a:xfrm flipH="1">
            <a:off x="10294153" y="1902359"/>
            <a:ext cx="5221849" cy="5449748"/>
          </a:xfrm>
          <a:custGeom>
            <a:avLst/>
            <a:ahLst/>
            <a:rect l="l" t="t" r="r" b="b"/>
            <a:pathLst>
              <a:path w="5221849" h="5449748">
                <a:moveTo>
                  <a:pt x="5221849" y="0"/>
                </a:moveTo>
                <a:lnTo>
                  <a:pt x="0" y="0"/>
                </a:lnTo>
                <a:lnTo>
                  <a:pt x="0" y="5449748"/>
                </a:lnTo>
                <a:lnTo>
                  <a:pt x="5221849" y="5449748"/>
                </a:lnTo>
                <a:lnTo>
                  <a:pt x="5221849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7"/>
                                        <p:tgtEl>
                                          <p:spTgt spid="104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6" grpId="0"/>
      <p:bldP spid="10486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extBox 2"/>
          <p:cNvSpPr txBox="1"/>
          <p:nvPr/>
        </p:nvSpPr>
        <p:spPr>
          <a:xfrm>
            <a:off x="5317048" y="1171575"/>
            <a:ext cx="11317433" cy="72390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677"/>
              </a:lnSpc>
            </a:pPr>
            <a:r>
              <a:rPr b="1" dirty="0" sz="5913" lang="en-US" spc="24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2.4. </a:t>
            </a:r>
            <a:r>
              <a:rPr b="1" dirty="0" sz="5913" lang="en-US" spc="248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b="1" dirty="0" sz="5913" lang="en-US" spc="24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13" lang="en-US" spc="248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b="1" dirty="0" sz="5913" lang="en-US" spc="24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13" lang="en-US" spc="248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b="1" dirty="0" sz="5913" lang="en-US" spc="248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13" lang="en-US" spc="248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b="1" dirty="0" sz="5913" lang="en-US" spc="248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50" name="TextBox 3"/>
          <p:cNvSpPr txBox="1"/>
          <p:nvPr/>
        </p:nvSpPr>
        <p:spPr>
          <a:xfrm>
            <a:off x="7817141" y="2851939"/>
            <a:ext cx="11311128" cy="40386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264"/>
              </a:lnSpc>
            </a:pP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Giảng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dạy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giảng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dirty="0" sz="376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Doanh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nghiệp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báo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cáo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thuyết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dự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án</a:t>
            </a:r>
            <a:endParaRPr dirty="0" sz="376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Marketing: pitch deck, proposal</a:t>
            </a:r>
          </a:p>
          <a:p>
            <a:pPr algn="l">
              <a:lnSpc>
                <a:spcPts val="5264"/>
              </a:lnSpc>
            </a:pP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Sinh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viên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: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thuyết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760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60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phần</a:t>
            </a:r>
            <a:endParaRPr dirty="0" sz="376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endParaRPr dirty="0" sz="376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64"/>
              </a:lnSpc>
            </a:pPr>
            <a:endParaRPr dirty="0" sz="3760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51" name="TextBox 4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12</a:t>
            </a:r>
          </a:p>
        </p:txBody>
      </p:sp>
      <p:sp>
        <p:nvSpPr>
          <p:cNvPr id="1048652" name="Freeform 5"/>
          <p:cNvSpPr/>
          <p:nvPr/>
        </p:nvSpPr>
        <p:spPr>
          <a:xfrm flipH="1">
            <a:off x="640191" y="2480910"/>
            <a:ext cx="7176950" cy="6459255"/>
          </a:xfrm>
          <a:custGeom>
            <a:avLst/>
            <a:ahLst/>
            <a:rect l="l" t="t" r="r" b="b"/>
            <a:pathLst>
              <a:path w="7176950" h="6459255">
                <a:moveTo>
                  <a:pt x="7176950" y="0"/>
                </a:moveTo>
                <a:lnTo>
                  <a:pt x="0" y="0"/>
                </a:lnTo>
                <a:lnTo>
                  <a:pt x="0" y="6459255"/>
                </a:lnTo>
                <a:lnTo>
                  <a:pt x="7176950" y="6459255"/>
                </a:lnTo>
                <a:lnTo>
                  <a:pt x="717695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49" grpId="0"/>
      <p:bldP spid="10486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extBox 2"/>
          <p:cNvSpPr txBox="1"/>
          <p:nvPr/>
        </p:nvSpPr>
        <p:spPr>
          <a:xfrm>
            <a:off x="1028700" y="891159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13</a:t>
            </a:r>
          </a:p>
        </p:txBody>
      </p:sp>
      <p:sp>
        <p:nvSpPr>
          <p:cNvPr id="1048654" name="TextBox 3"/>
          <p:cNvSpPr txBox="1"/>
          <p:nvPr/>
        </p:nvSpPr>
        <p:spPr>
          <a:xfrm>
            <a:off x="339518" y="467307"/>
            <a:ext cx="9644842" cy="20447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330"/>
              </a:lnSpc>
            </a:pPr>
            <a:r>
              <a:rPr b="1" dirty="0" sz="5950" lang="en-US" spc="24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2.5. </a:t>
            </a:r>
            <a:r>
              <a:rPr b="1" dirty="0" sz="5950" lang="en-US" spc="249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b="1" dirty="0" sz="5950" lang="en-US" spc="24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50" lang="en-US" spc="249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b="1" dirty="0" sz="5950" lang="en-US" spc="24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50" lang="en-US" spc="249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b="1" dirty="0" sz="5950" lang="en-US" spc="24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50" lang="en-US" spc="249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b="1" dirty="0" sz="5950" lang="en-US" spc="24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950" lang="en-US" spc="249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b="1" dirty="0" sz="5950" lang="en-US" spc="249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7765"/>
              </a:lnSpc>
            </a:pPr>
            <a:endParaRPr b="1" dirty="0" sz="5950" lang="en-US" spc="249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55" name="TextBox 4"/>
          <p:cNvSpPr txBox="1"/>
          <p:nvPr/>
        </p:nvSpPr>
        <p:spPr>
          <a:xfrm>
            <a:off x="589034" y="2025179"/>
            <a:ext cx="11284335" cy="5384799"/>
          </a:xfrm>
          <a:prstGeom prst="rect"/>
        </p:spPr>
        <p:txBody>
          <a:bodyPr anchor="t" bIns="0" lIns="0" rIns="0" rtlCol="0" tIns="0">
            <a:spAutoFit/>
          </a:bodyPr>
          <a:p>
            <a:pPr algn="l" indent="-405317" lvl="1" marL="810634">
              <a:lnSpc>
                <a:spcPts val="5256"/>
              </a:lnSpc>
              <a:buFont typeface="Arial"/>
              <a:buChar char="•"/>
            </a:pP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điểm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kiệm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thời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gian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Giao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diện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hiện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đại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trực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quan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Phù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hợp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 indent="-405317" lvl="1" marL="810634">
              <a:lnSpc>
                <a:spcPts val="5256"/>
              </a:lnSpc>
              <a:buFont typeface="Arial"/>
              <a:buChar char="•"/>
            </a:pP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Hạn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Ít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tùy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so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PowerPoint</a:t>
            </a:r>
          </a:p>
          <a:p>
            <a:pPr algn="l">
              <a:lnSpc>
                <a:spcPts val="5256"/>
              </a:lnSpc>
            </a:pP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số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tính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năng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nâng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cao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yêu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cầu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dirty="0" sz="3754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54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phí</a:t>
            </a: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256"/>
              </a:lnSpc>
            </a:pPr>
            <a:endParaRPr dirty="0" sz="3754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56" name="Freeform 5"/>
          <p:cNvSpPr/>
          <p:nvPr/>
        </p:nvSpPr>
        <p:spPr>
          <a:xfrm>
            <a:off x="10503435" y="1962933"/>
            <a:ext cx="5678652" cy="5877000"/>
          </a:xfrm>
          <a:custGeom>
            <a:avLst/>
            <a:ahLst/>
            <a:rect l="l" t="t" r="r" b="b"/>
            <a:pathLst>
              <a:path w="5678652" h="5877000">
                <a:moveTo>
                  <a:pt x="0" y="0"/>
                </a:moveTo>
                <a:lnTo>
                  <a:pt x="5678651" y="0"/>
                </a:lnTo>
                <a:lnTo>
                  <a:pt x="5678651" y="5877001"/>
                </a:lnTo>
                <a:lnTo>
                  <a:pt x="0" y="587700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57" name="Freeform 6"/>
          <p:cNvSpPr/>
          <p:nvPr/>
        </p:nvSpPr>
        <p:spPr>
          <a:xfrm>
            <a:off x="12525954" y="5304625"/>
            <a:ext cx="4322217" cy="3874278"/>
          </a:xfrm>
          <a:custGeom>
            <a:avLst/>
            <a:ahLst/>
            <a:rect l="l" t="t" r="r" b="b"/>
            <a:pathLst>
              <a:path w="4322217" h="3874278">
                <a:moveTo>
                  <a:pt x="0" y="0"/>
                </a:moveTo>
                <a:lnTo>
                  <a:pt x="4322216" y="0"/>
                </a:lnTo>
                <a:lnTo>
                  <a:pt x="4322216" y="3874278"/>
                </a:lnTo>
                <a:lnTo>
                  <a:pt x="0" y="3874278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104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2"/>
                                        <p:tgtEl>
                                          <p:spTgt spid="1048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4" grpId="0"/>
      <p:bldP spid="10486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extBox 2"/>
          <p:cNvSpPr txBox="1"/>
          <p:nvPr/>
        </p:nvSpPr>
        <p:spPr>
          <a:xfrm>
            <a:off x="672799" y="228600"/>
            <a:ext cx="8497653" cy="25146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9900"/>
              </a:lnSpc>
            </a:pPr>
            <a:r>
              <a:rPr b="1" dirty="0" sz="8000" lang="en-US" spc="43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 </a:t>
            </a:r>
            <a:r>
              <a:rPr b="1" dirty="0" sz="8000" lang="en-US" spc="433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Suno</a:t>
            </a:r>
            <a:endParaRPr b="1" dirty="0" sz="8000" lang="en-US" spc="433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  <a:p>
            <a:pPr algn="l">
              <a:lnSpc>
                <a:spcPts val="9900"/>
              </a:lnSpc>
            </a:pPr>
            <a:endParaRPr b="1" dirty="0" sz="10313" lang="en-US" spc="433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59" name="TextBox 3"/>
          <p:cNvSpPr txBox="1"/>
          <p:nvPr/>
        </p:nvSpPr>
        <p:spPr>
          <a:xfrm>
            <a:off x="15111239" y="8892540"/>
            <a:ext cx="2141695" cy="365760"/>
          </a:xfrm>
          <a:prstGeom prst="rect"/>
        </p:spPr>
        <p:txBody>
          <a:bodyPr anchor="t" bIns="0" lIns="0" rIns="0" rtlCol="0" tIns="0">
            <a:spAutoFit/>
          </a:bodyPr>
          <a:p>
            <a:pPr algn="r">
              <a:lnSpc>
                <a:spcPts val="2940"/>
              </a:lnSpc>
            </a:pPr>
            <a:r>
              <a:rPr b="1" sz="2100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14</a:t>
            </a:r>
          </a:p>
        </p:txBody>
      </p:sp>
      <p:sp>
        <p:nvSpPr>
          <p:cNvPr id="1048660" name="Freeform 4"/>
          <p:cNvSpPr/>
          <p:nvPr/>
        </p:nvSpPr>
        <p:spPr>
          <a:xfrm>
            <a:off x="672799" y="3900675"/>
            <a:ext cx="5328083" cy="6288510"/>
          </a:xfrm>
          <a:custGeom>
            <a:avLst/>
            <a:ahLst/>
            <a:rect l="l" t="t" r="r" b="b"/>
            <a:pathLst>
              <a:path w="5328083" h="6288510">
                <a:moveTo>
                  <a:pt x="0" y="0"/>
                </a:moveTo>
                <a:lnTo>
                  <a:pt x="5328083" y="0"/>
                </a:lnTo>
                <a:lnTo>
                  <a:pt x="5328083" y="6288509"/>
                </a:lnTo>
                <a:lnTo>
                  <a:pt x="0" y="628850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61" name="Freeform 5"/>
          <p:cNvSpPr/>
          <p:nvPr/>
        </p:nvSpPr>
        <p:spPr>
          <a:xfrm>
            <a:off x="0" y="2519994"/>
            <a:ext cx="3842206" cy="2403125"/>
          </a:xfrm>
          <a:custGeom>
            <a:avLst/>
            <a:ahLst/>
            <a:rect l="l" t="t" r="r" b="b"/>
            <a:pathLst>
              <a:path w="3842206" h="2403125">
                <a:moveTo>
                  <a:pt x="0" y="0"/>
                </a:moveTo>
                <a:lnTo>
                  <a:pt x="3842206" y="0"/>
                </a:lnTo>
                <a:lnTo>
                  <a:pt x="3842206" y="2403126"/>
                </a:lnTo>
                <a:lnTo>
                  <a:pt x="0" y="240312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62" name="TextBox 6"/>
          <p:cNvSpPr txBox="1"/>
          <p:nvPr/>
        </p:nvSpPr>
        <p:spPr>
          <a:xfrm>
            <a:off x="6368353" y="3485769"/>
            <a:ext cx="11919647" cy="39623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phép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dùng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gồm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giai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điệu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hòa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)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tưởng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endParaRPr dirty="0" sz="36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 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hướng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đến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chóng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ngay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người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có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về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6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dirty="0" sz="36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1048663" name="TextBox 7"/>
          <p:cNvSpPr txBox="1"/>
          <p:nvPr/>
        </p:nvSpPr>
        <p:spPr>
          <a:xfrm>
            <a:off x="4438127" y="1665917"/>
            <a:ext cx="5467873" cy="897682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3.1.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Khái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niệm</a:t>
            </a:r>
            <a:endParaRPr b="1" dirty="0" sz="49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7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4"/>
                                        <p:tgtEl>
                                          <p:spTgt spid="104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">
                      <p:stCondLst>
                        <p:cond delay="indefinite"/>
                      </p:stCondLst>
                      <p:childTnLst>
                        <p:par>
                          <p:cTn fill="hold" id="1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7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9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0"/>
                                        <p:tgtEl>
                                          <p:spTgt spid="104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8" grpId="0"/>
      <p:bldP spid="1048662" grpId="0"/>
      <p:bldP spid="10486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Freeform 2"/>
          <p:cNvSpPr/>
          <p:nvPr/>
        </p:nvSpPr>
        <p:spPr>
          <a:xfrm>
            <a:off x="10584585" y="4664282"/>
            <a:ext cx="7370884" cy="4918390"/>
          </a:xfrm>
          <a:custGeom>
            <a:avLst/>
            <a:ahLst/>
            <a:rect l="l" t="t" r="r" b="b"/>
            <a:pathLst>
              <a:path w="7370884" h="4918390">
                <a:moveTo>
                  <a:pt x="0" y="0"/>
                </a:moveTo>
                <a:lnTo>
                  <a:pt x="7370884" y="0"/>
                </a:lnTo>
                <a:lnTo>
                  <a:pt x="7370884" y="4918389"/>
                </a:lnTo>
                <a:lnTo>
                  <a:pt x="0" y="491838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65" name="TextBox 3"/>
          <p:cNvSpPr txBox="1"/>
          <p:nvPr/>
        </p:nvSpPr>
        <p:spPr>
          <a:xfrm>
            <a:off x="0" y="311692"/>
            <a:ext cx="7908114" cy="90170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b="1" dirty="0" sz="5099" lang="en-US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3.2. </a:t>
            </a:r>
            <a:r>
              <a:rPr b="1" dirty="0" sz="5099" lang="en-US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Nguyên</a:t>
            </a:r>
            <a:r>
              <a:rPr b="1" dirty="0" sz="5099" lang="en-US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99" lang="en-US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lý</a:t>
            </a:r>
            <a:r>
              <a:rPr b="1" dirty="0" sz="5099" lang="en-US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99" lang="en-US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hoạt</a:t>
            </a:r>
            <a:r>
              <a:rPr b="1" dirty="0" sz="5099" lang="en-US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5099" lang="en-US" err="1">
                <a:solidFill>
                  <a:schemeClr val="bg1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động</a:t>
            </a:r>
            <a:endParaRPr b="1" dirty="0" sz="5099" lang="en-US">
              <a:solidFill>
                <a:schemeClr val="bg1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66" name="TextBox 4"/>
          <p:cNvSpPr txBox="1"/>
          <p:nvPr/>
        </p:nvSpPr>
        <p:spPr>
          <a:xfrm>
            <a:off x="249517" y="1809796"/>
            <a:ext cx="11610677" cy="53848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410205" lvl="1" marL="820411">
              <a:lnSpc>
                <a:spcPts val="5319"/>
              </a:lnSpc>
              <a:buFont typeface="Arial"/>
              <a:buChar char="•"/>
            </a:pP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Suno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sử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hình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xử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lý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AI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phân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tích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cấu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trúc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phỏng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phong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cách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theo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 indent="-410205" lvl="1" marL="820411">
              <a:lnSpc>
                <a:spcPts val="5319"/>
              </a:lnSpc>
              <a:buFont typeface="Arial"/>
              <a:buChar char="•"/>
            </a:pP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Người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dùng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3799" lang="en-US" err="1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nhập</a:t>
            </a:r>
            <a:r>
              <a:rPr b="1" dirty="0" sz="37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: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Cảm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xúc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Chủ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hoặc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799" lang="en-US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799" lang="en-US" err="1">
                <a:solidFill>
                  <a:srgbClr val="FEFEFE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endParaRPr dirty="0" sz="3799" lang="en-US">
              <a:solidFill>
                <a:srgbClr val="FEFEFE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67" name="TextBox 5"/>
          <p:cNvSpPr txBox="1"/>
          <p:nvPr/>
        </p:nvSpPr>
        <p:spPr>
          <a:xfrm>
            <a:off x="522833" y="9354706"/>
            <a:ext cx="1011734" cy="398780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b="1" sz="22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1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dur="2000" id="7"/>
                                        <p:tgtEl>
                                          <p:spTgt spid="104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2"/>
                                        <p:tgtEl>
                                          <p:spTgt spid="1048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5" grpId="0"/>
      <p:bldP spid="10486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Freeform 2"/>
          <p:cNvSpPr/>
          <p:nvPr/>
        </p:nvSpPr>
        <p:spPr>
          <a:xfrm>
            <a:off x="407141" y="5480359"/>
            <a:ext cx="6304011" cy="4114800"/>
          </a:xfrm>
          <a:custGeom>
            <a:avLst/>
            <a:ahLst/>
            <a:rect l="l" t="t" r="r" b="b"/>
            <a:pathLst>
              <a:path w="6304011" h="4114800">
                <a:moveTo>
                  <a:pt x="0" y="0"/>
                </a:moveTo>
                <a:lnTo>
                  <a:pt x="6304011" y="0"/>
                </a:lnTo>
                <a:lnTo>
                  <a:pt x="630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69" name="TextBox 3"/>
          <p:cNvSpPr txBox="1"/>
          <p:nvPr/>
        </p:nvSpPr>
        <p:spPr>
          <a:xfrm>
            <a:off x="224572" y="174623"/>
            <a:ext cx="9681428" cy="897682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3.3.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Chức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năng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chính</a:t>
            </a:r>
            <a:endParaRPr b="1" dirty="0" sz="49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70" name="TextBox 4"/>
          <p:cNvSpPr txBox="1"/>
          <p:nvPr/>
        </p:nvSpPr>
        <p:spPr>
          <a:xfrm>
            <a:off x="3305314" y="1785293"/>
            <a:ext cx="12768962" cy="375920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7384"/>
              </a:lnSpc>
            </a:pP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hoàn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chỉnh</a:t>
            </a:r>
            <a:endParaRPr dirty="0" sz="5274" lang="en-US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7384"/>
              </a:lnSpc>
            </a:pP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(instrumental)</a:t>
            </a:r>
          </a:p>
          <a:p>
            <a:pPr algn="l">
              <a:lnSpc>
                <a:spcPts val="7384"/>
              </a:lnSpc>
            </a:pP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nhiều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thể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loại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dirty="0" sz="5274" lang="en-US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7384"/>
              </a:lnSpc>
            </a:pP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file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chất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lượng</a:t>
            </a:r>
            <a:r>
              <a:rPr dirty="0" sz="5274" lang="en-US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5274" lang="en-US" err="1">
                <a:solidFill>
                  <a:srgbClr val="5CE1E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cao</a:t>
            </a:r>
            <a:endParaRPr dirty="0" sz="5274" lang="en-US">
              <a:solidFill>
                <a:srgbClr val="5CE1E6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71" name="Freeform 5"/>
          <p:cNvSpPr/>
          <p:nvPr/>
        </p:nvSpPr>
        <p:spPr>
          <a:xfrm>
            <a:off x="13256262" y="5698119"/>
            <a:ext cx="4582608" cy="4114800"/>
          </a:xfrm>
          <a:custGeom>
            <a:avLst/>
            <a:ahLst/>
            <a:rect l="l" t="t" r="r" b="b"/>
            <a:pathLst>
              <a:path w="4582608" h="4114800">
                <a:moveTo>
                  <a:pt x="0" y="0"/>
                </a:moveTo>
                <a:lnTo>
                  <a:pt x="4582608" y="0"/>
                </a:lnTo>
                <a:lnTo>
                  <a:pt x="458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72" name="TextBox 6"/>
          <p:cNvSpPr txBox="1"/>
          <p:nvPr/>
        </p:nvSpPr>
        <p:spPr>
          <a:xfrm>
            <a:off x="10065067" y="9538009"/>
            <a:ext cx="2431733" cy="410369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b="1" dirty="0" sz="22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16</a:t>
            </a:r>
          </a:p>
        </p:txBody>
      </p:sp>
    </p:spTree>
  </p:cSld>
  <p:clrMapOvr>
    <a:masterClrMapping/>
  </p:clrMapOvr>
  <p:transition spd="slow">
    <p:wheel spokes="1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1048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12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13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Freeform 2"/>
          <p:cNvSpPr/>
          <p:nvPr/>
        </p:nvSpPr>
        <p:spPr>
          <a:xfrm rot="6567842">
            <a:off x="-144436" y="6668656"/>
            <a:ext cx="3572656" cy="3403827"/>
          </a:xfrm>
          <a:custGeom>
            <a:avLst/>
            <a:ahLst/>
            <a:rect l="l" t="t" r="r" b="b"/>
            <a:pathLst>
              <a:path w="3572656" h="3403827">
                <a:moveTo>
                  <a:pt x="0" y="0"/>
                </a:moveTo>
                <a:lnTo>
                  <a:pt x="3572656" y="0"/>
                </a:lnTo>
                <a:lnTo>
                  <a:pt x="3572656" y="3403826"/>
                </a:lnTo>
                <a:lnTo>
                  <a:pt x="0" y="3403826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pic>
        <p:nvPicPr>
          <p:cNvPr id="2097152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424031" y="4056877"/>
            <a:ext cx="9073172" cy="6720192"/>
          </a:xfrm>
          <a:prstGeom prst="rect"/>
        </p:spPr>
      </p:pic>
      <p:sp>
        <p:nvSpPr>
          <p:cNvPr id="1048674" name="TextBox 4"/>
          <p:cNvSpPr txBox="1"/>
          <p:nvPr/>
        </p:nvSpPr>
        <p:spPr>
          <a:xfrm>
            <a:off x="149710" y="379375"/>
            <a:ext cx="7384129" cy="888999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3.4.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Ứng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dụng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thực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tiễn</a:t>
            </a:r>
            <a:endParaRPr b="1" dirty="0" sz="49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75" name="TextBox 5"/>
          <p:cNvSpPr txBox="1"/>
          <p:nvPr/>
        </p:nvSpPr>
        <p:spPr>
          <a:xfrm>
            <a:off x="557945" y="1992710"/>
            <a:ext cx="9519047" cy="444499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Làm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nền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cho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video, podcast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giáo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Sản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xuất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giải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trí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76" name="TextBox 6"/>
          <p:cNvSpPr txBox="1"/>
          <p:nvPr/>
        </p:nvSpPr>
        <p:spPr>
          <a:xfrm>
            <a:off x="3344092" y="9201150"/>
            <a:ext cx="2904307" cy="410369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b="1" dirty="0" sz="22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4" grpId="0"/>
      <p:bldP spid="104867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extBox 2"/>
          <p:cNvSpPr txBox="1"/>
          <p:nvPr/>
        </p:nvSpPr>
        <p:spPr>
          <a:xfrm>
            <a:off x="504874" y="1568449"/>
            <a:ext cx="14633377" cy="8001000"/>
          </a:xfrm>
          <a:prstGeom prst="rect"/>
        </p:spPr>
        <p:txBody>
          <a:bodyPr anchor="t" bIns="0" lIns="0" rIns="0" rtlCol="0" tIns="0">
            <a:spAutoFit/>
          </a:bodyPr>
          <a:p>
            <a:pPr algn="l" indent="-539742" lvl="1" marL="1079484">
              <a:lnSpc>
                <a:spcPts val="6999"/>
              </a:lnSpc>
              <a:buFont typeface="Arial"/>
              <a:buChar char="•"/>
            </a:pP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Ưu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điểm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Dễ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nhanh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Không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chuyên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sâu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</a:p>
          <a:p>
            <a:pPr algn="l" indent="-539742" lvl="1" marL="1079484">
              <a:lnSpc>
                <a:spcPts val="6999"/>
              </a:lnSpc>
              <a:buFont typeface="Arial"/>
              <a:buChar char="•"/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Hạn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chế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Khó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kiểm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soát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chi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tiết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nốt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-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Cần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chú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ý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vấn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đề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quyền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khi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thương</a:t>
            </a:r>
            <a:r>
              <a:rPr dirty="0" sz="49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49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mại</a:t>
            </a:r>
            <a:endParaRPr dirty="0" sz="4999" lang="en-US">
              <a:solidFill>
                <a:srgbClr val="FFFFFF"/>
              </a:solidFill>
              <a:latin typeface="TT Commons Pro"/>
              <a:ea typeface="TT Commons Pro"/>
              <a:cs typeface="TT Commons Pro"/>
              <a:sym typeface="TT Commons Pro"/>
            </a:endParaRPr>
          </a:p>
        </p:txBody>
      </p:sp>
      <p:sp>
        <p:nvSpPr>
          <p:cNvPr id="1048678" name="Freeform 3"/>
          <p:cNvSpPr/>
          <p:nvPr/>
        </p:nvSpPr>
        <p:spPr>
          <a:xfrm>
            <a:off x="15334541" y="4508501"/>
            <a:ext cx="2739619" cy="4114800"/>
          </a:xfrm>
          <a:custGeom>
            <a:avLst/>
            <a:ahLst/>
            <a:rect l="l" t="t" r="r" b="b"/>
            <a:pathLst>
              <a:path w="2739619" h="4114800">
                <a:moveTo>
                  <a:pt x="0" y="0"/>
                </a:moveTo>
                <a:lnTo>
                  <a:pt x="2739618" y="0"/>
                </a:lnTo>
                <a:lnTo>
                  <a:pt x="27396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79" name="Freeform 4"/>
          <p:cNvSpPr/>
          <p:nvPr/>
        </p:nvSpPr>
        <p:spPr>
          <a:xfrm>
            <a:off x="9944100" y="0"/>
            <a:ext cx="7315200" cy="4003409"/>
          </a:xfrm>
          <a:custGeom>
            <a:avLst/>
            <a:ahLst/>
            <a:rect l="l" t="t" r="r" b="b"/>
            <a:pathLst>
              <a:path w="7315200" h="4003409">
                <a:moveTo>
                  <a:pt x="0" y="0"/>
                </a:moveTo>
                <a:lnTo>
                  <a:pt x="7315200" y="0"/>
                </a:lnTo>
                <a:lnTo>
                  <a:pt x="7315200" y="4003409"/>
                </a:lnTo>
                <a:lnTo>
                  <a:pt x="0" y="400340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80" name="TextBox 5"/>
          <p:cNvSpPr txBox="1"/>
          <p:nvPr/>
        </p:nvSpPr>
        <p:spPr>
          <a:xfrm>
            <a:off x="224246" y="174623"/>
            <a:ext cx="8767354" cy="897682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3.5.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Ưu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điểm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và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hạn</a:t>
            </a:r>
            <a:r>
              <a:rPr b="1" dirty="0" sz="4999" lang="en-US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  <a:r>
              <a:rPr b="1" dirty="0" sz="4999" lang="en-US" err="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chế</a:t>
            </a:r>
            <a:endParaRPr b="1" dirty="0" sz="4999" lang="en-US">
              <a:solidFill>
                <a:srgbClr val="FFFFFF"/>
              </a:solidFill>
              <a:latin typeface="TT Commons Pro Bold"/>
              <a:ea typeface="TT Commons Pro Bold"/>
              <a:cs typeface="TT Commons Pro Bold"/>
              <a:sym typeface="TT Commons Pro Bold"/>
            </a:endParaRPr>
          </a:p>
        </p:txBody>
      </p:sp>
      <p:sp>
        <p:nvSpPr>
          <p:cNvPr id="1048681" name="TextBox 6"/>
          <p:cNvSpPr txBox="1"/>
          <p:nvPr/>
        </p:nvSpPr>
        <p:spPr>
          <a:xfrm>
            <a:off x="15688896" y="9201150"/>
            <a:ext cx="1760904" cy="410369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b="1" dirty="0" sz="22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7"/>
                                        <p:tgtEl>
                                          <p:spTgt spid="104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2"/>
                                        <p:tgtEl>
                                          <p:spTgt spid="10486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104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4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7" grpId="0"/>
      <p:bldP spid="10486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extBox 2"/>
          <p:cNvSpPr txBox="1"/>
          <p:nvPr/>
        </p:nvSpPr>
        <p:spPr>
          <a:xfrm>
            <a:off x="4074437" y="-270247"/>
            <a:ext cx="9946363" cy="3000821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b="1" dirty="0" sz="5599" lang="en-US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</a:p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b="1" dirty="0" sz="5599" lang="en-US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III. SO SÁNH TỔNG QUAN</a:t>
            </a:r>
          </a:p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b="1" dirty="0" sz="5599" lang="en-US">
                <a:solidFill>
                  <a:srgbClr val="F2DF05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685800" y="2743041"/>
          <a:ext cx="17145000" cy="67438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86250"/>
                <a:gridCol w="4286250"/>
                <a:gridCol w="4286250"/>
                <a:gridCol w="4286250"/>
              </a:tblGrid>
              <a:tr h="932686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Tiêu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chí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ChatGPT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Gamma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Suno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32686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Lĩnh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vực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Ngôn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ngữ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Trình chiếu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Âm nhạc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9729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Mục đích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Hỏi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đáp</a:t>
                      </a:r>
                      <a:r>
                        <a:rPr dirty="0" sz="3200" lang="en-US">
                          <a:effectLst/>
                        </a:rPr>
                        <a:t>, </a:t>
                      </a:r>
                      <a:r>
                        <a:rPr dirty="0" sz="3200" lang="en-US" err="1">
                          <a:effectLst/>
                        </a:rPr>
                        <a:t>viết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nội</a:t>
                      </a:r>
                      <a:r>
                        <a:rPr dirty="0" sz="3200" lang="en-US">
                          <a:effectLst/>
                        </a:rPr>
                        <a:t> dung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Tạo slide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Tạo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nhạc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9729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Đối tượng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Mọi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ngành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nghề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Giáo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dục</a:t>
                      </a:r>
                      <a:r>
                        <a:rPr dirty="0" sz="3200" lang="en-US">
                          <a:effectLst/>
                        </a:rPr>
                        <a:t>, </a:t>
                      </a:r>
                      <a:r>
                        <a:rPr dirty="0" sz="3200" lang="en-US" err="1">
                          <a:effectLst/>
                        </a:rPr>
                        <a:t>doanh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nghiệp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Nghệ thuật, sáng tạo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932686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Độ phức tạp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3200" lang="en-US">
                          <a:effectLst/>
                        </a:rPr>
                        <a:t>Trung bình – cao</a:t>
                      </a:r>
                      <a:endParaRPr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Thấp</a:t>
                      </a:r>
                      <a:r>
                        <a:rPr dirty="0" sz="3200" lang="en-US">
                          <a:effectLst/>
                        </a:rPr>
                        <a:t> – </a:t>
                      </a:r>
                      <a:r>
                        <a:rPr dirty="0" sz="3200" lang="en-US" err="1">
                          <a:effectLst/>
                        </a:rPr>
                        <a:t>trung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bình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dirty="0" sz="3200" lang="en-US" err="1">
                          <a:effectLst/>
                        </a:rPr>
                        <a:t>Trung</a:t>
                      </a:r>
                      <a:r>
                        <a:rPr dirty="0" sz="3200" lang="en-US">
                          <a:effectLst/>
                        </a:rPr>
                        <a:t> </a:t>
                      </a:r>
                      <a:r>
                        <a:rPr dirty="0" sz="3200" lang="en-US" err="1">
                          <a:effectLst/>
                        </a:rPr>
                        <a:t>bình</a:t>
                      </a:r>
                      <a:endParaRPr dirty="0" sz="2400" lang="en-US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048683" name="Rectangle 1"/>
          <p:cNvSpPr>
            <a:spLocks noChangeArrowheads="1"/>
          </p:cNvSpPr>
          <p:nvPr/>
        </p:nvSpPr>
        <p:spPr bwMode="auto">
          <a:xfrm>
            <a:off x="1531938" y="2743200"/>
            <a:ext cx="18288000" cy="45720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baseline="0" b="0" cap="none" sz="1400" i="0" kumimoji="0" lang="en-US" normalizeH="0" strike="noStrike" u="none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								</a:t>
            </a:r>
            <a:endParaRPr baseline="0" b="0" cap="none" sz="1800" i="0" kumimoji="0" lang="en-US" normalizeH="0" strike="noStrike" u="none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dur="2000" id="13"/>
                                        <p:tgtEl>
                                          <p:spTgt spid="41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Freeform 2"/>
          <p:cNvSpPr/>
          <p:nvPr/>
        </p:nvSpPr>
        <p:spPr>
          <a:xfrm>
            <a:off x="1179116" y="4861840"/>
            <a:ext cx="805724" cy="811812"/>
          </a:xfrm>
          <a:custGeom>
            <a:avLst/>
            <a:ahLst/>
            <a:rect l="l" t="t" r="r" b="b"/>
            <a:pathLst>
              <a:path w="805724" h="811812">
                <a:moveTo>
                  <a:pt x="0" y="0"/>
                </a:moveTo>
                <a:lnTo>
                  <a:pt x="805724" y="0"/>
                </a:lnTo>
                <a:lnTo>
                  <a:pt x="805724" y="811813"/>
                </a:lnTo>
                <a:lnTo>
                  <a:pt x="0" y="811813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85" name="Freeform 3"/>
          <p:cNvSpPr/>
          <p:nvPr/>
        </p:nvSpPr>
        <p:spPr>
          <a:xfrm>
            <a:off x="1074661" y="3544733"/>
            <a:ext cx="910179" cy="917057"/>
          </a:xfrm>
          <a:custGeom>
            <a:avLst/>
            <a:ahLst/>
            <a:rect l="l" t="t" r="r" b="b"/>
            <a:pathLst>
              <a:path w="910179" h="917057">
                <a:moveTo>
                  <a:pt x="0" y="0"/>
                </a:moveTo>
                <a:lnTo>
                  <a:pt x="910179" y="0"/>
                </a:lnTo>
                <a:lnTo>
                  <a:pt x="910179" y="917057"/>
                </a:lnTo>
                <a:lnTo>
                  <a:pt x="0" y="917057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86" name="Freeform 4"/>
          <p:cNvSpPr/>
          <p:nvPr/>
        </p:nvSpPr>
        <p:spPr>
          <a:xfrm>
            <a:off x="1037634" y="2668381"/>
            <a:ext cx="932366" cy="939412"/>
          </a:xfrm>
          <a:custGeom>
            <a:avLst/>
            <a:ahLst/>
            <a:rect l="l" t="t" r="r" b="b"/>
            <a:pathLst>
              <a:path w="932366" h="939412">
                <a:moveTo>
                  <a:pt x="0" y="0"/>
                </a:moveTo>
                <a:lnTo>
                  <a:pt x="932366" y="0"/>
                </a:lnTo>
                <a:lnTo>
                  <a:pt x="932366" y="939411"/>
                </a:lnTo>
                <a:lnTo>
                  <a:pt x="0" y="939411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87" name="Freeform 5"/>
          <p:cNvSpPr/>
          <p:nvPr/>
        </p:nvSpPr>
        <p:spPr>
          <a:xfrm>
            <a:off x="1074661" y="1408113"/>
            <a:ext cx="858312" cy="864798"/>
          </a:xfrm>
          <a:custGeom>
            <a:avLst/>
            <a:ahLst/>
            <a:rect l="l" t="t" r="r" b="b"/>
            <a:pathLst>
              <a:path w="858312" h="864798">
                <a:moveTo>
                  <a:pt x="0" y="0"/>
                </a:moveTo>
                <a:lnTo>
                  <a:pt x="858312" y="0"/>
                </a:lnTo>
                <a:lnTo>
                  <a:pt x="858312" y="864799"/>
                </a:lnTo>
                <a:lnTo>
                  <a:pt x="0" y="86479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pic>
        <p:nvPicPr>
          <p:cNvPr id="2097153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855220" y="4631643"/>
            <a:ext cx="7633240" cy="6071672"/>
          </a:xfrm>
          <a:prstGeom prst="rect"/>
        </p:spPr>
      </p:pic>
      <p:sp>
        <p:nvSpPr>
          <p:cNvPr id="1048688" name="TextBox 7"/>
          <p:cNvSpPr txBox="1"/>
          <p:nvPr/>
        </p:nvSpPr>
        <p:spPr>
          <a:xfrm>
            <a:off x="1932973" y="1576291"/>
            <a:ext cx="16080559" cy="4777741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ChatGPT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một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đa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nhiệm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hữu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ích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để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trả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lời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kiến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thức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hỗ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trợ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kỹ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thuật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học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Gamma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tập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trung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trình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bày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nội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dung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thiết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kế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slide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tự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động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Suno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sáng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tác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nhạc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bằng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AI,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bạn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tạo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bài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hát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âm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thanh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chỉ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từ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mô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tả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văn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bản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  <a:p>
            <a:pPr algn="l">
              <a:lnSpc>
                <a:spcPts val="5459"/>
              </a:lnSpc>
            </a:pP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 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Việc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hiểu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sử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dụng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đúng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công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cụ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AI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này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sẽ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giúp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cá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nhân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và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tổ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chức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thích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nghi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tốt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hơn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với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xu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hướng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chuyển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đổi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số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trong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tương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dirty="0" sz="3899" lang="en-US" err="1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lai</a:t>
            </a:r>
            <a:r>
              <a:rPr dirty="0" sz="3899" lang="en-US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.</a:t>
            </a:r>
          </a:p>
        </p:txBody>
      </p:sp>
      <p:sp>
        <p:nvSpPr>
          <p:cNvPr id="1048689" name="TextBox 8"/>
          <p:cNvSpPr txBox="1"/>
          <p:nvPr/>
        </p:nvSpPr>
        <p:spPr>
          <a:xfrm>
            <a:off x="336894" y="568842"/>
            <a:ext cx="6063905" cy="897682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b="1" dirty="0" sz="49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IV. KẾT LUẬN</a:t>
            </a:r>
          </a:p>
        </p:txBody>
      </p:sp>
      <p:sp>
        <p:nvSpPr>
          <p:cNvPr id="1048690" name="TextBox 9"/>
          <p:cNvSpPr txBox="1"/>
          <p:nvPr/>
        </p:nvSpPr>
        <p:spPr>
          <a:xfrm>
            <a:off x="850249" y="9201150"/>
            <a:ext cx="3227739" cy="410369"/>
          </a:xfrm>
          <a:prstGeom prst="rect"/>
        </p:spPr>
        <p:txBody>
          <a:bodyPr anchor="t" bIns="0" lIns="0" rIns="0" rtlCol="0" tIns="0" wrap="square">
            <a:spAutoFit/>
          </a:bodyPr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b="1" dirty="0" sz="2299" lang="en-US">
                <a:solidFill>
                  <a:srgbClr val="FEFEFE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Page 20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dur="500" id="7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2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8" grpId="0"/>
      <p:bldP spid="10486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6E85">
                <a:alpha val="100000"/>
              </a:srgbClr>
            </a:gs>
            <a:gs pos="100000">
              <a:srgbClr val="934D8C">
                <a:alpha val="100000"/>
              </a:srgbClr>
            </a:gs>
          </a:gsLst>
          <a:lin ang="0"/>
        </a:gra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Freeform 2"/>
          <p:cNvSpPr/>
          <p:nvPr/>
        </p:nvSpPr>
        <p:spPr>
          <a:xfrm>
            <a:off x="10401815" y="5140359"/>
            <a:ext cx="6472953" cy="3977924"/>
          </a:xfrm>
          <a:custGeom>
            <a:avLst/>
            <a:ahLst/>
            <a:rect l="l" t="t" r="r" b="b"/>
            <a:pathLst>
              <a:path w="6472953" h="3977924">
                <a:moveTo>
                  <a:pt x="0" y="0"/>
                </a:moveTo>
                <a:lnTo>
                  <a:pt x="6472953" y="0"/>
                </a:lnTo>
                <a:lnTo>
                  <a:pt x="6472953" y="3977924"/>
                </a:lnTo>
                <a:lnTo>
                  <a:pt x="0" y="3977924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"/>
            <a:stretch>
              <a:fillRect/>
            </a:stretch>
          </a:blipFill>
        </p:spPr>
      </p:sp>
      <p:sp>
        <p:nvSpPr>
          <p:cNvPr id="1048692" name="Freeform 3"/>
          <p:cNvSpPr/>
          <p:nvPr/>
        </p:nvSpPr>
        <p:spPr>
          <a:xfrm>
            <a:off x="11718858" y="2325001"/>
            <a:ext cx="4731429" cy="4248429"/>
          </a:xfrm>
          <a:custGeom>
            <a:avLst/>
            <a:ahLst/>
            <a:rect l="l" t="t" r="r" b="b"/>
            <a:pathLst>
              <a:path w="4731429" h="4248429">
                <a:moveTo>
                  <a:pt x="0" y="0"/>
                </a:moveTo>
                <a:lnTo>
                  <a:pt x="4731429" y="0"/>
                </a:lnTo>
                <a:lnTo>
                  <a:pt x="4731429" y="4248429"/>
                </a:lnTo>
                <a:lnTo>
                  <a:pt x="0" y="4248429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2"/>
            <a:stretch>
              <a:fillRect/>
            </a:stretch>
          </a:blipFill>
        </p:spPr>
      </p:sp>
      <p:sp>
        <p:nvSpPr>
          <p:cNvPr id="1048693" name="TextBox 4"/>
          <p:cNvSpPr txBox="1"/>
          <p:nvPr/>
        </p:nvSpPr>
        <p:spPr>
          <a:xfrm>
            <a:off x="2340231" y="3891994"/>
            <a:ext cx="8535894" cy="134304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9900"/>
              </a:lnSpc>
            </a:pPr>
            <a:r>
              <a:rPr b="1" sz="10313" lang="en-US" spc="433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Thank You </a:t>
            </a:r>
          </a:p>
        </p:txBody>
      </p:sp>
    </p:spTree>
  </p:cSld>
  <p:clrMapOvr>
    <a:masterClrMapping/>
  </p:clrMapOvr>
  <p:transition spd="slow">
    <p:push dir="u"/>
  </p:transition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Pink and Purple Minimalist Gradient Computer Technology Presentation</dc:title>
  <dc:creator>Administrator</dc:creator>
  <cp:lastModifiedBy>AutoBVT</cp:lastModifiedBy>
  <dcterms:created xsi:type="dcterms:W3CDTF">2006-08-15T10:00:00Z</dcterms:created>
  <dcterms:modified xsi:type="dcterms:W3CDTF">2025-12-30T05:29:21Z</dcterms:modified>
</cp:coreProperties>
</file>